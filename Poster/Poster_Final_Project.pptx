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DBD"/>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58" autoAdjust="0"/>
    <p:restoredTop sz="94061" autoAdjust="0"/>
  </p:normalViewPr>
  <p:slideViewPr>
    <p:cSldViewPr snapToGrid="0" snapToObjects="1" showGuides="1">
      <p:cViewPr>
        <p:scale>
          <a:sx n="15" d="100"/>
          <a:sy n="15" d="100"/>
        </p:scale>
        <p:origin x="1578" y="96"/>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‹Nº›</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5/31/2026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‹Nº›</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4" name="Rectángulo 4113">
            <a:extLst>
              <a:ext uri="{FF2B5EF4-FFF2-40B4-BE49-F238E27FC236}">
                <a16:creationId xmlns:a16="http://schemas.microsoft.com/office/drawing/2014/main" id="{7D3ADFB6-ACB2-0089-93BD-B235AF408FBC}"/>
              </a:ext>
            </a:extLst>
          </p:cNvPr>
          <p:cNvSpPr/>
          <p:nvPr/>
        </p:nvSpPr>
        <p:spPr>
          <a:xfrm>
            <a:off x="11860371" y="24140982"/>
            <a:ext cx="9330793" cy="2781016"/>
          </a:xfrm>
          <a:prstGeom prst="rect">
            <a:avLst/>
          </a:prstGeom>
          <a:solidFill>
            <a:schemeClr val="accent5">
              <a:lumMod val="20000"/>
              <a:lumOff val="80000"/>
            </a:schemeClr>
          </a:solidFill>
          <a:ln w="38100">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sp>
        <p:nvSpPr>
          <p:cNvPr id="4113" name="Rectángulo 4112">
            <a:extLst>
              <a:ext uri="{FF2B5EF4-FFF2-40B4-BE49-F238E27FC236}">
                <a16:creationId xmlns:a16="http://schemas.microsoft.com/office/drawing/2014/main" id="{AD0E3DCA-DB2D-274B-AD69-B0012C72BA07}"/>
              </a:ext>
            </a:extLst>
          </p:cNvPr>
          <p:cNvSpPr/>
          <p:nvPr/>
        </p:nvSpPr>
        <p:spPr>
          <a:xfrm>
            <a:off x="33534257" y="16380792"/>
            <a:ext cx="9648464" cy="2938972"/>
          </a:xfrm>
          <a:prstGeom prst="rect">
            <a:avLst/>
          </a:prstGeom>
          <a:solidFill>
            <a:srgbClr val="FFBDBD">
              <a:alpha val="18824"/>
            </a:srgbClr>
          </a:solidFill>
          <a:ln w="19050">
            <a:solidFill>
              <a:srgbClr val="C0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E"/>
          </a:p>
        </p:txBody>
      </p:sp>
      <p:sp>
        <p:nvSpPr>
          <p:cNvPr id="4109" name="Rectángulo 4108">
            <a:extLst>
              <a:ext uri="{FF2B5EF4-FFF2-40B4-BE49-F238E27FC236}">
                <a16:creationId xmlns:a16="http://schemas.microsoft.com/office/drawing/2014/main" id="{B48B9997-2705-1D7C-D564-E71398D3CB39}"/>
              </a:ext>
            </a:extLst>
          </p:cNvPr>
          <p:cNvSpPr/>
          <p:nvPr/>
        </p:nvSpPr>
        <p:spPr>
          <a:xfrm>
            <a:off x="11629210" y="27524655"/>
            <a:ext cx="9791894" cy="2544330"/>
          </a:xfrm>
          <a:prstGeom prst="rect">
            <a:avLst/>
          </a:prstGeom>
          <a:solidFill>
            <a:schemeClr val="accent5">
              <a:lumMod val="20000"/>
              <a:lumOff val="80000"/>
            </a:schemeClr>
          </a:solidFill>
          <a:ln w="57150">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sp>
        <p:nvSpPr>
          <p:cNvPr id="4098" name="Rectángulo 4097">
            <a:extLst>
              <a:ext uri="{FF2B5EF4-FFF2-40B4-BE49-F238E27FC236}">
                <a16:creationId xmlns:a16="http://schemas.microsoft.com/office/drawing/2014/main" id="{4B45A63B-D813-60F2-81DE-4820C63AF034}"/>
              </a:ext>
            </a:extLst>
          </p:cNvPr>
          <p:cNvSpPr/>
          <p:nvPr/>
        </p:nvSpPr>
        <p:spPr>
          <a:xfrm>
            <a:off x="5520310" y="27986228"/>
            <a:ext cx="2268820" cy="1354095"/>
          </a:xfrm>
          <a:prstGeom prst="rect">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sp>
        <p:nvSpPr>
          <p:cNvPr id="4097" name="Rectángulo 4096">
            <a:extLst>
              <a:ext uri="{FF2B5EF4-FFF2-40B4-BE49-F238E27FC236}">
                <a16:creationId xmlns:a16="http://schemas.microsoft.com/office/drawing/2014/main" id="{6EE8FAF0-A174-BF55-B560-05F89D640BD6}"/>
              </a:ext>
            </a:extLst>
          </p:cNvPr>
          <p:cNvSpPr/>
          <p:nvPr/>
        </p:nvSpPr>
        <p:spPr>
          <a:xfrm>
            <a:off x="3050533" y="27982561"/>
            <a:ext cx="2391467" cy="1354095"/>
          </a:xfrm>
          <a:prstGeom prst="rect">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sp>
        <p:nvSpPr>
          <p:cNvPr id="4096" name="Rectángulo 4095">
            <a:extLst>
              <a:ext uri="{FF2B5EF4-FFF2-40B4-BE49-F238E27FC236}">
                <a16:creationId xmlns:a16="http://schemas.microsoft.com/office/drawing/2014/main" id="{6FACBAEF-85FD-5E39-DF57-3F1076251010}"/>
              </a:ext>
            </a:extLst>
          </p:cNvPr>
          <p:cNvSpPr/>
          <p:nvPr/>
        </p:nvSpPr>
        <p:spPr>
          <a:xfrm>
            <a:off x="543157" y="27972152"/>
            <a:ext cx="2433205" cy="1384995"/>
          </a:xfrm>
          <a:prstGeom prst="rect">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E" dirty="0"/>
          </a:p>
        </p:txBody>
      </p:sp>
      <p:sp>
        <p:nvSpPr>
          <p:cNvPr id="2" name="Text Placeholder 1"/>
          <p:cNvSpPr>
            <a:spLocks noGrp="1"/>
          </p:cNvSpPr>
          <p:nvPr>
            <p:ph type="body" sz="quarter" idx="10"/>
          </p:nvPr>
        </p:nvSpPr>
        <p:spPr>
          <a:xfrm>
            <a:off x="817718" y="7126470"/>
            <a:ext cx="9037142" cy="4652988"/>
          </a:xfrm>
        </p:spPr>
        <p:txBody>
          <a:bodyPr/>
          <a:lstStyle/>
          <a:p>
            <a:r>
              <a:rPr lang="en-GB" sz="2800" dirty="0">
                <a:solidFill>
                  <a:schemeClr val="tx1"/>
                </a:solidFill>
                <a:latin typeface="+mn-lt"/>
                <a:cs typeface="Arial" panose="020B0604020202020204" pitchFamily="34" charset="0"/>
              </a:rPr>
              <a:t>This project develops an AI Bias Auditing Framework using ACS Florida labour market data. Logistic Regression and Random Forest models were evaluated, followed by fairness analysis across sex, disability status and race. The tuned Random Forest achieved ROC-AUC 0.7545. Significant disparities were detected, including a disability Recall gap of 0.474 and a sex AUC gap of 0.063</a:t>
            </a:r>
            <a:r>
              <a:rPr lang="en-GB" sz="2800" dirty="0"/>
              <a:t> </a:t>
            </a:r>
            <a:r>
              <a:rPr lang="en-GB" sz="2800" dirty="0">
                <a:solidFill>
                  <a:schemeClr val="tx1"/>
                </a:solidFill>
                <a:latin typeface="+mn-lt"/>
              </a:rPr>
              <a:t>and a racial Recall gap of 0.256. A MySQL auditability layer supports EU AI Act and NYC Local Law 144 compliance</a:t>
            </a:r>
            <a:r>
              <a:rPr lang="en-GB" sz="2800" dirty="0">
                <a:solidFill>
                  <a:schemeClr val="tx1"/>
                </a:solidFill>
                <a:latin typeface="Arial" panose="020B0604020202020204" pitchFamily="34" charset="0"/>
                <a:cs typeface="Arial" panose="020B0604020202020204" pitchFamily="34" charset="0"/>
              </a:rPr>
              <a:t>.</a:t>
            </a:r>
            <a:endParaRPr lang="en-US" sz="2800" dirty="0">
              <a:solidFill>
                <a:schemeClr val="tx1"/>
              </a:solidFill>
              <a:latin typeface="Arial" panose="020B0604020202020204" pitchFamily="34" charset="0"/>
              <a:cs typeface="Arial" panose="020B0604020202020204" pitchFamily="34" charset="0"/>
            </a:endParaRPr>
          </a:p>
        </p:txBody>
      </p:sp>
      <p:sp>
        <p:nvSpPr>
          <p:cNvPr id="3" name="Text Placeholder 2"/>
          <p:cNvSpPr>
            <a:spLocks noGrp="1"/>
          </p:cNvSpPr>
          <p:nvPr>
            <p:ph type="body" sz="quarter" idx="11"/>
          </p:nvPr>
        </p:nvSpPr>
        <p:spPr>
          <a:xfrm>
            <a:off x="450435" y="5897344"/>
            <a:ext cx="10048875" cy="754045"/>
          </a:xfrm>
        </p:spPr>
        <p:txBody>
          <a:bodyPr/>
          <a:lstStyle/>
          <a:p>
            <a:r>
              <a:rPr lang="en-US" dirty="0">
                <a:latin typeface="+mj-lt"/>
                <a:cs typeface="Arial" panose="020B0604020202020204" pitchFamily="34" charset="0"/>
              </a:rPr>
              <a:t>ABSTRACT</a:t>
            </a:r>
          </a:p>
        </p:txBody>
      </p:sp>
      <p:sp>
        <p:nvSpPr>
          <p:cNvPr id="4" name="Text Placeholder 3"/>
          <p:cNvSpPr>
            <a:spLocks noGrp="1"/>
          </p:cNvSpPr>
          <p:nvPr>
            <p:ph type="body" sz="quarter" idx="20"/>
          </p:nvPr>
        </p:nvSpPr>
        <p:spPr>
          <a:xfrm>
            <a:off x="817717" y="17496744"/>
            <a:ext cx="8763595" cy="615545"/>
          </a:xfrm>
        </p:spPr>
        <p:txBody>
          <a:bodyPr/>
          <a:lstStyle/>
          <a:p>
            <a:pPr algn="l"/>
            <a:r>
              <a:rPr lang="en-IE" sz="2800" u="none" dirty="0"/>
              <a:t>Key Risks &amp; Mitigation</a:t>
            </a:r>
          </a:p>
        </p:txBody>
      </p:sp>
      <p:sp>
        <p:nvSpPr>
          <p:cNvPr id="5" name="Text Placeholder 4"/>
          <p:cNvSpPr>
            <a:spLocks noGrp="1"/>
          </p:cNvSpPr>
          <p:nvPr>
            <p:ph type="body" sz="quarter" idx="21"/>
          </p:nvPr>
        </p:nvSpPr>
        <p:spPr>
          <a:xfrm>
            <a:off x="11756837" y="5729336"/>
            <a:ext cx="10172243" cy="892530"/>
          </a:xfrm>
        </p:spPr>
        <p:txBody>
          <a:bodyPr/>
          <a:lstStyle/>
          <a:p>
            <a:r>
              <a:rPr lang="en-GB" sz="2800" b="1" dirty="0">
                <a:latin typeface="+mj-lt"/>
              </a:rPr>
              <a:t>Employment Rate by Demographic Group</a:t>
            </a:r>
            <a:endParaRPr lang="en-US" sz="2600" b="1" dirty="0">
              <a:latin typeface="+mj-lt"/>
              <a:cs typeface="Arial" panose="020B0604020202020204" pitchFamily="34" charset="0"/>
            </a:endParaRPr>
          </a:p>
        </p:txBody>
      </p:sp>
      <p:sp>
        <p:nvSpPr>
          <p:cNvPr id="9" name="Text Placeholder 8"/>
          <p:cNvSpPr>
            <a:spLocks noGrp="1"/>
          </p:cNvSpPr>
          <p:nvPr>
            <p:ph type="body" sz="quarter" idx="25"/>
          </p:nvPr>
        </p:nvSpPr>
        <p:spPr>
          <a:xfrm>
            <a:off x="33635949" y="14721699"/>
            <a:ext cx="9797359" cy="1661985"/>
          </a:xfrm>
        </p:spPr>
        <p:txBody>
          <a:bodyPr/>
          <a:lstStyle/>
          <a:p>
            <a:pPr algn="l"/>
            <a:r>
              <a:rPr lang="en-GB" sz="2400" u="none" dirty="0">
                <a:solidFill>
                  <a:schemeClr val="tx1">
                    <a:lumMod val="85000"/>
                    <a:lumOff val="15000"/>
                  </a:schemeClr>
                </a:solidFill>
              </a:rPr>
              <a:t>BY RACE Recall Gap</a:t>
            </a:r>
            <a:r>
              <a:rPr lang="en-GB" sz="2400" b="0" u="none" dirty="0">
                <a:solidFill>
                  <a:schemeClr val="tx1"/>
                </a:solidFill>
              </a:rPr>
              <a:t>: 0.256 SIGNIFICANT ⚠ Other races most underserved: Recall=0.48 for Not Employed class. AUC gap 0.038 within acceptable limits. Black/African American Recall=0.74 is acceptable — the disparity is concentrated in the Other races category, not across all non-White groups.</a:t>
            </a:r>
            <a:endParaRPr lang="en-US" sz="2400" b="0" u="none" dirty="0">
              <a:solidFill>
                <a:schemeClr val="tx1"/>
              </a:solidFill>
              <a:latin typeface="Arial" panose="020B0604020202020204" pitchFamily="34" charset="0"/>
              <a:cs typeface="Arial" panose="020B0604020202020204" pitchFamily="34" charset="0"/>
            </a:endParaRPr>
          </a:p>
        </p:txBody>
      </p:sp>
      <p:sp>
        <p:nvSpPr>
          <p:cNvPr id="11" name="Text Placeholder 10"/>
          <p:cNvSpPr>
            <a:spLocks noGrp="1"/>
          </p:cNvSpPr>
          <p:nvPr>
            <p:ph type="body" sz="quarter" idx="27"/>
          </p:nvPr>
        </p:nvSpPr>
        <p:spPr>
          <a:xfrm>
            <a:off x="33370866" y="24451466"/>
            <a:ext cx="10047018" cy="754045"/>
          </a:xfrm>
        </p:spPr>
        <p:txBody>
          <a:bodyPr/>
          <a:lstStyle/>
          <a:p>
            <a:r>
              <a:rPr lang="en-IE" dirty="0"/>
              <a:t>CONCLUSIONS </a:t>
            </a:r>
            <a:endParaRPr lang="en-US" dirty="0">
              <a:solidFill>
                <a:schemeClr val="tx2"/>
              </a:solidFill>
              <a:latin typeface="Arial" panose="020B0604020202020204" pitchFamily="34" charset="0"/>
              <a:cs typeface="Arial" panose="020B0604020202020204" pitchFamily="34" charset="0"/>
            </a:endParaRPr>
          </a:p>
        </p:txBody>
      </p:sp>
      <p:sp>
        <p:nvSpPr>
          <p:cNvPr id="16" name="Text Placeholder 15"/>
          <p:cNvSpPr>
            <a:spLocks noGrp="1"/>
          </p:cNvSpPr>
          <p:nvPr>
            <p:ph type="body" sz="quarter" idx="150"/>
          </p:nvPr>
        </p:nvSpPr>
        <p:spPr>
          <a:xfrm>
            <a:off x="5534015" y="3258481"/>
            <a:ext cx="31998968" cy="1280160"/>
          </a:xfrm>
        </p:spPr>
        <p:txBody>
          <a:bodyPr>
            <a:normAutofit/>
          </a:bodyPr>
          <a:lstStyle/>
          <a:p>
            <a:r>
              <a:rPr lang="en-US" sz="4800" b="1" dirty="0">
                <a:latin typeface="Arial" panose="020B0604020202020204" pitchFamily="34" charset="0"/>
                <a:cs typeface="Arial" panose="020B0604020202020204" pitchFamily="34" charset="0"/>
              </a:rPr>
              <a:t>Ana Clara R </a:t>
            </a:r>
            <a:r>
              <a:rPr lang="en-US" sz="4800" b="1" dirty="0" err="1">
                <a:latin typeface="Arial" panose="020B0604020202020204" pitchFamily="34" charset="0"/>
                <a:cs typeface="Arial" panose="020B0604020202020204" pitchFamily="34" charset="0"/>
              </a:rPr>
              <a:t>Quilapan</a:t>
            </a:r>
            <a:r>
              <a:rPr lang="en-US" sz="4800" b="1" dirty="0">
                <a:latin typeface="Arial" panose="020B0604020202020204" pitchFamily="34" charset="0"/>
                <a:cs typeface="Arial" panose="020B0604020202020204" pitchFamily="34" charset="0"/>
              </a:rPr>
              <a:t> - Student no 2022475 - CCT College Dublin </a:t>
            </a:r>
          </a:p>
        </p:txBody>
      </p:sp>
      <p:sp>
        <p:nvSpPr>
          <p:cNvPr id="18" name="Text Placeholder 17"/>
          <p:cNvSpPr>
            <a:spLocks noGrp="1"/>
          </p:cNvSpPr>
          <p:nvPr>
            <p:ph type="body" sz="quarter" idx="153"/>
          </p:nvPr>
        </p:nvSpPr>
        <p:spPr>
          <a:xfrm>
            <a:off x="543157" y="750721"/>
            <a:ext cx="42901013" cy="2277387"/>
          </a:xfrm>
        </p:spPr>
        <p:txBody>
          <a:bodyPr>
            <a:normAutofit/>
          </a:bodyPr>
          <a:lstStyle/>
          <a:p>
            <a:r>
              <a:rPr lang="en-IE" b="1" dirty="0">
                <a:solidFill>
                  <a:schemeClr val="tx2">
                    <a:lumMod val="20000"/>
                    <a:lumOff val="80000"/>
                  </a:schemeClr>
                </a:solidFill>
              </a:rPr>
              <a:t>AI Bias Auditing Framework for Labour Market Disparity Analysis</a:t>
            </a:r>
          </a:p>
          <a:p>
            <a:endParaRPr lang="en-US" dirty="0">
              <a:latin typeface="+mn-lt"/>
            </a:endParaRPr>
          </a:p>
        </p:txBody>
      </p:sp>
      <p:sp>
        <p:nvSpPr>
          <p:cNvPr id="28" name="Text Placeholder 6"/>
          <p:cNvSpPr>
            <a:spLocks noGrp="1"/>
          </p:cNvSpPr>
          <p:nvPr>
            <p:ph type="body" sz="quarter" idx="23"/>
          </p:nvPr>
        </p:nvSpPr>
        <p:spPr>
          <a:xfrm>
            <a:off x="22451090" y="5580498"/>
            <a:ext cx="10048874" cy="1031029"/>
          </a:xfrm>
        </p:spPr>
        <p:txBody>
          <a:bodyPr/>
          <a:lstStyle/>
          <a:p>
            <a:pPr algn="ctr"/>
            <a:r>
              <a:rPr lang="en-IE" sz="3700" b="1" u="sng" dirty="0">
                <a:latin typeface="+mj-lt"/>
              </a:rPr>
              <a:t>PHASE 4: MODELLING &amp; MODEL SELECTION</a:t>
            </a:r>
            <a:endParaRPr lang="en-US" sz="3700" b="1" u="sng" dirty="0">
              <a:solidFill>
                <a:schemeClr val="tx1">
                  <a:lumMod val="95000"/>
                  <a:lumOff val="5000"/>
                </a:schemeClr>
              </a:solidFill>
              <a:latin typeface="+mj-lt"/>
              <a:cs typeface="Arial" panose="020B0604020202020204" pitchFamily="34" charset="0"/>
            </a:endParaRPr>
          </a:p>
        </p:txBody>
      </p:sp>
      <p:sp>
        <p:nvSpPr>
          <p:cNvPr id="30" name="Text Placeholder 6"/>
          <p:cNvSpPr>
            <a:spLocks noGrp="1"/>
          </p:cNvSpPr>
          <p:nvPr>
            <p:ph type="body" sz="quarter" idx="23"/>
          </p:nvPr>
        </p:nvSpPr>
        <p:spPr>
          <a:xfrm>
            <a:off x="22461650" y="21284016"/>
            <a:ext cx="10048874" cy="1323417"/>
          </a:xfrm>
        </p:spPr>
        <p:txBody>
          <a:bodyPr/>
          <a:lstStyle/>
          <a:p>
            <a:r>
              <a:rPr lang="en-IE" sz="2800" b="1" dirty="0">
                <a:latin typeface="+mj-lt"/>
              </a:rPr>
              <a:t>Hyperparameter Tuning — </a:t>
            </a:r>
            <a:r>
              <a:rPr lang="en-IE" sz="2800" b="1" dirty="0" err="1">
                <a:latin typeface="+mj-lt"/>
              </a:rPr>
              <a:t>GridSearchCV</a:t>
            </a:r>
            <a:r>
              <a:rPr lang="en-IE" sz="2800" b="1" dirty="0">
                <a:latin typeface="+mj-lt"/>
              </a:rPr>
              <a:t> (36 combinations, 3-fold CV) </a:t>
            </a:r>
            <a:endParaRPr lang="en-US" sz="2800" b="1" u="sng" dirty="0">
              <a:solidFill>
                <a:schemeClr val="tx2"/>
              </a:solidFill>
              <a:latin typeface="+mj-lt"/>
              <a:cs typeface="Arial" panose="020B0604020202020204" pitchFamily="34" charset="0"/>
            </a:endParaRPr>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Content Placeholder 2"/>
          <p:cNvSpPr txBox="1">
            <a:spLocks/>
          </p:cNvSpPr>
          <p:nvPr/>
        </p:nvSpPr>
        <p:spPr>
          <a:xfrm>
            <a:off x="22629083" y="6539314"/>
            <a:ext cx="9561422" cy="1645246"/>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GB" sz="2600" dirty="0">
                <a:cs typeface="Arial" panose="020B0604020202020204" pitchFamily="34" charset="0"/>
              </a:rPr>
              <a:t>5-fold stratified cross-validation (ROC-AUC) across 6 candidate algorithms. Logistic Regression selected as interpretable baseline;</a:t>
            </a:r>
          </a:p>
          <a:p>
            <a:pPr marL="0" indent="0">
              <a:buNone/>
            </a:pPr>
            <a:r>
              <a:rPr lang="en-GB" sz="2600" dirty="0">
                <a:cs typeface="Arial" panose="020B0604020202020204" pitchFamily="34" charset="0"/>
              </a:rPr>
              <a:t>Random Forest as primary model.</a:t>
            </a:r>
          </a:p>
        </p:txBody>
      </p:sp>
      <p:sp>
        <p:nvSpPr>
          <p:cNvPr id="40" name="Text Placeholder 3"/>
          <p:cNvSpPr>
            <a:spLocks noGrp="1"/>
          </p:cNvSpPr>
          <p:nvPr>
            <p:ph type="body" sz="quarter" idx="20"/>
          </p:nvPr>
        </p:nvSpPr>
        <p:spPr>
          <a:xfrm>
            <a:off x="266634" y="12053844"/>
            <a:ext cx="10026754" cy="754045"/>
          </a:xfrm>
        </p:spPr>
        <p:txBody>
          <a:bodyPr/>
          <a:lstStyle/>
          <a:p>
            <a:r>
              <a:rPr lang="en-IE" dirty="0"/>
              <a:t>PHASE 1: BUSINESS UNDERSTANDING </a:t>
            </a:r>
            <a:endParaRPr lang="en-US" dirty="0">
              <a:solidFill>
                <a:schemeClr val="tx2"/>
              </a:solidFill>
              <a:latin typeface="Arial" panose="020B0604020202020204" pitchFamily="34" charset="0"/>
              <a:cs typeface="Arial" panose="020B0604020202020204" pitchFamily="34" charset="0"/>
            </a:endParaRPr>
          </a:p>
        </p:txBody>
      </p:sp>
      <p:sp>
        <p:nvSpPr>
          <p:cNvPr id="41" name="Content Placeholder 2"/>
          <p:cNvSpPr txBox="1">
            <a:spLocks/>
          </p:cNvSpPr>
          <p:nvPr/>
        </p:nvSpPr>
        <p:spPr>
          <a:xfrm>
            <a:off x="659551" y="13703754"/>
            <a:ext cx="9839759" cy="373709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800" b="1" dirty="0">
                <a:cs typeface="Arial" panose="020B0604020202020204" pitchFamily="34" charset="0"/>
              </a:rPr>
              <a:t>Problem: </a:t>
            </a:r>
            <a:r>
              <a:rPr lang="en-IE" sz="2800" dirty="0">
                <a:cs typeface="Arial" panose="020B0604020202020204" pitchFamily="34" charset="0"/>
              </a:rPr>
              <a:t>Organisations deploying AI in recruitment lack structured mechanisms to audit algorithmic outcomes across demographic</a:t>
            </a:r>
          </a:p>
          <a:p>
            <a:pPr marL="0" indent="0" algn="just" defTabSz="895350">
              <a:buFont typeface="Arial" pitchFamily="34" charset="0"/>
              <a:buNone/>
            </a:pPr>
            <a:r>
              <a:rPr lang="en-IE" sz="2800" dirty="0">
                <a:cs typeface="Arial" panose="020B0604020202020204" pitchFamily="34" charset="0"/>
              </a:rPr>
              <a:t>groups.</a:t>
            </a:r>
          </a:p>
          <a:p>
            <a:pPr marL="0" indent="0" algn="just" defTabSz="895350">
              <a:buFont typeface="Arial" pitchFamily="34" charset="0"/>
              <a:buNone/>
            </a:pPr>
            <a:r>
              <a:rPr lang="en-IE" sz="2800" b="1" dirty="0">
                <a:cs typeface="Arial" panose="020B0604020202020204" pitchFamily="34" charset="0"/>
              </a:rPr>
              <a:t>Aim: </a:t>
            </a:r>
            <a:r>
              <a:rPr lang="en-IE" sz="2800" dirty="0">
                <a:cs typeface="Arial" panose="020B0604020202020204" pitchFamily="34" charset="0"/>
              </a:rPr>
              <a:t>Develop a prototype framework to detect, measure, and log employment outcome disparities in an auditable manner.</a:t>
            </a:r>
          </a:p>
          <a:p>
            <a:pPr marL="0" indent="0" algn="just" defTabSz="895350">
              <a:buFont typeface="Arial" pitchFamily="34" charset="0"/>
              <a:buNone/>
            </a:pPr>
            <a:r>
              <a:rPr lang="en-IE" sz="2800" b="1" dirty="0">
                <a:cs typeface="Arial" panose="020B0604020202020204" pitchFamily="34" charset="0"/>
              </a:rPr>
              <a:t>Tools: </a:t>
            </a:r>
            <a:r>
              <a:rPr lang="en-IE" sz="2800" dirty="0">
                <a:cs typeface="Arial" panose="020B0604020202020204" pitchFamily="34" charset="0"/>
              </a:rPr>
              <a:t>Python 3 · scikit-learn · pandas · matplotlib · seaborn · MySQL (all open-source)</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43" name="Text Placeholder 4">
            <a:extLst>
              <a:ext uri="{FF2B5EF4-FFF2-40B4-BE49-F238E27FC236}">
                <a16:creationId xmlns:a16="http://schemas.microsoft.com/office/drawing/2014/main" id="{D01E89C6-0794-4157-9DEF-383030D60FAB}"/>
              </a:ext>
            </a:extLst>
          </p:cNvPr>
          <p:cNvSpPr txBox="1">
            <a:spLocks/>
          </p:cNvSpPr>
          <p:nvPr/>
        </p:nvSpPr>
        <p:spPr>
          <a:xfrm>
            <a:off x="11589822" y="27524655"/>
            <a:ext cx="10048874" cy="263454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3200" b="1" dirty="0">
                <a:solidFill>
                  <a:schemeClr val="bg2">
                    <a:lumMod val="10000"/>
                  </a:schemeClr>
                </a:solidFill>
                <a:latin typeface="+mn-lt"/>
              </a:rPr>
              <a:t>Target: EMPLOYED (derived from ESR) </a:t>
            </a:r>
          </a:p>
          <a:p>
            <a:pPr>
              <a:lnSpc>
                <a:spcPct val="150000"/>
              </a:lnSpc>
            </a:pPr>
            <a:r>
              <a:rPr lang="en-GB" sz="2800" dirty="0">
                <a:solidFill>
                  <a:schemeClr val="bg2">
                    <a:lumMod val="10000"/>
                  </a:schemeClr>
                </a:solidFill>
                <a:latin typeface="+mn-lt"/>
              </a:rPr>
              <a:t>88,393 Employed (69.9%)   ·   38,037 Not Employed (30.1%)</a:t>
            </a:r>
          </a:p>
          <a:p>
            <a:r>
              <a:rPr lang="en-GB" sz="2600" dirty="0">
                <a:solidFill>
                  <a:schemeClr val="tx1">
                    <a:lumMod val="75000"/>
                    <a:lumOff val="25000"/>
                  </a:schemeClr>
                </a:solidFill>
                <a:latin typeface="+mn-lt"/>
              </a:rPr>
              <a:t>80/20 stratified split → 101,144 train | 25,286 test | 35 features after One-Hot Encoding</a:t>
            </a:r>
            <a:endParaRPr lang="en-US" sz="2600" dirty="0">
              <a:solidFill>
                <a:schemeClr val="tx1">
                  <a:lumMod val="75000"/>
                  <a:lumOff val="25000"/>
                </a:schemeClr>
              </a:solidFill>
              <a:latin typeface="+mn-lt"/>
              <a:cs typeface="Arial" panose="020B0604020202020204" pitchFamily="34" charset="0"/>
            </a:endParaRPr>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534257" y="29848554"/>
            <a:ext cx="9568642" cy="214029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defTabSz="895350">
              <a:buNone/>
            </a:pPr>
            <a:r>
              <a:rPr lang="en-GB" sz="1200" dirty="0"/>
              <a:t>References:</a:t>
            </a:r>
          </a:p>
          <a:p>
            <a:pPr marL="0" indent="0" defTabSz="895350">
              <a:buNone/>
            </a:pPr>
            <a:r>
              <a:rPr lang="en-GB" sz="1200" dirty="0"/>
              <a:t>Ahmad et al. (2025) Frontiers in Data Science. doi:10.3389/fdata.2025.1487713</a:t>
            </a:r>
          </a:p>
          <a:p>
            <a:pPr marL="0" indent="0" defTabSz="895350">
              <a:buNone/>
            </a:pPr>
            <a:r>
              <a:rPr lang="en-GB" sz="1200" dirty="0"/>
              <a:t>Bellamy et al. (2019) AI Fairness 360. IBM J. R&amp;D 63(4/5).</a:t>
            </a:r>
          </a:p>
          <a:p>
            <a:pPr marL="0" indent="0" defTabSz="895350">
              <a:buNone/>
            </a:pPr>
            <a:r>
              <a:rPr lang="en-GB" sz="1200" dirty="0"/>
              <a:t>Dwork et al. (2012) Fairness through awareness. ITCS.</a:t>
            </a:r>
          </a:p>
          <a:p>
            <a:pPr marL="0" indent="0" defTabSz="895350">
              <a:buNone/>
            </a:pPr>
            <a:r>
              <a:rPr lang="en-GB" sz="1200" dirty="0"/>
              <a:t>European Parliament (2024) EU AI Act — Regulation 2024/1689.</a:t>
            </a:r>
          </a:p>
          <a:p>
            <a:pPr marL="0" indent="0" defTabSz="895350">
              <a:buNone/>
            </a:pPr>
            <a:r>
              <a:rPr lang="en-GB" sz="1200" dirty="0"/>
              <a:t>Mehrabi et al. (2021) Survey on bias in ML. ACM Computing Surveys 54(6).</a:t>
            </a:r>
          </a:p>
          <a:p>
            <a:pPr marL="0" indent="0" defTabSz="895350">
              <a:buNone/>
            </a:pPr>
            <a:r>
              <a:rPr lang="en-GB" sz="1200" dirty="0"/>
              <a:t>NYC Council (2021) Local Law 144 — Automated Employment Decision Tools.</a:t>
            </a:r>
          </a:p>
          <a:p>
            <a:pPr marL="0" indent="0" defTabSz="895350">
              <a:buNone/>
            </a:pPr>
            <a:r>
              <a:rPr lang="en-GB" sz="1200" dirty="0"/>
              <a:t>Pedregosa et al. (2011) Scikit-learn. JMLR 12.</a:t>
            </a:r>
          </a:p>
          <a:p>
            <a:pPr marL="0" indent="0" defTabSz="895350">
              <a:buNone/>
            </a:pPr>
            <a:r>
              <a:rPr lang="en-GB" sz="1200" dirty="0"/>
              <a:t>U.S. Census Bureau (2022) ACS 1-Year PUMS Florid</a:t>
            </a:r>
          </a:p>
        </p:txBody>
      </p:sp>
      <p:sp>
        <p:nvSpPr>
          <p:cNvPr id="51" name="CuadroTexto 50">
            <a:extLst>
              <a:ext uri="{FF2B5EF4-FFF2-40B4-BE49-F238E27FC236}">
                <a16:creationId xmlns:a16="http://schemas.microsoft.com/office/drawing/2014/main" id="{E362C951-24F1-F6A5-4D1F-FD7111CBC9EC}"/>
              </a:ext>
            </a:extLst>
          </p:cNvPr>
          <p:cNvSpPr txBox="1"/>
          <p:nvPr/>
        </p:nvSpPr>
        <p:spPr>
          <a:xfrm>
            <a:off x="22800624" y="13859007"/>
            <a:ext cx="9466977" cy="523220"/>
          </a:xfrm>
          <a:prstGeom prst="rect">
            <a:avLst/>
          </a:prstGeom>
          <a:noFill/>
        </p:spPr>
        <p:txBody>
          <a:bodyPr wrap="square" rtlCol="0">
            <a:spAutoFit/>
          </a:bodyPr>
          <a:lstStyle/>
          <a:p>
            <a:r>
              <a:rPr lang="en-IE" sz="2800" dirty="0">
                <a:latin typeface="Calibri (Títulos)"/>
                <a:cs typeface="Arial" panose="020B0604020202020204" pitchFamily="34" charset="0"/>
              </a:rPr>
              <a:t> </a:t>
            </a:r>
            <a:r>
              <a:rPr lang="en-GB" sz="2800" dirty="0">
                <a:latin typeface="Calibri (Títulos)"/>
              </a:rPr>
              <a:t>Feature Importance — Tuned Random Forest (Gini)</a:t>
            </a:r>
            <a:endParaRPr lang="en-IE" sz="2800" dirty="0">
              <a:latin typeface="Calibri (Títulos)"/>
              <a:cs typeface="Arial" panose="020B0604020202020204" pitchFamily="34" charset="0"/>
            </a:endParaRPr>
          </a:p>
        </p:txBody>
      </p:sp>
      <p:pic>
        <p:nvPicPr>
          <p:cNvPr id="54" name="Imagen 53">
            <a:extLst>
              <a:ext uri="{FF2B5EF4-FFF2-40B4-BE49-F238E27FC236}">
                <a16:creationId xmlns:a16="http://schemas.microsoft.com/office/drawing/2014/main" id="{61566060-31EC-E1CC-E332-BD42F90F1FB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2930752" y="14407624"/>
            <a:ext cx="8409979" cy="6264866"/>
          </a:xfrm>
          <a:prstGeom prst="rect">
            <a:avLst/>
          </a:prstGeom>
        </p:spPr>
      </p:pic>
      <p:sp>
        <p:nvSpPr>
          <p:cNvPr id="59" name="CuadroTexto 58">
            <a:extLst>
              <a:ext uri="{FF2B5EF4-FFF2-40B4-BE49-F238E27FC236}">
                <a16:creationId xmlns:a16="http://schemas.microsoft.com/office/drawing/2014/main" id="{C1DC9EF3-CC85-E4F1-6330-6878A755F7A7}"/>
              </a:ext>
            </a:extLst>
          </p:cNvPr>
          <p:cNvSpPr txBox="1"/>
          <p:nvPr/>
        </p:nvSpPr>
        <p:spPr>
          <a:xfrm>
            <a:off x="33543983" y="5765947"/>
            <a:ext cx="9397300" cy="661720"/>
          </a:xfrm>
          <a:prstGeom prst="rect">
            <a:avLst/>
          </a:prstGeom>
          <a:noFill/>
        </p:spPr>
        <p:txBody>
          <a:bodyPr wrap="square" rtlCol="0">
            <a:spAutoFit/>
          </a:bodyPr>
          <a:lstStyle/>
          <a:p>
            <a:pPr algn="ctr"/>
            <a:r>
              <a:rPr lang="en-IE" sz="3700" b="1" u="sng" dirty="0">
                <a:solidFill>
                  <a:schemeClr val="accent5">
                    <a:lumMod val="50000"/>
                  </a:schemeClr>
                </a:solidFill>
              </a:rPr>
              <a:t>PHASE 5: FAIRNESS ANALYSIS </a:t>
            </a:r>
            <a:endParaRPr lang="en-IE" sz="3700" b="1" u="sng" dirty="0">
              <a:solidFill>
                <a:schemeClr val="accent5">
                  <a:lumMod val="50000"/>
                </a:schemeClr>
              </a:solidFill>
              <a:latin typeface="Arial" panose="020B0604020202020204" pitchFamily="34" charset="0"/>
              <a:cs typeface="Arial" panose="020B0604020202020204" pitchFamily="34" charset="0"/>
            </a:endParaRPr>
          </a:p>
        </p:txBody>
      </p:sp>
      <p:sp>
        <p:nvSpPr>
          <p:cNvPr id="60" name="CuadroTexto 59">
            <a:extLst>
              <a:ext uri="{FF2B5EF4-FFF2-40B4-BE49-F238E27FC236}">
                <a16:creationId xmlns:a16="http://schemas.microsoft.com/office/drawing/2014/main" id="{6B69EAE3-BF6F-E01D-7C59-05C45BC18B57}"/>
              </a:ext>
            </a:extLst>
          </p:cNvPr>
          <p:cNvSpPr txBox="1"/>
          <p:nvPr/>
        </p:nvSpPr>
        <p:spPr>
          <a:xfrm>
            <a:off x="33543983" y="6559457"/>
            <a:ext cx="9466976" cy="954107"/>
          </a:xfrm>
          <a:prstGeom prst="rect">
            <a:avLst/>
          </a:prstGeom>
          <a:noFill/>
        </p:spPr>
        <p:txBody>
          <a:bodyPr wrap="square" rtlCol="0">
            <a:spAutoFit/>
          </a:bodyPr>
          <a:lstStyle/>
          <a:p>
            <a:r>
              <a:rPr lang="en-GB" sz="2800" i="1" dirty="0"/>
              <a:t>AUC gap &gt; 0.05 or Recall gap &gt; 0.05 = significant (Bellamy et al., 2019)</a:t>
            </a:r>
            <a:endParaRPr lang="en-IE" sz="2600" i="1" dirty="0">
              <a:latin typeface="Arial" panose="020B0604020202020204" pitchFamily="34" charset="0"/>
              <a:cs typeface="Arial" panose="020B0604020202020204" pitchFamily="34" charset="0"/>
            </a:endParaRPr>
          </a:p>
        </p:txBody>
      </p:sp>
      <p:pic>
        <p:nvPicPr>
          <p:cNvPr id="63" name="Imagen 62">
            <a:extLst>
              <a:ext uri="{FF2B5EF4-FFF2-40B4-BE49-F238E27FC236}">
                <a16:creationId xmlns:a16="http://schemas.microsoft.com/office/drawing/2014/main" id="{61348DF9-0B94-BFAD-8962-E0D971B2A2D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3569175" y="7571396"/>
            <a:ext cx="9681247" cy="3267375"/>
          </a:xfrm>
          <a:prstGeom prst="rect">
            <a:avLst/>
          </a:prstGeom>
        </p:spPr>
      </p:pic>
      <p:pic>
        <p:nvPicPr>
          <p:cNvPr id="4104" name="Imagen 4103">
            <a:extLst>
              <a:ext uri="{FF2B5EF4-FFF2-40B4-BE49-F238E27FC236}">
                <a16:creationId xmlns:a16="http://schemas.microsoft.com/office/drawing/2014/main" id="{7CED93B5-D3E5-4D84-2C88-BE1A6B1D5E9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656170" y="7183496"/>
            <a:ext cx="9650771" cy="2563551"/>
          </a:xfrm>
          <a:prstGeom prst="rect">
            <a:avLst/>
          </a:prstGeom>
        </p:spPr>
      </p:pic>
      <p:sp>
        <p:nvSpPr>
          <p:cNvPr id="4111" name="CuadroTexto 4110">
            <a:extLst>
              <a:ext uri="{FF2B5EF4-FFF2-40B4-BE49-F238E27FC236}">
                <a16:creationId xmlns:a16="http://schemas.microsoft.com/office/drawing/2014/main" id="{7742A90C-CC31-4D1F-2A21-5C6DD9DE1193}"/>
              </a:ext>
            </a:extLst>
          </p:cNvPr>
          <p:cNvSpPr txBox="1"/>
          <p:nvPr/>
        </p:nvSpPr>
        <p:spPr>
          <a:xfrm>
            <a:off x="33635923" y="19557020"/>
            <a:ext cx="9466976" cy="661720"/>
          </a:xfrm>
          <a:prstGeom prst="rect">
            <a:avLst/>
          </a:prstGeom>
          <a:noFill/>
        </p:spPr>
        <p:txBody>
          <a:bodyPr wrap="square" rtlCol="0">
            <a:spAutoFit/>
          </a:bodyPr>
          <a:lstStyle/>
          <a:p>
            <a:pPr algn="ctr"/>
            <a:r>
              <a:rPr lang="en-GB" sz="3700" b="1" u="sng" dirty="0">
                <a:solidFill>
                  <a:schemeClr val="accent5">
                    <a:lumMod val="50000"/>
                  </a:schemeClr>
                </a:solidFill>
              </a:rPr>
              <a:t>PHASE 6: DEPLOYMENT — MySQL AUDIT LAYER</a:t>
            </a:r>
            <a:endParaRPr lang="en-IE" sz="3700" b="1" u="sng" dirty="0">
              <a:solidFill>
                <a:schemeClr val="accent5">
                  <a:lumMod val="50000"/>
                </a:schemeClr>
              </a:solidFill>
              <a:latin typeface="Arial" panose="020B0604020202020204" pitchFamily="34" charset="0"/>
              <a:cs typeface="Arial" panose="020B0604020202020204" pitchFamily="34" charset="0"/>
            </a:endParaRPr>
          </a:p>
        </p:txBody>
      </p:sp>
      <p:sp>
        <p:nvSpPr>
          <p:cNvPr id="4112" name="CuadroTexto 4111">
            <a:extLst>
              <a:ext uri="{FF2B5EF4-FFF2-40B4-BE49-F238E27FC236}">
                <a16:creationId xmlns:a16="http://schemas.microsoft.com/office/drawing/2014/main" id="{D44BDA21-2B55-2259-66C2-0230B1294460}"/>
              </a:ext>
            </a:extLst>
          </p:cNvPr>
          <p:cNvSpPr txBox="1"/>
          <p:nvPr/>
        </p:nvSpPr>
        <p:spPr>
          <a:xfrm>
            <a:off x="33588817" y="20218740"/>
            <a:ext cx="9701115" cy="4093428"/>
          </a:xfrm>
          <a:prstGeom prst="rect">
            <a:avLst/>
          </a:prstGeom>
          <a:noFill/>
        </p:spPr>
        <p:txBody>
          <a:bodyPr wrap="square" rtlCol="0">
            <a:spAutoFit/>
          </a:bodyPr>
          <a:lstStyle/>
          <a:p>
            <a:r>
              <a:rPr lang="en-GB" sz="2600" dirty="0" err="1"/>
              <a:t>audit_predictions</a:t>
            </a:r>
            <a:r>
              <a:rPr lang="en-GB" sz="2600" dirty="0"/>
              <a:t> </a:t>
            </a:r>
          </a:p>
          <a:p>
            <a:r>
              <a:rPr lang="en-GB" sz="2600" dirty="0"/>
              <a:t>25,286 rows — individual predictions, demographic features, probability scores, timestamps. Supports EU AI Act Art.10(5). </a:t>
            </a:r>
            <a:r>
              <a:rPr lang="en-GB" sz="2600" dirty="0" err="1"/>
              <a:t>audit_fairness_log</a:t>
            </a:r>
            <a:endParaRPr lang="en-GB" sz="2600" dirty="0"/>
          </a:p>
          <a:p>
            <a:r>
              <a:rPr lang="en-GB" sz="2600" dirty="0"/>
              <a:t>7 subgroup metric records per run — enables longitudinal tracking of fairness gaps over time.</a:t>
            </a:r>
          </a:p>
          <a:p>
            <a:r>
              <a:rPr lang="en-GB" sz="2600" dirty="0" err="1"/>
              <a:t>audit_report_summary</a:t>
            </a:r>
            <a:endParaRPr lang="en-GB" sz="2600" dirty="0"/>
          </a:p>
          <a:p>
            <a:r>
              <a:rPr lang="en-GB" sz="2600" dirty="0"/>
              <a:t>Executive summary per run — supports governance board reporting and regulatory submissions. Run ID: RUN_20260530_234959 · EU AI Act Annex III · NYC Local Law 144</a:t>
            </a:r>
            <a:endParaRPr lang="en-IE" sz="26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FFBDDFF5-F67B-1FBF-36DE-2ED489209AE0}"/>
              </a:ext>
            </a:extLst>
          </p:cNvPr>
          <p:cNvSpPr txBox="1"/>
          <p:nvPr/>
        </p:nvSpPr>
        <p:spPr>
          <a:xfrm>
            <a:off x="817717" y="22023982"/>
            <a:ext cx="9179445" cy="2308324"/>
          </a:xfrm>
          <a:prstGeom prst="rect">
            <a:avLst/>
          </a:prstGeom>
          <a:noFill/>
        </p:spPr>
        <p:txBody>
          <a:bodyPr wrap="square" rtlCol="0">
            <a:spAutoFit/>
          </a:bodyPr>
          <a:lstStyle/>
          <a:p>
            <a:r>
              <a:rPr lang="en-IE" sz="3200" b="1" dirty="0">
                <a:solidFill>
                  <a:schemeClr val="accent5">
                    <a:lumMod val="50000"/>
                  </a:schemeClr>
                </a:solidFill>
              </a:rPr>
              <a:t>All 4 Success Criteria Met: </a:t>
            </a:r>
          </a:p>
          <a:p>
            <a:r>
              <a:rPr lang="en-IE" sz="2800" dirty="0"/>
              <a:t>✔ Two ML models developed and compared </a:t>
            </a:r>
          </a:p>
          <a:p>
            <a:r>
              <a:rPr lang="en-IE" sz="2800" dirty="0"/>
              <a:t>✔ Fairness analysis across 3 demographic dimensions</a:t>
            </a:r>
          </a:p>
          <a:p>
            <a:r>
              <a:rPr lang="en-IE" sz="2800" dirty="0"/>
              <a:t> ✔ Functional MySQL auditability layer </a:t>
            </a:r>
          </a:p>
          <a:p>
            <a:r>
              <a:rPr lang="en-IE" sz="2800" dirty="0"/>
              <a:t>✔ Comprehensive CRISP-DM report</a:t>
            </a:r>
          </a:p>
        </p:txBody>
      </p:sp>
      <p:sp>
        <p:nvSpPr>
          <p:cNvPr id="8" name="CuadroTexto 7">
            <a:extLst>
              <a:ext uri="{FF2B5EF4-FFF2-40B4-BE49-F238E27FC236}">
                <a16:creationId xmlns:a16="http://schemas.microsoft.com/office/drawing/2014/main" id="{8088ED0C-BA35-6C22-9BE4-355E605768B1}"/>
              </a:ext>
            </a:extLst>
          </p:cNvPr>
          <p:cNvSpPr txBox="1"/>
          <p:nvPr/>
        </p:nvSpPr>
        <p:spPr>
          <a:xfrm>
            <a:off x="1262698" y="24879989"/>
            <a:ext cx="8592161" cy="661720"/>
          </a:xfrm>
          <a:prstGeom prst="rect">
            <a:avLst/>
          </a:prstGeom>
          <a:noFill/>
        </p:spPr>
        <p:txBody>
          <a:bodyPr wrap="square" rtlCol="0">
            <a:spAutoFit/>
          </a:bodyPr>
          <a:lstStyle/>
          <a:p>
            <a:pPr algn="ctr"/>
            <a:r>
              <a:rPr lang="en-IE" sz="3700" b="1" u="sng" dirty="0">
                <a:solidFill>
                  <a:schemeClr val="accent5">
                    <a:lumMod val="50000"/>
                  </a:schemeClr>
                </a:solidFill>
                <a:latin typeface="+mj-lt"/>
                <a:cs typeface="Arial" panose="020B0604020202020204" pitchFamily="34" charset="0"/>
              </a:rPr>
              <a:t>PHASE 2: DATA UNDERSTANDING</a:t>
            </a:r>
          </a:p>
        </p:txBody>
      </p:sp>
      <p:sp>
        <p:nvSpPr>
          <p:cNvPr id="10" name="CuadroTexto 9">
            <a:extLst>
              <a:ext uri="{FF2B5EF4-FFF2-40B4-BE49-F238E27FC236}">
                <a16:creationId xmlns:a16="http://schemas.microsoft.com/office/drawing/2014/main" id="{28243B32-0C41-D410-6826-8E2D51E0EBBE}"/>
              </a:ext>
            </a:extLst>
          </p:cNvPr>
          <p:cNvSpPr txBox="1"/>
          <p:nvPr/>
        </p:nvSpPr>
        <p:spPr>
          <a:xfrm>
            <a:off x="882094" y="25859829"/>
            <a:ext cx="9450599" cy="1384995"/>
          </a:xfrm>
          <a:prstGeom prst="rect">
            <a:avLst/>
          </a:prstGeom>
          <a:noFill/>
        </p:spPr>
        <p:txBody>
          <a:bodyPr wrap="square" rtlCol="0">
            <a:spAutoFit/>
          </a:bodyPr>
          <a:lstStyle/>
          <a:p>
            <a:pPr algn="ctr"/>
            <a:r>
              <a:rPr lang="en-GB" sz="2800" dirty="0"/>
              <a:t>ACS PUMS — Florida (State Code 12), U.S. Census Bureau (2022) 126,430 working-age individuals (18–66) · 16 variables · Demographics, socioeconomics &amp; employment status </a:t>
            </a:r>
            <a:endParaRPr lang="en-IE" sz="2800" dirty="0"/>
          </a:p>
        </p:txBody>
      </p:sp>
      <p:sp>
        <p:nvSpPr>
          <p:cNvPr id="12" name="CuadroTexto 11">
            <a:extLst>
              <a:ext uri="{FF2B5EF4-FFF2-40B4-BE49-F238E27FC236}">
                <a16:creationId xmlns:a16="http://schemas.microsoft.com/office/drawing/2014/main" id="{C8FBB3BC-EEC3-B0EF-D9C6-3EEF18FB2286}"/>
              </a:ext>
            </a:extLst>
          </p:cNvPr>
          <p:cNvSpPr txBox="1"/>
          <p:nvPr/>
        </p:nvSpPr>
        <p:spPr>
          <a:xfrm>
            <a:off x="922825" y="28044373"/>
            <a:ext cx="2271114" cy="1384995"/>
          </a:xfrm>
          <a:prstGeom prst="rect">
            <a:avLst/>
          </a:prstGeom>
          <a:noFill/>
        </p:spPr>
        <p:txBody>
          <a:bodyPr wrap="square" rtlCol="0">
            <a:spAutoFit/>
          </a:bodyPr>
          <a:lstStyle/>
          <a:p>
            <a:r>
              <a:rPr lang="en-IE" sz="2800" b="1" dirty="0">
                <a:latin typeface="Abadi" panose="020B0604020104020204" pitchFamily="34" charset="0"/>
              </a:rPr>
              <a:t>126,430 </a:t>
            </a:r>
          </a:p>
          <a:p>
            <a:r>
              <a:rPr lang="en-IE" sz="2800" b="1" dirty="0">
                <a:latin typeface="Abadi" panose="020B0604020104020204" pitchFamily="34" charset="0"/>
              </a:rPr>
              <a:t>Total Records </a:t>
            </a:r>
          </a:p>
        </p:txBody>
      </p:sp>
      <p:sp>
        <p:nvSpPr>
          <p:cNvPr id="13" name="CuadroTexto 12">
            <a:extLst>
              <a:ext uri="{FF2B5EF4-FFF2-40B4-BE49-F238E27FC236}">
                <a16:creationId xmlns:a16="http://schemas.microsoft.com/office/drawing/2014/main" id="{3BDB55DE-78A1-13A4-1D45-B32E76BBE04D}"/>
              </a:ext>
            </a:extLst>
          </p:cNvPr>
          <p:cNvSpPr txBox="1"/>
          <p:nvPr/>
        </p:nvSpPr>
        <p:spPr>
          <a:xfrm>
            <a:off x="3538479" y="28218283"/>
            <a:ext cx="1763243" cy="954107"/>
          </a:xfrm>
          <a:prstGeom prst="rect">
            <a:avLst/>
          </a:prstGeom>
          <a:noFill/>
        </p:spPr>
        <p:txBody>
          <a:bodyPr wrap="square" rtlCol="0">
            <a:spAutoFit/>
          </a:bodyPr>
          <a:lstStyle/>
          <a:p>
            <a:r>
              <a:rPr lang="en-IE" sz="2800" b="1" dirty="0">
                <a:latin typeface="Abadi" panose="020B0604020104020204" pitchFamily="34" charset="0"/>
              </a:rPr>
              <a:t>69.9% Employed</a:t>
            </a:r>
          </a:p>
        </p:txBody>
      </p:sp>
      <p:sp>
        <p:nvSpPr>
          <p:cNvPr id="14" name="CuadroTexto 13">
            <a:extLst>
              <a:ext uri="{FF2B5EF4-FFF2-40B4-BE49-F238E27FC236}">
                <a16:creationId xmlns:a16="http://schemas.microsoft.com/office/drawing/2014/main" id="{7D33298E-9C68-4087-3824-E99DF075CCE0}"/>
              </a:ext>
            </a:extLst>
          </p:cNvPr>
          <p:cNvSpPr txBox="1"/>
          <p:nvPr/>
        </p:nvSpPr>
        <p:spPr>
          <a:xfrm>
            <a:off x="5768661" y="28180617"/>
            <a:ext cx="1885417" cy="954107"/>
          </a:xfrm>
          <a:prstGeom prst="rect">
            <a:avLst/>
          </a:prstGeom>
          <a:noFill/>
        </p:spPr>
        <p:txBody>
          <a:bodyPr wrap="square" rtlCol="0">
            <a:spAutoFit/>
          </a:bodyPr>
          <a:lstStyle/>
          <a:p>
            <a:r>
              <a:rPr lang="en-IE" sz="2800" b="1" dirty="0">
                <a:latin typeface="Abadi" panose="020B0604020104020204" pitchFamily="34" charset="0"/>
              </a:rPr>
              <a:t>30.1% Not Employed </a:t>
            </a:r>
          </a:p>
        </p:txBody>
      </p:sp>
      <p:sp>
        <p:nvSpPr>
          <p:cNvPr id="17" name="CuadroTexto 16">
            <a:extLst>
              <a:ext uri="{FF2B5EF4-FFF2-40B4-BE49-F238E27FC236}">
                <a16:creationId xmlns:a16="http://schemas.microsoft.com/office/drawing/2014/main" id="{584AEBDE-FC69-CAD3-7CA1-37F287C1F0FF}"/>
              </a:ext>
            </a:extLst>
          </p:cNvPr>
          <p:cNvSpPr txBox="1"/>
          <p:nvPr/>
        </p:nvSpPr>
        <p:spPr>
          <a:xfrm>
            <a:off x="7851089" y="27995203"/>
            <a:ext cx="2631034" cy="1384995"/>
          </a:xfrm>
          <a:prstGeom prst="rect">
            <a:avLst/>
          </a:prstGeom>
          <a:solidFill>
            <a:schemeClr val="accent6">
              <a:lumMod val="75000"/>
            </a:schemeClr>
          </a:solidFill>
          <a:ln>
            <a:solidFill>
              <a:schemeClr val="accent6">
                <a:lumMod val="60000"/>
                <a:lumOff val="40000"/>
              </a:schemeClr>
            </a:solidFill>
          </a:ln>
        </p:spPr>
        <p:txBody>
          <a:bodyPr wrap="square" rtlCol="0">
            <a:spAutoFit/>
          </a:bodyPr>
          <a:lstStyle/>
          <a:p>
            <a:pPr algn="ctr"/>
            <a:r>
              <a:rPr lang="en-IE" sz="2800" b="1" dirty="0">
                <a:latin typeface="Abadi" panose="020B0604020104020204" pitchFamily="34" charset="0"/>
              </a:rPr>
              <a:t>36.4%</a:t>
            </a:r>
            <a:br>
              <a:rPr lang="en-IE" sz="2800" b="1" dirty="0">
                <a:latin typeface="Abadi" panose="020B0604020104020204" pitchFamily="34" charset="0"/>
              </a:rPr>
            </a:br>
            <a:r>
              <a:rPr lang="en-IE" sz="2800" b="1" dirty="0">
                <a:latin typeface="Abadi" panose="020B0604020104020204" pitchFamily="34" charset="0"/>
              </a:rPr>
              <a:t>With Disability Employed</a:t>
            </a:r>
          </a:p>
        </p:txBody>
      </p:sp>
      <p:sp>
        <p:nvSpPr>
          <p:cNvPr id="19" name="CuadroTexto 18">
            <a:extLst>
              <a:ext uri="{FF2B5EF4-FFF2-40B4-BE49-F238E27FC236}">
                <a16:creationId xmlns:a16="http://schemas.microsoft.com/office/drawing/2014/main" id="{E95ED643-738B-ADD9-5A13-E8DFD4391224}"/>
              </a:ext>
            </a:extLst>
          </p:cNvPr>
          <p:cNvSpPr txBox="1"/>
          <p:nvPr/>
        </p:nvSpPr>
        <p:spPr>
          <a:xfrm>
            <a:off x="11712975" y="10087031"/>
            <a:ext cx="8255544" cy="523220"/>
          </a:xfrm>
          <a:prstGeom prst="rect">
            <a:avLst/>
          </a:prstGeom>
          <a:noFill/>
        </p:spPr>
        <p:txBody>
          <a:bodyPr wrap="square" rtlCol="0">
            <a:spAutoFit/>
          </a:bodyPr>
          <a:lstStyle/>
          <a:p>
            <a:r>
              <a:rPr lang="en-IE" sz="2800" b="1" dirty="0">
                <a:solidFill>
                  <a:schemeClr val="accent5">
                    <a:lumMod val="50000"/>
                  </a:schemeClr>
                </a:solidFill>
              </a:rPr>
              <a:t>Key EDA Findings</a:t>
            </a:r>
          </a:p>
        </p:txBody>
      </p:sp>
      <p:sp>
        <p:nvSpPr>
          <p:cNvPr id="20" name="CuadroTexto 19">
            <a:extLst>
              <a:ext uri="{FF2B5EF4-FFF2-40B4-BE49-F238E27FC236}">
                <a16:creationId xmlns:a16="http://schemas.microsoft.com/office/drawing/2014/main" id="{0FB93623-020D-C349-5E9C-57E721E31CD7}"/>
              </a:ext>
            </a:extLst>
          </p:cNvPr>
          <p:cNvSpPr txBox="1"/>
          <p:nvPr/>
        </p:nvSpPr>
        <p:spPr>
          <a:xfrm>
            <a:off x="11693941" y="10760935"/>
            <a:ext cx="9111508" cy="5262979"/>
          </a:xfrm>
          <a:prstGeom prst="rect">
            <a:avLst/>
          </a:prstGeom>
          <a:noFill/>
        </p:spPr>
        <p:txBody>
          <a:bodyPr wrap="square" rtlCol="0">
            <a:spAutoFit/>
          </a:bodyPr>
          <a:lstStyle/>
          <a:p>
            <a:r>
              <a:rPr lang="en-GB" sz="2800" b="1" dirty="0"/>
              <a:t>Disability gap: </a:t>
            </a:r>
            <a:r>
              <a:rPr lang="en-GB" sz="2800" dirty="0"/>
              <a:t>Employment rate 36.4% vs 74.6%. Gap persists at every education level — disability operates as an independent employment barrier regardless of educational attainment. </a:t>
            </a:r>
            <a:br>
              <a:rPr lang="en-GB" sz="2800" dirty="0"/>
            </a:br>
            <a:r>
              <a:rPr lang="en-GB" sz="2800" b="1" dirty="0"/>
              <a:t>Sex gap: </a:t>
            </a:r>
            <a:r>
              <a:rPr lang="en-GB" sz="2800" dirty="0"/>
              <a:t>Male employment 72.2% vs Female 67.7%. Gap largest at high-school education level; persists even at graduate degree level. </a:t>
            </a:r>
            <a:br>
              <a:rPr lang="en-GB" sz="2800" dirty="0"/>
            </a:br>
            <a:r>
              <a:rPr lang="en-GB" sz="2800" b="1" dirty="0"/>
              <a:t>Race:</a:t>
            </a:r>
            <a:r>
              <a:rPr lang="en-GB" sz="2800" dirty="0"/>
              <a:t> White alone dominates the sample. Significant imbalance across groups; Other races most underserved in unemployment detection. </a:t>
            </a:r>
            <a:br>
              <a:rPr lang="en-GB" sz="2800" dirty="0"/>
            </a:br>
            <a:r>
              <a:rPr lang="en-GB" sz="2800" b="1" dirty="0"/>
              <a:t>Age:</a:t>
            </a:r>
            <a:r>
              <a:rPr lang="en-GB" sz="2800" dirty="0"/>
              <a:t> Broadly spread across working-age range with stronger representation in older age bands (35–55). </a:t>
            </a:r>
            <a:endParaRPr lang="en-IE" sz="2800" dirty="0"/>
          </a:p>
        </p:txBody>
      </p:sp>
      <p:sp>
        <p:nvSpPr>
          <p:cNvPr id="21" name="CuadroTexto 20">
            <a:extLst>
              <a:ext uri="{FF2B5EF4-FFF2-40B4-BE49-F238E27FC236}">
                <a16:creationId xmlns:a16="http://schemas.microsoft.com/office/drawing/2014/main" id="{247A47C3-C6AC-E3B6-7F5C-21C7D53ED066}"/>
              </a:ext>
            </a:extLst>
          </p:cNvPr>
          <p:cNvSpPr txBox="1"/>
          <p:nvPr/>
        </p:nvSpPr>
        <p:spPr>
          <a:xfrm>
            <a:off x="11722867" y="16171843"/>
            <a:ext cx="9388477" cy="2677656"/>
          </a:xfrm>
          <a:prstGeom prst="rect">
            <a:avLst/>
          </a:prstGeom>
          <a:noFill/>
        </p:spPr>
        <p:txBody>
          <a:bodyPr wrap="square" rtlCol="0">
            <a:spAutoFit/>
          </a:bodyPr>
          <a:lstStyle/>
          <a:p>
            <a:r>
              <a:rPr lang="en-IE" sz="2800" b="1" dirty="0"/>
              <a:t>Correlation Matrix Signal</a:t>
            </a:r>
            <a:r>
              <a:rPr lang="en-IE" sz="2800" dirty="0"/>
              <a:t>: Strong WAGP–PINCP correlation; WKHP correlated with income variables. These early patterns triggered the leakage investigation in Phase 3. An initial model with all variables produced AUC=0.9528 — a red flag that confirmed data leakage. Removing 5 variables corrected this to AUC=0.6929.</a:t>
            </a:r>
          </a:p>
        </p:txBody>
      </p:sp>
      <p:sp>
        <p:nvSpPr>
          <p:cNvPr id="22" name="CuadroTexto 21">
            <a:extLst>
              <a:ext uri="{FF2B5EF4-FFF2-40B4-BE49-F238E27FC236}">
                <a16:creationId xmlns:a16="http://schemas.microsoft.com/office/drawing/2014/main" id="{771664E9-7207-5541-186E-2151627B07A0}"/>
              </a:ext>
            </a:extLst>
          </p:cNvPr>
          <p:cNvSpPr txBox="1"/>
          <p:nvPr/>
        </p:nvSpPr>
        <p:spPr>
          <a:xfrm>
            <a:off x="12177201" y="19475217"/>
            <a:ext cx="8626247" cy="661720"/>
          </a:xfrm>
          <a:prstGeom prst="rect">
            <a:avLst/>
          </a:prstGeom>
          <a:noFill/>
        </p:spPr>
        <p:txBody>
          <a:bodyPr wrap="square" rtlCol="0">
            <a:spAutoFit/>
          </a:bodyPr>
          <a:lstStyle/>
          <a:p>
            <a:pPr algn="ctr"/>
            <a:r>
              <a:rPr lang="en-IE" sz="3700" b="1" u="sng" dirty="0">
                <a:solidFill>
                  <a:schemeClr val="accent5">
                    <a:lumMod val="50000"/>
                  </a:schemeClr>
                </a:solidFill>
              </a:rPr>
              <a:t>PHASE 3: DATA PREPARATION</a:t>
            </a:r>
          </a:p>
        </p:txBody>
      </p:sp>
      <p:sp>
        <p:nvSpPr>
          <p:cNvPr id="23" name="CuadroTexto 22">
            <a:extLst>
              <a:ext uri="{FF2B5EF4-FFF2-40B4-BE49-F238E27FC236}">
                <a16:creationId xmlns:a16="http://schemas.microsoft.com/office/drawing/2014/main" id="{C2872766-9082-E4A7-FE59-60E49FE9966E}"/>
              </a:ext>
            </a:extLst>
          </p:cNvPr>
          <p:cNvSpPr txBox="1"/>
          <p:nvPr/>
        </p:nvSpPr>
        <p:spPr>
          <a:xfrm>
            <a:off x="12158717" y="20643342"/>
            <a:ext cx="8626247" cy="3539430"/>
          </a:xfrm>
          <a:prstGeom prst="rect">
            <a:avLst/>
          </a:prstGeom>
          <a:noFill/>
        </p:spPr>
        <p:txBody>
          <a:bodyPr wrap="square" rtlCol="0">
            <a:spAutoFit/>
          </a:bodyPr>
          <a:lstStyle/>
          <a:p>
            <a:r>
              <a:rPr lang="en-IE" sz="2800" dirty="0"/>
              <a:t>Leakage Prevention — 6 Variables Removed:</a:t>
            </a:r>
            <a:br>
              <a:rPr lang="en-IE" sz="2800" dirty="0"/>
            </a:br>
            <a:r>
              <a:rPr lang="en-IE" sz="2800" dirty="0">
                <a:solidFill>
                  <a:srgbClr val="C00000"/>
                </a:solidFill>
              </a:rPr>
              <a:t>✗</a:t>
            </a:r>
            <a:r>
              <a:rPr lang="en-IE" sz="2800" dirty="0"/>
              <a:t> ESR — direct source of target variable </a:t>
            </a:r>
            <a:br>
              <a:rPr lang="en-IE" sz="2800" dirty="0"/>
            </a:br>
            <a:r>
              <a:rPr lang="en-IE" sz="2800" dirty="0">
                <a:solidFill>
                  <a:srgbClr val="C00000"/>
                </a:solidFill>
              </a:rPr>
              <a:t>✗</a:t>
            </a:r>
            <a:r>
              <a:rPr lang="en-IE" sz="2800" dirty="0"/>
              <a:t> WAGP — wages = 0 for unemployed </a:t>
            </a:r>
            <a:br>
              <a:rPr lang="en-IE" sz="2800" dirty="0"/>
            </a:br>
            <a:r>
              <a:rPr lang="en-IE" sz="2800" dirty="0">
                <a:solidFill>
                  <a:srgbClr val="C00000"/>
                </a:solidFill>
              </a:rPr>
              <a:t>✗</a:t>
            </a:r>
            <a:r>
              <a:rPr lang="en-IE" sz="2800" dirty="0"/>
              <a:t> WKHP — hours worked = 0 if unemployed </a:t>
            </a:r>
            <a:br>
              <a:rPr lang="en-IE" sz="2800" dirty="0"/>
            </a:br>
            <a:r>
              <a:rPr lang="en-IE" sz="2800" dirty="0">
                <a:solidFill>
                  <a:srgbClr val="C00000"/>
                </a:solidFill>
              </a:rPr>
              <a:t>✗</a:t>
            </a:r>
            <a:r>
              <a:rPr lang="en-IE" sz="2800" dirty="0"/>
              <a:t> PINCP — income reflects employment status </a:t>
            </a:r>
            <a:br>
              <a:rPr lang="en-IE" sz="2800" dirty="0"/>
            </a:br>
            <a:r>
              <a:rPr lang="en-IE" sz="2800" dirty="0">
                <a:solidFill>
                  <a:srgbClr val="C00000"/>
                </a:solidFill>
              </a:rPr>
              <a:t>✗</a:t>
            </a:r>
            <a:r>
              <a:rPr lang="en-IE" sz="2800" dirty="0"/>
              <a:t> COW — class of worker = N/A if unemployed </a:t>
            </a:r>
            <a:br>
              <a:rPr lang="en-IE" sz="2800" dirty="0"/>
            </a:br>
            <a:r>
              <a:rPr lang="en-IE" sz="2800" dirty="0">
                <a:solidFill>
                  <a:srgbClr val="C00000"/>
                </a:solidFill>
              </a:rPr>
              <a:t>✗</a:t>
            </a:r>
            <a:r>
              <a:rPr lang="en-IE" sz="2800" dirty="0"/>
              <a:t> PWGTP — survey weight — not a predictor</a:t>
            </a:r>
          </a:p>
          <a:p>
            <a:endParaRPr lang="en-IE" sz="2800" dirty="0"/>
          </a:p>
        </p:txBody>
      </p:sp>
      <p:sp>
        <p:nvSpPr>
          <p:cNvPr id="24" name="CuadroTexto 23">
            <a:extLst>
              <a:ext uri="{FF2B5EF4-FFF2-40B4-BE49-F238E27FC236}">
                <a16:creationId xmlns:a16="http://schemas.microsoft.com/office/drawing/2014/main" id="{600B32C0-DCF0-AAD4-BAA6-4D4421CB8416}"/>
              </a:ext>
            </a:extLst>
          </p:cNvPr>
          <p:cNvSpPr txBox="1"/>
          <p:nvPr/>
        </p:nvSpPr>
        <p:spPr>
          <a:xfrm>
            <a:off x="11770457" y="24025032"/>
            <a:ext cx="9388478" cy="2556982"/>
          </a:xfrm>
          <a:prstGeom prst="rect">
            <a:avLst/>
          </a:prstGeom>
          <a:noFill/>
        </p:spPr>
        <p:txBody>
          <a:bodyPr wrap="square" rtlCol="0">
            <a:spAutoFit/>
          </a:bodyPr>
          <a:lstStyle/>
          <a:p>
            <a:pPr algn="ctr">
              <a:lnSpc>
                <a:spcPct val="200000"/>
              </a:lnSpc>
            </a:pPr>
            <a:r>
              <a:rPr lang="en-GB" sz="2800" b="1" dirty="0"/>
              <a:t>Final 6 Features (demographic only, no leakage):</a:t>
            </a:r>
            <a:br>
              <a:rPr lang="en-GB" sz="2800" dirty="0"/>
            </a:br>
            <a:r>
              <a:rPr lang="en-GB" sz="2800" dirty="0"/>
              <a:t> AGEP (age)  ·  SEX  ·  SCHL (education)  ·  RAC1P (race)  ·  HISP (Hispanic origin)  ·  DIS (disability status) </a:t>
            </a:r>
            <a:endParaRPr lang="en-IE" sz="2800" dirty="0"/>
          </a:p>
        </p:txBody>
      </p:sp>
      <p:pic>
        <p:nvPicPr>
          <p:cNvPr id="27" name="Imagen 26">
            <a:extLst>
              <a:ext uri="{FF2B5EF4-FFF2-40B4-BE49-F238E27FC236}">
                <a16:creationId xmlns:a16="http://schemas.microsoft.com/office/drawing/2014/main" id="{B4C25180-B877-CE8E-D9C4-01A68F13DA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769626" y="8083547"/>
            <a:ext cx="9420879" cy="5176190"/>
          </a:xfrm>
          <a:prstGeom prst="rect">
            <a:avLst/>
          </a:prstGeom>
        </p:spPr>
      </p:pic>
      <p:graphicFrame>
        <p:nvGraphicFramePr>
          <p:cNvPr id="33" name="Tabla 32">
            <a:extLst>
              <a:ext uri="{FF2B5EF4-FFF2-40B4-BE49-F238E27FC236}">
                <a16:creationId xmlns:a16="http://schemas.microsoft.com/office/drawing/2014/main" id="{BA5526D7-0E84-ED5E-7DEF-7D3FB7FFC1DB}"/>
              </a:ext>
            </a:extLst>
          </p:cNvPr>
          <p:cNvGraphicFramePr>
            <a:graphicFrameLocks noGrp="1"/>
          </p:cNvGraphicFramePr>
          <p:nvPr>
            <p:extLst>
              <p:ext uri="{D42A27DB-BD31-4B8C-83A1-F6EECF244321}">
                <p14:modId xmlns:p14="http://schemas.microsoft.com/office/powerpoint/2010/main" val="1824956104"/>
              </p:ext>
            </p:extLst>
          </p:nvPr>
        </p:nvGraphicFramePr>
        <p:xfrm>
          <a:off x="22665676" y="22535868"/>
          <a:ext cx="9524829" cy="3839088"/>
        </p:xfrm>
        <a:graphic>
          <a:graphicData uri="http://schemas.openxmlformats.org/drawingml/2006/table">
            <a:tbl>
              <a:tblPr firstRow="1" bandRow="1">
                <a:tableStyleId>{7DF18680-E054-41AD-8BC1-D1AEF772440D}</a:tableStyleId>
              </a:tblPr>
              <a:tblGrid>
                <a:gridCol w="3174943">
                  <a:extLst>
                    <a:ext uri="{9D8B030D-6E8A-4147-A177-3AD203B41FA5}">
                      <a16:colId xmlns:a16="http://schemas.microsoft.com/office/drawing/2014/main" val="1566707662"/>
                    </a:ext>
                  </a:extLst>
                </a:gridCol>
                <a:gridCol w="3174943">
                  <a:extLst>
                    <a:ext uri="{9D8B030D-6E8A-4147-A177-3AD203B41FA5}">
                      <a16:colId xmlns:a16="http://schemas.microsoft.com/office/drawing/2014/main" val="2501261096"/>
                    </a:ext>
                  </a:extLst>
                </a:gridCol>
                <a:gridCol w="3174943">
                  <a:extLst>
                    <a:ext uri="{9D8B030D-6E8A-4147-A177-3AD203B41FA5}">
                      <a16:colId xmlns:a16="http://schemas.microsoft.com/office/drawing/2014/main" val="3768175413"/>
                    </a:ext>
                  </a:extLst>
                </a:gridCol>
              </a:tblGrid>
              <a:tr h="584010">
                <a:tc>
                  <a:txBody>
                    <a:bodyPr/>
                    <a:lstStyle/>
                    <a:p>
                      <a:r>
                        <a:rPr lang="en-IE" sz="2000" dirty="0"/>
                        <a:t>Parameter</a:t>
                      </a:r>
                    </a:p>
                  </a:txBody>
                  <a:tcPr/>
                </a:tc>
                <a:tc>
                  <a:txBody>
                    <a:bodyPr/>
                    <a:lstStyle/>
                    <a:p>
                      <a:r>
                        <a:rPr lang="en-IE" sz="2000" dirty="0"/>
                        <a:t>Value</a:t>
                      </a:r>
                    </a:p>
                  </a:txBody>
                  <a:tcPr/>
                </a:tc>
                <a:tc>
                  <a:txBody>
                    <a:bodyPr/>
                    <a:lstStyle/>
                    <a:p>
                      <a:r>
                        <a:rPr lang="en-IE" sz="2000" dirty="0"/>
                        <a:t>Justification</a:t>
                      </a:r>
                    </a:p>
                  </a:txBody>
                  <a:tcPr/>
                </a:tc>
                <a:extLst>
                  <a:ext uri="{0D108BD9-81ED-4DB2-BD59-A6C34878D82A}">
                    <a16:rowId xmlns:a16="http://schemas.microsoft.com/office/drawing/2014/main" val="1402785550"/>
                  </a:ext>
                </a:extLst>
              </a:tr>
              <a:tr h="926499">
                <a:tc>
                  <a:txBody>
                    <a:bodyPr/>
                    <a:lstStyle/>
                    <a:p>
                      <a:r>
                        <a:rPr lang="en-IE" sz="2000" dirty="0" err="1"/>
                        <a:t>n_estimators</a:t>
                      </a:r>
                      <a:endParaRPr lang="en-IE" sz="2000" dirty="0"/>
                    </a:p>
                  </a:txBody>
                  <a:tcPr/>
                </a:tc>
                <a:tc>
                  <a:txBody>
                    <a:bodyPr/>
                    <a:lstStyle/>
                    <a:p>
                      <a:r>
                        <a:rPr lang="en-GB" sz="2000" dirty="0"/>
                        <a:t>200</a:t>
                      </a:r>
                      <a:endParaRPr lang="en-IE" sz="2000" dirty="0"/>
                    </a:p>
                  </a:txBody>
                  <a:tcPr/>
                </a:tc>
                <a:tc>
                  <a:txBody>
                    <a:bodyPr/>
                    <a:lstStyle/>
                    <a:p>
                      <a:r>
                        <a:rPr lang="en-GB" sz="2000" dirty="0"/>
                        <a:t>More trees → greater stability without overfitting</a:t>
                      </a:r>
                      <a:endParaRPr lang="en-IE" sz="2000" dirty="0"/>
                    </a:p>
                  </a:txBody>
                  <a:tcPr/>
                </a:tc>
                <a:extLst>
                  <a:ext uri="{0D108BD9-81ED-4DB2-BD59-A6C34878D82A}">
                    <a16:rowId xmlns:a16="http://schemas.microsoft.com/office/drawing/2014/main" val="2149731646"/>
                  </a:ext>
                </a:extLst>
              </a:tr>
              <a:tr h="926499">
                <a:tc>
                  <a:txBody>
                    <a:bodyPr/>
                    <a:lstStyle/>
                    <a:p>
                      <a:r>
                        <a:rPr lang="en-IE" sz="2000" dirty="0" err="1"/>
                        <a:t>max_depth</a:t>
                      </a:r>
                      <a:r>
                        <a:rPr lang="en-IE" sz="2000" dirty="0"/>
                        <a:t> </a:t>
                      </a:r>
                    </a:p>
                  </a:txBody>
                  <a:tcPr/>
                </a:tc>
                <a:tc>
                  <a:txBody>
                    <a:bodyPr/>
                    <a:lstStyle/>
                    <a:p>
                      <a:r>
                        <a:rPr lang="en-GB" sz="2000" dirty="0"/>
                        <a:t>20</a:t>
                      </a:r>
                      <a:endParaRPr lang="en-IE" sz="2000" dirty="0"/>
                    </a:p>
                  </a:txBody>
                  <a:tcPr/>
                </a:tc>
                <a:tc>
                  <a:txBody>
                    <a:bodyPr/>
                    <a:lstStyle/>
                    <a:p>
                      <a:r>
                        <a:rPr lang="en-IE" sz="2000" dirty="0"/>
                        <a:t>Captures complex demographic interactions</a:t>
                      </a:r>
                    </a:p>
                  </a:txBody>
                  <a:tcPr/>
                </a:tc>
                <a:extLst>
                  <a:ext uri="{0D108BD9-81ED-4DB2-BD59-A6C34878D82A}">
                    <a16:rowId xmlns:a16="http://schemas.microsoft.com/office/drawing/2014/main" val="862644900"/>
                  </a:ext>
                </a:extLst>
              </a:tr>
              <a:tr h="638255">
                <a:tc>
                  <a:txBody>
                    <a:bodyPr/>
                    <a:lstStyle/>
                    <a:p>
                      <a:r>
                        <a:rPr lang="en-IE" sz="2000" dirty="0" err="1"/>
                        <a:t>min_samples_split</a:t>
                      </a:r>
                      <a:endParaRPr lang="en-IE" sz="2000" dirty="0"/>
                    </a:p>
                  </a:txBody>
                  <a:tcPr/>
                </a:tc>
                <a:tc>
                  <a:txBody>
                    <a:bodyPr/>
                    <a:lstStyle/>
                    <a:p>
                      <a:r>
                        <a:rPr lang="en-GB" sz="2000" dirty="0"/>
                        <a:t>5</a:t>
                      </a:r>
                      <a:endParaRPr lang="en-IE" sz="2000" dirty="0"/>
                    </a:p>
                  </a:txBody>
                  <a:tcPr/>
                </a:tc>
                <a:tc>
                  <a:txBody>
                    <a:bodyPr/>
                    <a:lstStyle/>
                    <a:p>
                      <a:r>
                        <a:rPr lang="en-GB" sz="2000" dirty="0"/>
                        <a:t>Reduces overfitting on minority class</a:t>
                      </a:r>
                      <a:endParaRPr lang="en-IE" sz="2000" dirty="0"/>
                    </a:p>
                  </a:txBody>
                  <a:tcPr/>
                </a:tc>
                <a:extLst>
                  <a:ext uri="{0D108BD9-81ED-4DB2-BD59-A6C34878D82A}">
                    <a16:rowId xmlns:a16="http://schemas.microsoft.com/office/drawing/2014/main" val="2242230187"/>
                  </a:ext>
                </a:extLst>
              </a:tr>
              <a:tr h="638255">
                <a:tc>
                  <a:txBody>
                    <a:bodyPr/>
                    <a:lstStyle/>
                    <a:p>
                      <a:r>
                        <a:rPr lang="en-IE" sz="2000" dirty="0" err="1"/>
                        <a:t>class_weight</a:t>
                      </a:r>
                      <a:r>
                        <a:rPr lang="en-IE" sz="2000" dirty="0"/>
                        <a:t> </a:t>
                      </a:r>
                    </a:p>
                  </a:txBody>
                  <a:tcPr/>
                </a:tc>
                <a:tc>
                  <a:txBody>
                    <a:bodyPr/>
                    <a:lstStyle/>
                    <a:p>
                      <a:r>
                        <a:rPr lang="en-GB" sz="2000" dirty="0"/>
                        <a:t>balanced</a:t>
                      </a:r>
                      <a:endParaRPr lang="en-IE" sz="2000" dirty="0"/>
                    </a:p>
                  </a:txBody>
                  <a:tcPr/>
                </a:tc>
                <a:tc>
                  <a:txBody>
                    <a:bodyPr/>
                    <a:lstStyle/>
                    <a:p>
                      <a:r>
                        <a:rPr lang="en-GB" sz="2000" dirty="0"/>
                        <a:t>Compensates for 70/30 class imbalance</a:t>
                      </a:r>
                      <a:endParaRPr lang="en-IE" sz="2000" dirty="0"/>
                    </a:p>
                  </a:txBody>
                  <a:tcPr/>
                </a:tc>
                <a:extLst>
                  <a:ext uri="{0D108BD9-81ED-4DB2-BD59-A6C34878D82A}">
                    <a16:rowId xmlns:a16="http://schemas.microsoft.com/office/drawing/2014/main" val="2273218425"/>
                  </a:ext>
                </a:extLst>
              </a:tr>
            </a:tbl>
          </a:graphicData>
        </a:graphic>
      </p:graphicFrame>
      <p:graphicFrame>
        <p:nvGraphicFramePr>
          <p:cNvPr id="37" name="Tabla 36">
            <a:extLst>
              <a:ext uri="{FF2B5EF4-FFF2-40B4-BE49-F238E27FC236}">
                <a16:creationId xmlns:a16="http://schemas.microsoft.com/office/drawing/2014/main" id="{71C8695A-A8C0-8D90-64EC-70ACECEC6A95}"/>
              </a:ext>
            </a:extLst>
          </p:cNvPr>
          <p:cNvGraphicFramePr>
            <a:graphicFrameLocks noGrp="1"/>
          </p:cNvGraphicFramePr>
          <p:nvPr>
            <p:extLst>
              <p:ext uri="{D42A27DB-BD31-4B8C-83A1-F6EECF244321}">
                <p14:modId xmlns:p14="http://schemas.microsoft.com/office/powerpoint/2010/main" val="3927246919"/>
              </p:ext>
            </p:extLst>
          </p:nvPr>
        </p:nvGraphicFramePr>
        <p:xfrm>
          <a:off x="788276" y="18799556"/>
          <a:ext cx="9450599" cy="2749345"/>
        </p:xfrm>
        <a:graphic>
          <a:graphicData uri="http://schemas.openxmlformats.org/drawingml/2006/table">
            <a:tbl>
              <a:tblPr firstRow="1" bandRow="1">
                <a:tableStyleId>{7DF18680-E054-41AD-8BC1-D1AEF772440D}</a:tableStyleId>
              </a:tblPr>
              <a:tblGrid>
                <a:gridCol w="4351061">
                  <a:extLst>
                    <a:ext uri="{9D8B030D-6E8A-4147-A177-3AD203B41FA5}">
                      <a16:colId xmlns:a16="http://schemas.microsoft.com/office/drawing/2014/main" val="3757264028"/>
                    </a:ext>
                  </a:extLst>
                </a:gridCol>
                <a:gridCol w="5099538">
                  <a:extLst>
                    <a:ext uri="{9D8B030D-6E8A-4147-A177-3AD203B41FA5}">
                      <a16:colId xmlns:a16="http://schemas.microsoft.com/office/drawing/2014/main" val="485678243"/>
                    </a:ext>
                  </a:extLst>
                </a:gridCol>
              </a:tblGrid>
              <a:tr h="478355">
                <a:tc>
                  <a:txBody>
                    <a:bodyPr/>
                    <a:lstStyle/>
                    <a:p>
                      <a:r>
                        <a:rPr lang="en-GB" sz="2000" dirty="0"/>
                        <a:t>Risk</a:t>
                      </a:r>
                    </a:p>
                  </a:txBody>
                  <a:tcPr/>
                </a:tc>
                <a:tc>
                  <a:txBody>
                    <a:bodyPr/>
                    <a:lstStyle/>
                    <a:p>
                      <a:r>
                        <a:rPr lang="en-IE" sz="2000" dirty="0"/>
                        <a:t>Mitigation</a:t>
                      </a:r>
                    </a:p>
                  </a:txBody>
                  <a:tcPr/>
                </a:tc>
                <a:extLst>
                  <a:ext uri="{0D108BD9-81ED-4DB2-BD59-A6C34878D82A}">
                    <a16:rowId xmlns:a16="http://schemas.microsoft.com/office/drawing/2014/main" val="698782789"/>
                  </a:ext>
                </a:extLst>
              </a:tr>
              <a:tr h="571323">
                <a:tc>
                  <a:txBody>
                    <a:bodyPr/>
                    <a:lstStyle/>
                    <a:p>
                      <a:r>
                        <a:rPr lang="en-GB" sz="2000" dirty="0"/>
                        <a:t>Data Leakage</a:t>
                      </a:r>
                      <a:endParaRPr lang="en-IE" sz="2000" dirty="0"/>
                    </a:p>
                  </a:txBody>
                  <a:tcPr/>
                </a:tc>
                <a:tc>
                  <a:txBody>
                    <a:bodyPr/>
                    <a:lstStyle/>
                    <a:p>
                      <a:r>
                        <a:rPr lang="en-IE" sz="2000" dirty="0"/>
                        <a:t>Sequential feature removal</a:t>
                      </a:r>
                    </a:p>
                  </a:txBody>
                  <a:tcPr/>
                </a:tc>
                <a:extLst>
                  <a:ext uri="{0D108BD9-81ED-4DB2-BD59-A6C34878D82A}">
                    <a16:rowId xmlns:a16="http://schemas.microsoft.com/office/drawing/2014/main" val="3263237218"/>
                  </a:ext>
                </a:extLst>
              </a:tr>
              <a:tr h="607080">
                <a:tc>
                  <a:txBody>
                    <a:bodyPr/>
                    <a:lstStyle/>
                    <a:p>
                      <a:r>
                        <a:rPr lang="en-GB" sz="2000" dirty="0"/>
                        <a:t>Class Imbalance</a:t>
                      </a:r>
                      <a:endParaRPr lang="en-IE" sz="2000" dirty="0"/>
                    </a:p>
                  </a:txBody>
                  <a:tcPr/>
                </a:tc>
                <a:tc>
                  <a:txBody>
                    <a:bodyPr/>
                    <a:lstStyle/>
                    <a:p>
                      <a:r>
                        <a:rPr lang="en-IE" sz="2000" dirty="0" err="1"/>
                        <a:t>class_weight</a:t>
                      </a:r>
                      <a:r>
                        <a:rPr lang="en-IE" sz="2000" dirty="0"/>
                        <a:t>='balanced'</a:t>
                      </a:r>
                    </a:p>
                  </a:txBody>
                  <a:tcPr/>
                </a:tc>
                <a:extLst>
                  <a:ext uri="{0D108BD9-81ED-4DB2-BD59-A6C34878D82A}">
                    <a16:rowId xmlns:a16="http://schemas.microsoft.com/office/drawing/2014/main" val="3640865976"/>
                  </a:ext>
                </a:extLst>
              </a:tr>
              <a:tr h="528415">
                <a:tc>
                  <a:txBody>
                    <a:bodyPr/>
                    <a:lstStyle/>
                    <a:p>
                      <a:r>
                        <a:rPr lang="en-IE" sz="2000" dirty="0"/>
                        <a:t>Fairness misuse </a:t>
                      </a:r>
                    </a:p>
                  </a:txBody>
                  <a:tcPr/>
                </a:tc>
                <a:tc>
                  <a:txBody>
                    <a:bodyPr/>
                    <a:lstStyle/>
                    <a:p>
                      <a:r>
                        <a:rPr lang="en-IE" sz="2000" dirty="0"/>
                        <a:t>Disparity ≠ Bias discussion</a:t>
                      </a:r>
                    </a:p>
                  </a:txBody>
                  <a:tcPr/>
                </a:tc>
                <a:extLst>
                  <a:ext uri="{0D108BD9-81ED-4DB2-BD59-A6C34878D82A}">
                    <a16:rowId xmlns:a16="http://schemas.microsoft.com/office/drawing/2014/main" val="2067124847"/>
                  </a:ext>
                </a:extLst>
              </a:tr>
              <a:tr h="564172">
                <a:tc>
                  <a:txBody>
                    <a:bodyPr/>
                    <a:lstStyle/>
                    <a:p>
                      <a:r>
                        <a:rPr lang="en-IE" sz="2000" dirty="0"/>
                        <a:t>Deployment failure</a:t>
                      </a:r>
                    </a:p>
                  </a:txBody>
                  <a:tcPr/>
                </a:tc>
                <a:tc>
                  <a:txBody>
                    <a:bodyPr/>
                    <a:lstStyle/>
                    <a:p>
                      <a:r>
                        <a:rPr lang="en-IE" sz="2000" dirty="0"/>
                        <a:t>MySQL testing before integration</a:t>
                      </a:r>
                    </a:p>
                  </a:txBody>
                  <a:tcPr/>
                </a:tc>
                <a:extLst>
                  <a:ext uri="{0D108BD9-81ED-4DB2-BD59-A6C34878D82A}">
                    <a16:rowId xmlns:a16="http://schemas.microsoft.com/office/drawing/2014/main" val="3281357791"/>
                  </a:ext>
                </a:extLst>
              </a:tr>
            </a:tbl>
          </a:graphicData>
        </a:graphic>
      </p:graphicFrame>
      <p:sp>
        <p:nvSpPr>
          <p:cNvPr id="44" name="CuadroTexto 43">
            <a:extLst>
              <a:ext uri="{FF2B5EF4-FFF2-40B4-BE49-F238E27FC236}">
                <a16:creationId xmlns:a16="http://schemas.microsoft.com/office/drawing/2014/main" id="{355A0F10-439E-438A-E2CF-101BEDE9B1AA}"/>
              </a:ext>
            </a:extLst>
          </p:cNvPr>
          <p:cNvSpPr txBox="1"/>
          <p:nvPr/>
        </p:nvSpPr>
        <p:spPr>
          <a:xfrm>
            <a:off x="22711652" y="26972728"/>
            <a:ext cx="9017126" cy="523220"/>
          </a:xfrm>
          <a:prstGeom prst="rect">
            <a:avLst/>
          </a:prstGeom>
          <a:noFill/>
        </p:spPr>
        <p:txBody>
          <a:bodyPr wrap="square" rtlCol="0">
            <a:spAutoFit/>
          </a:bodyPr>
          <a:lstStyle/>
          <a:p>
            <a:r>
              <a:rPr lang="en-GB" sz="2800" b="1" dirty="0">
                <a:solidFill>
                  <a:schemeClr val="accent5">
                    <a:lumMod val="50000"/>
                  </a:schemeClr>
                </a:solidFill>
                <a:latin typeface="+mj-lt"/>
              </a:rPr>
              <a:t>Final Model Performance — Held-Out Test Set (n = 25,286</a:t>
            </a:r>
            <a:r>
              <a:rPr lang="en-GB" sz="2800" dirty="0">
                <a:solidFill>
                  <a:schemeClr val="accent5">
                    <a:lumMod val="50000"/>
                  </a:schemeClr>
                </a:solidFill>
                <a:latin typeface="+mj-lt"/>
              </a:rPr>
              <a:t>)</a:t>
            </a:r>
            <a:endParaRPr lang="en-IE" sz="2800" dirty="0">
              <a:solidFill>
                <a:schemeClr val="accent5">
                  <a:lumMod val="50000"/>
                </a:schemeClr>
              </a:solidFill>
              <a:latin typeface="+mj-lt"/>
            </a:endParaRPr>
          </a:p>
        </p:txBody>
      </p:sp>
      <p:graphicFrame>
        <p:nvGraphicFramePr>
          <p:cNvPr id="46" name="Tabla 45">
            <a:extLst>
              <a:ext uri="{FF2B5EF4-FFF2-40B4-BE49-F238E27FC236}">
                <a16:creationId xmlns:a16="http://schemas.microsoft.com/office/drawing/2014/main" id="{B873B400-DD6E-7AD1-FA9D-78CFEF44A7C6}"/>
              </a:ext>
            </a:extLst>
          </p:cNvPr>
          <p:cNvGraphicFramePr>
            <a:graphicFrameLocks noGrp="1"/>
          </p:cNvGraphicFramePr>
          <p:nvPr>
            <p:extLst>
              <p:ext uri="{D42A27DB-BD31-4B8C-83A1-F6EECF244321}">
                <p14:modId xmlns:p14="http://schemas.microsoft.com/office/powerpoint/2010/main" val="800302799"/>
              </p:ext>
            </p:extLst>
          </p:nvPr>
        </p:nvGraphicFramePr>
        <p:xfrm>
          <a:off x="22654027" y="27705942"/>
          <a:ext cx="9432875" cy="2359857"/>
        </p:xfrm>
        <a:graphic>
          <a:graphicData uri="http://schemas.openxmlformats.org/drawingml/2006/table">
            <a:tbl>
              <a:tblPr firstRow="1" bandRow="1">
                <a:tableStyleId>{7DF18680-E054-41AD-8BC1-D1AEF772440D}</a:tableStyleId>
              </a:tblPr>
              <a:tblGrid>
                <a:gridCol w="1886575">
                  <a:extLst>
                    <a:ext uri="{9D8B030D-6E8A-4147-A177-3AD203B41FA5}">
                      <a16:colId xmlns:a16="http://schemas.microsoft.com/office/drawing/2014/main" val="2941256114"/>
                    </a:ext>
                  </a:extLst>
                </a:gridCol>
                <a:gridCol w="1886575">
                  <a:extLst>
                    <a:ext uri="{9D8B030D-6E8A-4147-A177-3AD203B41FA5}">
                      <a16:colId xmlns:a16="http://schemas.microsoft.com/office/drawing/2014/main" val="521207559"/>
                    </a:ext>
                  </a:extLst>
                </a:gridCol>
                <a:gridCol w="1886575">
                  <a:extLst>
                    <a:ext uri="{9D8B030D-6E8A-4147-A177-3AD203B41FA5}">
                      <a16:colId xmlns:a16="http://schemas.microsoft.com/office/drawing/2014/main" val="2949987096"/>
                    </a:ext>
                  </a:extLst>
                </a:gridCol>
                <a:gridCol w="1886575">
                  <a:extLst>
                    <a:ext uri="{9D8B030D-6E8A-4147-A177-3AD203B41FA5}">
                      <a16:colId xmlns:a16="http://schemas.microsoft.com/office/drawing/2014/main" val="473858566"/>
                    </a:ext>
                  </a:extLst>
                </a:gridCol>
                <a:gridCol w="1886575">
                  <a:extLst>
                    <a:ext uri="{9D8B030D-6E8A-4147-A177-3AD203B41FA5}">
                      <a16:colId xmlns:a16="http://schemas.microsoft.com/office/drawing/2014/main" val="1986727956"/>
                    </a:ext>
                  </a:extLst>
                </a:gridCol>
              </a:tblGrid>
              <a:tr h="495098">
                <a:tc>
                  <a:txBody>
                    <a:bodyPr/>
                    <a:lstStyle/>
                    <a:p>
                      <a:pPr algn="ctr"/>
                      <a:r>
                        <a:rPr lang="en-IE" sz="2000" dirty="0"/>
                        <a:t>Model</a:t>
                      </a:r>
                    </a:p>
                  </a:txBody>
                  <a:tcPr/>
                </a:tc>
                <a:tc>
                  <a:txBody>
                    <a:bodyPr/>
                    <a:lstStyle/>
                    <a:p>
                      <a:pPr algn="ctr"/>
                      <a:r>
                        <a:rPr lang="en-IE" sz="2000" dirty="0"/>
                        <a:t>Accuracy</a:t>
                      </a:r>
                    </a:p>
                  </a:txBody>
                  <a:tcPr/>
                </a:tc>
                <a:tc>
                  <a:txBody>
                    <a:bodyPr/>
                    <a:lstStyle/>
                    <a:p>
                      <a:pPr algn="ctr"/>
                      <a:r>
                        <a:rPr lang="en-IE" sz="2000" dirty="0"/>
                        <a:t>ROC-AUC</a:t>
                      </a:r>
                    </a:p>
                  </a:txBody>
                  <a:tcPr/>
                </a:tc>
                <a:tc>
                  <a:txBody>
                    <a:bodyPr/>
                    <a:lstStyle/>
                    <a:p>
                      <a:pPr algn="ctr"/>
                      <a:r>
                        <a:rPr lang="en-IE" sz="2000" dirty="0"/>
                        <a:t>F1-Emp.</a:t>
                      </a:r>
                    </a:p>
                  </a:txBody>
                  <a:tcPr/>
                </a:tc>
                <a:tc>
                  <a:txBody>
                    <a:bodyPr/>
                    <a:lstStyle/>
                    <a:p>
                      <a:pPr algn="ctr"/>
                      <a:r>
                        <a:rPr lang="en-IE" sz="2000" dirty="0"/>
                        <a:t>F1-Not Emp.</a:t>
                      </a:r>
                    </a:p>
                  </a:txBody>
                  <a:tcPr/>
                </a:tc>
                <a:extLst>
                  <a:ext uri="{0D108BD9-81ED-4DB2-BD59-A6C34878D82A}">
                    <a16:rowId xmlns:a16="http://schemas.microsoft.com/office/drawing/2014/main" val="3066731449"/>
                  </a:ext>
                </a:extLst>
              </a:tr>
              <a:tr h="874563">
                <a:tc>
                  <a:txBody>
                    <a:bodyPr/>
                    <a:lstStyle/>
                    <a:p>
                      <a:pPr algn="ctr"/>
                      <a:r>
                        <a:rPr lang="en-IE" sz="2000" dirty="0"/>
                        <a:t>Logistic Regression</a:t>
                      </a:r>
                    </a:p>
                  </a:txBody>
                  <a:tcPr/>
                </a:tc>
                <a:tc>
                  <a:txBody>
                    <a:bodyPr/>
                    <a:lstStyle/>
                    <a:p>
                      <a:pPr algn="ctr"/>
                      <a:r>
                        <a:rPr lang="en-IE" sz="2000" dirty="0"/>
                        <a:t>0.68</a:t>
                      </a:r>
                    </a:p>
                  </a:txBody>
                  <a:tcPr/>
                </a:tc>
                <a:tc>
                  <a:txBody>
                    <a:bodyPr/>
                    <a:lstStyle/>
                    <a:p>
                      <a:pPr algn="ctr"/>
                      <a:r>
                        <a:rPr lang="en-IE" sz="2000" dirty="0"/>
                        <a:t>0.6929 </a:t>
                      </a:r>
                    </a:p>
                  </a:txBody>
                  <a:tcPr/>
                </a:tc>
                <a:tc>
                  <a:txBody>
                    <a:bodyPr/>
                    <a:lstStyle/>
                    <a:p>
                      <a:pPr algn="ctr"/>
                      <a:r>
                        <a:rPr lang="en-IE" sz="2000" dirty="0"/>
                        <a:t>0.77</a:t>
                      </a:r>
                    </a:p>
                  </a:txBody>
                  <a:tcPr/>
                </a:tc>
                <a:tc>
                  <a:txBody>
                    <a:bodyPr/>
                    <a:lstStyle/>
                    <a:p>
                      <a:pPr algn="ctr"/>
                      <a:r>
                        <a:rPr lang="en-IE" sz="2000" dirty="0"/>
                        <a:t>0.49</a:t>
                      </a:r>
                    </a:p>
                  </a:txBody>
                  <a:tcPr/>
                </a:tc>
                <a:extLst>
                  <a:ext uri="{0D108BD9-81ED-4DB2-BD59-A6C34878D82A}">
                    <a16:rowId xmlns:a16="http://schemas.microsoft.com/office/drawing/2014/main" val="4220591593"/>
                  </a:ext>
                </a:extLst>
              </a:tr>
              <a:tr h="495098">
                <a:tc>
                  <a:txBody>
                    <a:bodyPr/>
                    <a:lstStyle/>
                    <a:p>
                      <a:pPr algn="ctr"/>
                      <a:r>
                        <a:rPr lang="en-IE" sz="2000" dirty="0"/>
                        <a:t>RF Baseline</a:t>
                      </a:r>
                    </a:p>
                  </a:txBody>
                  <a:tcPr/>
                </a:tc>
                <a:tc>
                  <a:txBody>
                    <a:bodyPr/>
                    <a:lstStyle/>
                    <a:p>
                      <a:pPr algn="ctr"/>
                      <a:r>
                        <a:rPr lang="en-IE" sz="2000" dirty="0"/>
                        <a:t>0.70</a:t>
                      </a:r>
                    </a:p>
                  </a:txBody>
                  <a:tcPr/>
                </a:tc>
                <a:tc>
                  <a:txBody>
                    <a:bodyPr/>
                    <a:lstStyle/>
                    <a:p>
                      <a:pPr algn="ctr"/>
                      <a:r>
                        <a:rPr lang="en-IE" sz="2000" dirty="0"/>
                        <a:t>0.7208</a:t>
                      </a:r>
                    </a:p>
                  </a:txBody>
                  <a:tcPr/>
                </a:tc>
                <a:tc>
                  <a:txBody>
                    <a:bodyPr/>
                    <a:lstStyle/>
                    <a:p>
                      <a:pPr algn="ctr"/>
                      <a:r>
                        <a:rPr lang="en-GB" sz="2000" dirty="0"/>
                        <a:t>0.77</a:t>
                      </a:r>
                      <a:endParaRPr lang="en-IE" sz="2000" dirty="0"/>
                    </a:p>
                  </a:txBody>
                  <a:tcPr/>
                </a:tc>
                <a:tc>
                  <a:txBody>
                    <a:bodyPr/>
                    <a:lstStyle/>
                    <a:p>
                      <a:pPr algn="ctr"/>
                      <a:r>
                        <a:rPr lang="en-IE" sz="2000" dirty="0"/>
                        <a:t>0.55</a:t>
                      </a:r>
                    </a:p>
                  </a:txBody>
                  <a:tcPr/>
                </a:tc>
                <a:extLst>
                  <a:ext uri="{0D108BD9-81ED-4DB2-BD59-A6C34878D82A}">
                    <a16:rowId xmlns:a16="http://schemas.microsoft.com/office/drawing/2014/main" val="2061702944"/>
                  </a:ext>
                </a:extLst>
              </a:tr>
              <a:tr h="495098">
                <a:tc>
                  <a:txBody>
                    <a:bodyPr/>
                    <a:lstStyle/>
                    <a:p>
                      <a:pPr algn="ctr"/>
                      <a:r>
                        <a:rPr lang="en-IE" sz="2400" b="1" dirty="0"/>
                        <a:t>RF Tuned ★</a:t>
                      </a:r>
                    </a:p>
                  </a:txBody>
                  <a:tcPr/>
                </a:tc>
                <a:tc>
                  <a:txBody>
                    <a:bodyPr/>
                    <a:lstStyle/>
                    <a:p>
                      <a:pPr algn="ctr"/>
                      <a:r>
                        <a:rPr lang="en-IE" sz="2400" b="1" dirty="0"/>
                        <a:t>0.72 </a:t>
                      </a:r>
                    </a:p>
                  </a:txBody>
                  <a:tcPr/>
                </a:tc>
                <a:tc>
                  <a:txBody>
                    <a:bodyPr/>
                    <a:lstStyle/>
                    <a:p>
                      <a:pPr algn="ctr"/>
                      <a:r>
                        <a:rPr lang="en-IE" sz="2400" b="1" dirty="0"/>
                        <a:t>0.7545</a:t>
                      </a:r>
                    </a:p>
                  </a:txBody>
                  <a:tcPr/>
                </a:tc>
                <a:tc>
                  <a:txBody>
                    <a:bodyPr/>
                    <a:lstStyle/>
                    <a:p>
                      <a:pPr algn="ctr"/>
                      <a:r>
                        <a:rPr lang="en-IE" sz="2400" b="1" dirty="0"/>
                        <a:t>0.79</a:t>
                      </a:r>
                    </a:p>
                  </a:txBody>
                  <a:tcPr/>
                </a:tc>
                <a:tc>
                  <a:txBody>
                    <a:bodyPr/>
                    <a:lstStyle/>
                    <a:p>
                      <a:pPr algn="ctr"/>
                      <a:r>
                        <a:rPr lang="en-IE" sz="2400" b="1" dirty="0"/>
                        <a:t>0.57 </a:t>
                      </a:r>
                    </a:p>
                  </a:txBody>
                  <a:tcPr/>
                </a:tc>
                <a:extLst>
                  <a:ext uri="{0D108BD9-81ED-4DB2-BD59-A6C34878D82A}">
                    <a16:rowId xmlns:a16="http://schemas.microsoft.com/office/drawing/2014/main" val="3226362928"/>
                  </a:ext>
                </a:extLst>
              </a:tr>
            </a:tbl>
          </a:graphicData>
        </a:graphic>
      </p:graphicFrame>
      <p:sp>
        <p:nvSpPr>
          <p:cNvPr id="48" name="CuadroTexto 47">
            <a:extLst>
              <a:ext uri="{FF2B5EF4-FFF2-40B4-BE49-F238E27FC236}">
                <a16:creationId xmlns:a16="http://schemas.microsoft.com/office/drawing/2014/main" id="{AD42A778-1965-16FC-432D-96887E1DEE47}"/>
              </a:ext>
            </a:extLst>
          </p:cNvPr>
          <p:cNvSpPr txBox="1"/>
          <p:nvPr/>
        </p:nvSpPr>
        <p:spPr>
          <a:xfrm>
            <a:off x="22757630" y="30425633"/>
            <a:ext cx="9432875" cy="1292662"/>
          </a:xfrm>
          <a:prstGeom prst="rect">
            <a:avLst/>
          </a:prstGeom>
          <a:noFill/>
        </p:spPr>
        <p:txBody>
          <a:bodyPr wrap="square" rtlCol="0">
            <a:spAutoFit/>
          </a:bodyPr>
          <a:lstStyle/>
          <a:p>
            <a:pPr algn="ctr"/>
            <a:r>
              <a:rPr lang="en-GB" sz="2600" dirty="0"/>
              <a:t>An AUC of 0.75 using ONLY 6 demographic variables confirms that demographic characteristics carry statistically meaningful predictive signal for labour market outcomes</a:t>
            </a:r>
            <a:endParaRPr lang="en-IE" sz="2600" dirty="0"/>
          </a:p>
        </p:txBody>
      </p:sp>
      <p:sp>
        <p:nvSpPr>
          <p:cNvPr id="50" name="CuadroTexto 49">
            <a:extLst>
              <a:ext uri="{FF2B5EF4-FFF2-40B4-BE49-F238E27FC236}">
                <a16:creationId xmlns:a16="http://schemas.microsoft.com/office/drawing/2014/main" id="{4E9F803B-1381-5FB6-7EA1-93549C999DD1}"/>
              </a:ext>
            </a:extLst>
          </p:cNvPr>
          <p:cNvSpPr txBox="1"/>
          <p:nvPr/>
        </p:nvSpPr>
        <p:spPr>
          <a:xfrm>
            <a:off x="33588817" y="11077826"/>
            <a:ext cx="9276363" cy="1569660"/>
          </a:xfrm>
          <a:prstGeom prst="rect">
            <a:avLst/>
          </a:prstGeom>
          <a:noFill/>
        </p:spPr>
        <p:txBody>
          <a:bodyPr wrap="square" rtlCol="0">
            <a:spAutoFit/>
          </a:bodyPr>
          <a:lstStyle/>
          <a:p>
            <a:r>
              <a:rPr lang="en-GB" sz="2400" b="1" dirty="0"/>
              <a:t>BY SEX AUC Gap</a:t>
            </a:r>
            <a:r>
              <a:rPr lang="en-GB" sz="2400" dirty="0"/>
              <a:t>: 0.063 SIGNIFICANT ⚠ Male AUC 0.7829 vs Female AUC 0.7204. Employment: Male 72.2% vs Female 67.7%. Reflects structural labour force participation differences including caregiving responsibilities and occupational segregation. </a:t>
            </a:r>
            <a:endParaRPr lang="en-IE" sz="2400" dirty="0"/>
          </a:p>
        </p:txBody>
      </p:sp>
      <p:sp>
        <p:nvSpPr>
          <p:cNvPr id="53" name="CuadroTexto 52">
            <a:extLst>
              <a:ext uri="{FF2B5EF4-FFF2-40B4-BE49-F238E27FC236}">
                <a16:creationId xmlns:a16="http://schemas.microsoft.com/office/drawing/2014/main" id="{B5F90BE7-2DEF-D690-A81E-8687C60EEDDB}"/>
              </a:ext>
            </a:extLst>
          </p:cNvPr>
          <p:cNvSpPr txBox="1"/>
          <p:nvPr/>
        </p:nvSpPr>
        <p:spPr>
          <a:xfrm>
            <a:off x="33534257" y="12737728"/>
            <a:ext cx="9385481" cy="1938992"/>
          </a:xfrm>
          <a:prstGeom prst="rect">
            <a:avLst/>
          </a:prstGeom>
          <a:noFill/>
        </p:spPr>
        <p:txBody>
          <a:bodyPr wrap="square" rtlCol="0">
            <a:spAutoFit/>
          </a:bodyPr>
          <a:lstStyle/>
          <a:p>
            <a:r>
              <a:rPr lang="en-GB" sz="2400" b="1" dirty="0">
                <a:solidFill>
                  <a:schemeClr val="tx1">
                    <a:lumMod val="85000"/>
                    <a:lumOff val="15000"/>
                  </a:schemeClr>
                </a:solidFill>
              </a:rPr>
              <a:t>BY DISABILITY Recall Gap</a:t>
            </a:r>
            <a:r>
              <a:rPr lang="en-GB" sz="2400" dirty="0"/>
              <a:t>: 0.4739 CRITICAL Employment rate 36.4% (disability) vs 74.6% (no disability). Model defaulted to 'structural pessimism' — predicting unemployment by default (Recall=0.9607). An HR system trained on this data would institutionalise existing labour market exclusion of disabled individuals</a:t>
            </a:r>
            <a:endParaRPr lang="en-IE" sz="2400" dirty="0"/>
          </a:p>
        </p:txBody>
      </p:sp>
      <p:sp>
        <p:nvSpPr>
          <p:cNvPr id="55" name="CuadroTexto 54">
            <a:extLst>
              <a:ext uri="{FF2B5EF4-FFF2-40B4-BE49-F238E27FC236}">
                <a16:creationId xmlns:a16="http://schemas.microsoft.com/office/drawing/2014/main" id="{E1818840-23C2-9B8E-2E47-DB6B23739BC8}"/>
              </a:ext>
            </a:extLst>
          </p:cNvPr>
          <p:cNvSpPr txBox="1"/>
          <p:nvPr/>
        </p:nvSpPr>
        <p:spPr>
          <a:xfrm>
            <a:off x="33635949" y="16498513"/>
            <a:ext cx="9466975" cy="2708434"/>
          </a:xfrm>
          <a:prstGeom prst="rect">
            <a:avLst/>
          </a:prstGeom>
          <a:noFill/>
        </p:spPr>
        <p:txBody>
          <a:bodyPr wrap="square" rtlCol="0">
            <a:spAutoFit/>
          </a:bodyPr>
          <a:lstStyle/>
          <a:p>
            <a:r>
              <a:rPr lang="en-GB" sz="2600" b="1" dirty="0"/>
              <a:t>CRITICAL: DISPARITY ≠ BIAS. </a:t>
            </a:r>
            <a:r>
              <a:rPr lang="en-GB" sz="2400" dirty="0"/>
              <a:t>The Qualified Pool Problem (Dwork et al., 2012) means outcome-based audits cannot distinguish a biased process from genuine applicant-pool differences. This framework detects and flags — fairness alerts trigger human investigation, not automatic discrimination findings. Example: if 90% of applicants in a sector are male, higher male employment reflects pool composition, not bias. Context and process-level data are required to determine causality.</a:t>
            </a:r>
            <a:endParaRPr lang="en-IE" sz="2400" dirty="0"/>
          </a:p>
        </p:txBody>
      </p:sp>
      <p:sp>
        <p:nvSpPr>
          <p:cNvPr id="57" name="CuadroTexto 56">
            <a:extLst>
              <a:ext uri="{FF2B5EF4-FFF2-40B4-BE49-F238E27FC236}">
                <a16:creationId xmlns:a16="http://schemas.microsoft.com/office/drawing/2014/main" id="{84A458CE-2B81-59C6-CC7E-CB6DF8F4E49A}"/>
              </a:ext>
            </a:extLst>
          </p:cNvPr>
          <p:cNvSpPr txBox="1"/>
          <p:nvPr/>
        </p:nvSpPr>
        <p:spPr>
          <a:xfrm>
            <a:off x="33651371" y="25312761"/>
            <a:ext cx="9766513" cy="4401205"/>
          </a:xfrm>
          <a:prstGeom prst="rect">
            <a:avLst/>
          </a:prstGeom>
          <a:noFill/>
        </p:spPr>
        <p:txBody>
          <a:bodyPr wrap="square" rtlCol="0">
            <a:spAutoFit/>
          </a:bodyPr>
          <a:lstStyle/>
          <a:p>
            <a:r>
              <a:rPr lang="en-IE" sz="2800" dirty="0">
                <a:solidFill>
                  <a:srgbClr val="00B050"/>
                </a:solidFill>
              </a:rPr>
              <a:t>✔</a:t>
            </a:r>
            <a:r>
              <a:rPr lang="en-IE" sz="2800" dirty="0"/>
              <a:t> Demographic data alone (6 features) achieves AUC 0.75 — confirming systematic signal in labour market outcomes. </a:t>
            </a:r>
          </a:p>
          <a:p>
            <a:r>
              <a:rPr lang="en-IE" sz="2800" dirty="0">
                <a:solidFill>
                  <a:srgbClr val="00B050"/>
                </a:solidFill>
              </a:rPr>
              <a:t>✔</a:t>
            </a:r>
            <a:r>
              <a:rPr lang="en-IE" sz="2800" dirty="0"/>
              <a:t> </a:t>
            </a:r>
            <a:r>
              <a:rPr lang="en-GB" sz="2800" dirty="0"/>
              <a:t>Three significant gaps detected: Sex AUC gap 0.063 · Disability Recall gap 0.474 · Race Recall gap 0.256</a:t>
            </a:r>
            <a:endParaRPr lang="en-IE" sz="2800" dirty="0"/>
          </a:p>
          <a:p>
            <a:r>
              <a:rPr lang="en-IE" sz="2800" dirty="0">
                <a:solidFill>
                  <a:srgbClr val="00B050"/>
                </a:solidFill>
              </a:rPr>
              <a:t>✔</a:t>
            </a:r>
            <a:r>
              <a:rPr lang="en-IE" sz="2800" dirty="0"/>
              <a:t> Disability finding most critical: structural pessimism institutionalises labour market exclusion. </a:t>
            </a:r>
          </a:p>
          <a:p>
            <a:r>
              <a:rPr lang="en-IE" sz="2800" dirty="0">
                <a:solidFill>
                  <a:srgbClr val="00B050"/>
                </a:solidFill>
              </a:rPr>
              <a:t>✔</a:t>
            </a:r>
            <a:r>
              <a:rPr lang="en-IE" sz="2800" dirty="0"/>
              <a:t> MySQL audit layer provides reproducible, compliance-ready governance infrastructure. </a:t>
            </a:r>
          </a:p>
          <a:p>
            <a:r>
              <a:rPr lang="en-IE" sz="2800" dirty="0">
                <a:solidFill>
                  <a:srgbClr val="00B050"/>
                </a:solidFill>
              </a:rPr>
              <a:t>✔</a:t>
            </a:r>
            <a:r>
              <a:rPr lang="en-IE" sz="2800" dirty="0"/>
              <a:t> End-to-end methodology applicable to any organisation deploying AI in employment decisions.</a:t>
            </a:r>
          </a:p>
        </p:txBody>
      </p:sp>
      <p:sp>
        <p:nvSpPr>
          <p:cNvPr id="4101" name="CuadroTexto 4100">
            <a:extLst>
              <a:ext uri="{FF2B5EF4-FFF2-40B4-BE49-F238E27FC236}">
                <a16:creationId xmlns:a16="http://schemas.microsoft.com/office/drawing/2014/main" id="{563406D1-E975-63A4-8CC9-DDA13EA87226}"/>
              </a:ext>
            </a:extLst>
          </p:cNvPr>
          <p:cNvSpPr txBox="1"/>
          <p:nvPr/>
        </p:nvSpPr>
        <p:spPr>
          <a:xfrm>
            <a:off x="22800624" y="13283757"/>
            <a:ext cx="8617988" cy="307777"/>
          </a:xfrm>
          <a:prstGeom prst="rect">
            <a:avLst/>
          </a:prstGeom>
          <a:noFill/>
        </p:spPr>
        <p:txBody>
          <a:bodyPr wrap="square" rtlCol="0">
            <a:spAutoFit/>
          </a:bodyPr>
          <a:lstStyle/>
          <a:p>
            <a:r>
              <a:rPr lang="en-GB" sz="1400" i="1" dirty="0">
                <a:solidFill>
                  <a:schemeClr val="tx1">
                    <a:lumMod val="75000"/>
                    <a:lumOff val="25000"/>
                  </a:schemeClr>
                </a:solidFill>
              </a:rPr>
              <a:t>Note: KNN returned </a:t>
            </a:r>
            <a:r>
              <a:rPr lang="en-GB" sz="1400" i="1" dirty="0" err="1">
                <a:solidFill>
                  <a:schemeClr val="tx1">
                    <a:lumMod val="75000"/>
                    <a:lumOff val="25000"/>
                  </a:schemeClr>
                </a:solidFill>
              </a:rPr>
              <a:t>NaN</a:t>
            </a:r>
            <a:r>
              <a:rPr lang="en-GB" sz="1400" i="1" dirty="0">
                <a:solidFill>
                  <a:schemeClr val="tx1">
                    <a:lumMod val="75000"/>
                    <a:lumOff val="25000"/>
                  </a:schemeClr>
                </a:solidFill>
              </a:rPr>
              <a:t> (O(n²) memory constraints at 100k+ samples) and was excluded from final comparison</a:t>
            </a:r>
            <a:r>
              <a:rPr lang="en-GB" sz="1400" i="1" dirty="0"/>
              <a:t>.</a:t>
            </a:r>
            <a:endParaRPr lang="en-IE" sz="1400" i="1" dirty="0"/>
          </a:p>
        </p:txBody>
      </p:sp>
      <p:sp>
        <p:nvSpPr>
          <p:cNvPr id="4115" name="CuadroTexto 4114">
            <a:extLst>
              <a:ext uri="{FF2B5EF4-FFF2-40B4-BE49-F238E27FC236}">
                <a16:creationId xmlns:a16="http://schemas.microsoft.com/office/drawing/2014/main" id="{45CCA7C5-8862-02CF-DA7E-1D155DE37B66}"/>
              </a:ext>
            </a:extLst>
          </p:cNvPr>
          <p:cNvSpPr txBox="1"/>
          <p:nvPr/>
        </p:nvSpPr>
        <p:spPr>
          <a:xfrm>
            <a:off x="23579741" y="20754905"/>
            <a:ext cx="6553200" cy="338554"/>
          </a:xfrm>
          <a:prstGeom prst="rect">
            <a:avLst/>
          </a:prstGeom>
          <a:noFill/>
        </p:spPr>
        <p:txBody>
          <a:bodyPr wrap="square" rtlCol="0">
            <a:spAutoFit/>
          </a:bodyPr>
          <a:lstStyle/>
          <a:p>
            <a:r>
              <a:rPr lang="en-GB" sz="1600" b="1" dirty="0"/>
              <a:t>Top features: AGEP 51.9% · SCHL 20.3% · DIS 13.2% · SEX 2.9% · RAC1P 1.5%</a:t>
            </a:r>
            <a:endParaRPr lang="en-IE" sz="1600" b="1" dirty="0"/>
          </a:p>
        </p:txBody>
      </p:sp>
    </p:spTree>
    <p:extLst>
      <p:ext uri="{BB962C8B-B14F-4D97-AF65-F5344CB8AC3E}">
        <p14:creationId xmlns:p14="http://schemas.microsoft.com/office/powerpoint/2010/main" val="3160527046"/>
      </p:ext>
    </p:extLst>
  </p:cSld>
  <p:clrMapOvr>
    <a:masterClrMapping/>
  </p:clrMapOvr>
  <mc:AlternateContent xmlns:mc="http://schemas.openxmlformats.org/markup-compatibility/2006" xmlns:p14="http://schemas.microsoft.com/office/powerpoint/2010/main">
    <mc:Choice Requires="p14">
      <p:transition spd="slow" p14:dur="2000" advTm="259559"/>
    </mc:Choice>
    <mc:Fallback xmlns="">
      <p:transition spd="slow" advTm="259559"/>
    </mc:Fallback>
  </mc:AlternateContent>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5762</TotalTime>
  <Words>1330</Words>
  <Application>Microsoft Office PowerPoint</Application>
  <PresentationFormat>Personalizado</PresentationFormat>
  <Paragraphs>114</Paragraphs>
  <Slides>1</Slides>
  <Notes>1</Notes>
  <HiddenSlides>0</HiddenSlides>
  <MMClips>0</MMClips>
  <ScaleCrop>false</ScaleCrop>
  <HeadingPairs>
    <vt:vector size="8" baseType="variant">
      <vt:variant>
        <vt:lpstr>Fuentes usadas</vt:lpstr>
      </vt:variant>
      <vt:variant>
        <vt:i4>6</vt:i4>
      </vt:variant>
      <vt:variant>
        <vt:lpstr>Tema</vt:lpstr>
      </vt:variant>
      <vt:variant>
        <vt:i4>3</vt:i4>
      </vt:variant>
      <vt:variant>
        <vt:lpstr>Servidores OLE incrustados</vt:lpstr>
      </vt:variant>
      <vt:variant>
        <vt:i4>1</vt:i4>
      </vt:variant>
      <vt:variant>
        <vt:lpstr>Títulos de diapositiva</vt:lpstr>
      </vt:variant>
      <vt:variant>
        <vt:i4>1</vt:i4>
      </vt:variant>
    </vt:vector>
  </HeadingPairs>
  <TitlesOfParts>
    <vt:vector size="11" baseType="lpstr">
      <vt:lpstr>Abadi</vt:lpstr>
      <vt:lpstr>Arial</vt:lpstr>
      <vt:lpstr>Calibri</vt:lpstr>
      <vt:lpstr>Calibri (Títulos)</vt:lpstr>
      <vt:lpstr>Times New Roman</vt:lpstr>
      <vt:lpstr>Trebuchet MS</vt:lpstr>
      <vt:lpstr>36x48-Template-V2b</vt:lpstr>
      <vt:lpstr>1_Classic 3 Columns</vt:lpstr>
      <vt:lpstr>Classic - Wide Center</vt:lpstr>
      <vt:lpstr>Image</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Ana Rocio</cp:lastModifiedBy>
  <cp:revision>138</cp:revision>
  <dcterms:created xsi:type="dcterms:W3CDTF">2012-02-03T19:11:35Z</dcterms:created>
  <dcterms:modified xsi:type="dcterms:W3CDTF">2026-05-31T20:50:00Z</dcterms:modified>
</cp:coreProperties>
</file>
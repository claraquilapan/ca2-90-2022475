
<file path=[Content_Types].xml><?xml version="1.0" encoding="utf-8"?>
<Types xmlns="http://schemas.openxmlformats.org/package/2006/content-types">
  <Default Extension="bin" ContentType="application/vnd.openxmlformats-officedocument.oleObject"/>
  <Default Extension="jpeg" ContentType="image/jpe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slideLayouts/slideLayout3.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0" r:id="rId1"/>
    <p:sldMasterId id="2147483657" r:id="rId2"/>
    <p:sldMasterId id="2147483653" r:id="rId3"/>
  </p:sldMasterIdLst>
  <p:notesMasterIdLst>
    <p:notesMasterId r:id="rId5"/>
  </p:notesMasterIdLst>
  <p:handoutMasterIdLst>
    <p:handoutMasterId r:id="rId6"/>
  </p:handoutMasterIdLst>
  <p:sldIdLst>
    <p:sldId id="258" r:id="rId4"/>
  </p:sldIdLst>
  <p:sldSz cx="43891200" cy="32918400"/>
  <p:notesSz cx="6858000" cy="9144000"/>
  <p:defaultText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318">
          <p15:clr>
            <a:srgbClr val="A4A3A4"/>
          </p15:clr>
        </p15:guide>
        <p15:guide id="2" orient="horz" pos="288">
          <p15:clr>
            <a:srgbClr val="A4A3A4"/>
          </p15:clr>
        </p15:guide>
        <p15:guide id="3" orient="horz" pos="20160">
          <p15:clr>
            <a:srgbClr val="A4A3A4"/>
          </p15:clr>
        </p15:guide>
        <p15:guide id="4" orient="horz">
          <p15:clr>
            <a:srgbClr val="A4A3A4"/>
          </p15:clr>
        </p15:guide>
        <p15:guide id="5" pos="581">
          <p15:clr>
            <a:srgbClr val="A4A3A4"/>
          </p15:clr>
        </p15:guide>
        <p15:guide id="6" pos="27069">
          <p15:clr>
            <a:srgbClr val="A4A3A4"/>
          </p15:clr>
        </p15:guide>
        <p15:guide id="7" orient="horz" pos="3298">
          <p15:clr>
            <a:srgbClr val="A4A3A4"/>
          </p15:clr>
        </p15:guide>
        <p15:guide id="8" orient="horz" pos="20735">
          <p15:clr>
            <a:srgbClr val="A4A3A4"/>
          </p15:clr>
        </p15:guide>
        <p15:guide id="9" pos="320">
          <p15:clr>
            <a:srgbClr val="A4A3A4"/>
          </p15:clr>
        </p15:guide>
        <p15:guide id="10" pos="27647">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A.KOTOULAS" initials="AK" lastIdx="2" clrIdx="0"/>
  <p:cmAuthor id="1" name="A.KOTOULAS" initials="HELP" lastIdx="1" clrIdx="1"/>
  <p:cmAuthor id="2" name="A.KOTOULAS" initials="HELP - " lastIdx="1" clrIdx="2"/>
  <p:cmAuthor id="3" name="PosterPresentations.com - 510.649.3001" initials="HELP - " lastIdx="1"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BDBD"/>
    <a:srgbClr val="F3F5FA"/>
    <a:srgbClr val="CDD2DE"/>
    <a:srgbClr val="E3E9E5"/>
    <a:srgbClr val="EAEAEA"/>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Estilo medio 2 - Énfasis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658" autoAdjust="0"/>
    <p:restoredTop sz="94061" autoAdjust="0"/>
  </p:normalViewPr>
  <p:slideViewPr>
    <p:cSldViewPr snapToGrid="0" snapToObjects="1" showGuides="1">
      <p:cViewPr>
        <p:scale>
          <a:sx n="44" d="100"/>
          <a:sy n="44" d="100"/>
        </p:scale>
        <p:origin x="-6276" y="-4344"/>
      </p:cViewPr>
      <p:guideLst>
        <p:guide orient="horz" pos="3318"/>
        <p:guide orient="horz" pos="288"/>
        <p:guide orient="horz" pos="20160"/>
        <p:guide orient="horz"/>
        <p:guide pos="581"/>
        <p:guide pos="27069"/>
        <p:guide orient="horz" pos="3298"/>
        <p:guide orient="horz" pos="20735"/>
        <p:guide pos="320"/>
        <p:guide pos="27647"/>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0"/>
    </p:cViewPr>
  </p:sorterViewPr>
  <p:notesViewPr>
    <p:cSldViewPr snapToGrid="0" snapToObjects="1" showGuides="1">
      <p:cViewPr varScale="1">
        <p:scale>
          <a:sx n="56" d="100"/>
          <a:sy n="56" d="100"/>
        </p:scale>
        <p:origin x="-2886" y="-84"/>
      </p:cViewPr>
      <p:guideLst>
        <p:guide orient="horz" pos="2880"/>
        <p:guide pos="2160"/>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Master" Target="slideMasters/slideMaster3.xml"/><Relationship Id="rId7" Type="http://schemas.openxmlformats.org/officeDocument/2006/relationships/commentAuthors" Target="commentAuthors.xml"/><Relationship Id="rId2" Type="http://schemas.openxmlformats.org/officeDocument/2006/relationships/slideMaster" Target="slideMasters/slideMaster2.xml"/><Relationship Id="rId1" Type="http://schemas.openxmlformats.org/officeDocument/2006/relationships/slideMaster" Target="slideMasters/slideMaster1.xml"/><Relationship Id="rId6" Type="http://schemas.openxmlformats.org/officeDocument/2006/relationships/handoutMaster" Target="handoutMasters/handoutMaster1.xml"/><Relationship Id="rId11" Type="http://schemas.openxmlformats.org/officeDocument/2006/relationships/tableStyles" Target="tableStyles.xml"/><Relationship Id="rId5" Type="http://schemas.openxmlformats.org/officeDocument/2006/relationships/notesMaster" Target="notesMasters/notesMaster1.xml"/><Relationship Id="rId10"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0158C5BC-9A70-462C-B28D-9600239EAC64}" type="datetimeFigureOut">
              <a:rPr lang="en-US" smtClean="0"/>
              <a:pPr/>
              <a:t>5/31/2026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79C131B7-05CA-4AEE-9267-6D0ED4DC84F3}" type="slidenum">
              <a:rPr lang="en-US" smtClean="0"/>
              <a:pPr/>
              <a:t>‹Nº›</a:t>
            </a:fld>
            <a:endParaRPr lang="en-US"/>
          </a:p>
        </p:txBody>
      </p:sp>
    </p:spTree>
    <p:extLst>
      <p:ext uri="{BB962C8B-B14F-4D97-AF65-F5344CB8AC3E}">
        <p14:creationId xmlns:p14="http://schemas.microsoft.com/office/powerpoint/2010/main" val="397406821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E6CC2317-6751-4CD4-9995-8782DD78E936}" type="datetimeFigureOut">
              <a:rPr lang="en-US" smtClean="0"/>
              <a:pPr/>
              <a:t>5/31/2026</a:t>
            </a:fld>
            <a:endParaRPr lang="en-US" dirty="0"/>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26A1A87D-CAF7-4BDC-A0D3-C0DBEDE81619}" type="slidenum">
              <a:rPr lang="en-US" smtClean="0"/>
              <a:pPr/>
              <a:t>‹Nº›</a:t>
            </a:fld>
            <a:endParaRPr lang="en-US" dirty="0"/>
          </a:p>
        </p:txBody>
      </p:sp>
    </p:spTree>
    <p:extLst>
      <p:ext uri="{BB962C8B-B14F-4D97-AF65-F5344CB8AC3E}">
        <p14:creationId xmlns:p14="http://schemas.microsoft.com/office/powerpoint/2010/main" val="2414637987"/>
      </p:ext>
    </p:extLst>
  </p:cSld>
  <p:clrMap bg1="lt1" tx1="dk1" bg2="lt2" tx2="dk2" accent1="accent1" accent2="accent2" accent3="accent3" accent4="accent4" accent5="accent5" accent6="accent6" hlink="hlink" folHlink="folHlink"/>
  <p:notesStyle>
    <a:lvl1pPr marL="0" algn="l" defTabSz="4388900" rtl="0" eaLnBrk="1" latinLnBrk="0" hangingPunct="1">
      <a:defRPr sz="5800" kern="1200">
        <a:solidFill>
          <a:schemeClr val="tx1"/>
        </a:solidFill>
        <a:latin typeface="+mn-lt"/>
        <a:ea typeface="+mn-ea"/>
        <a:cs typeface="+mn-cs"/>
      </a:defRPr>
    </a:lvl1pPr>
    <a:lvl2pPr marL="2194451" algn="l" defTabSz="4388900" rtl="0" eaLnBrk="1" latinLnBrk="0" hangingPunct="1">
      <a:defRPr sz="5800" kern="1200">
        <a:solidFill>
          <a:schemeClr val="tx1"/>
        </a:solidFill>
        <a:latin typeface="+mn-lt"/>
        <a:ea typeface="+mn-ea"/>
        <a:cs typeface="+mn-cs"/>
      </a:defRPr>
    </a:lvl2pPr>
    <a:lvl3pPr marL="4388900" algn="l" defTabSz="4388900" rtl="0" eaLnBrk="1" latinLnBrk="0" hangingPunct="1">
      <a:defRPr sz="5800" kern="1200">
        <a:solidFill>
          <a:schemeClr val="tx1"/>
        </a:solidFill>
        <a:latin typeface="+mn-lt"/>
        <a:ea typeface="+mn-ea"/>
        <a:cs typeface="+mn-cs"/>
      </a:defRPr>
    </a:lvl3pPr>
    <a:lvl4pPr marL="6583351" algn="l" defTabSz="4388900" rtl="0" eaLnBrk="1" latinLnBrk="0" hangingPunct="1">
      <a:defRPr sz="5800" kern="1200">
        <a:solidFill>
          <a:schemeClr val="tx1"/>
        </a:solidFill>
        <a:latin typeface="+mn-lt"/>
        <a:ea typeface="+mn-ea"/>
        <a:cs typeface="+mn-cs"/>
      </a:defRPr>
    </a:lvl4pPr>
    <a:lvl5pPr marL="8777801" algn="l" defTabSz="4388900" rtl="0" eaLnBrk="1" latinLnBrk="0" hangingPunct="1">
      <a:defRPr sz="5800" kern="1200">
        <a:solidFill>
          <a:schemeClr val="tx1"/>
        </a:solidFill>
        <a:latin typeface="+mn-lt"/>
        <a:ea typeface="+mn-ea"/>
        <a:cs typeface="+mn-cs"/>
      </a:defRPr>
    </a:lvl5pPr>
    <a:lvl6pPr marL="10972252" algn="l" defTabSz="4388900" rtl="0" eaLnBrk="1" latinLnBrk="0" hangingPunct="1">
      <a:defRPr sz="5800" kern="1200">
        <a:solidFill>
          <a:schemeClr val="tx1"/>
        </a:solidFill>
        <a:latin typeface="+mn-lt"/>
        <a:ea typeface="+mn-ea"/>
        <a:cs typeface="+mn-cs"/>
      </a:defRPr>
    </a:lvl6pPr>
    <a:lvl7pPr marL="13166703" algn="l" defTabSz="4388900" rtl="0" eaLnBrk="1" latinLnBrk="0" hangingPunct="1">
      <a:defRPr sz="5800" kern="1200">
        <a:solidFill>
          <a:schemeClr val="tx1"/>
        </a:solidFill>
        <a:latin typeface="+mn-lt"/>
        <a:ea typeface="+mn-ea"/>
        <a:cs typeface="+mn-cs"/>
      </a:defRPr>
    </a:lvl7pPr>
    <a:lvl8pPr marL="15361152" algn="l" defTabSz="4388900" rtl="0" eaLnBrk="1" latinLnBrk="0" hangingPunct="1">
      <a:defRPr sz="5800" kern="1200">
        <a:solidFill>
          <a:schemeClr val="tx1"/>
        </a:solidFill>
        <a:latin typeface="+mn-lt"/>
        <a:ea typeface="+mn-ea"/>
        <a:cs typeface="+mn-cs"/>
      </a:defRPr>
    </a:lvl8pPr>
    <a:lvl9pPr marL="17555603" algn="l" defTabSz="4388900" rtl="0" eaLnBrk="1" latinLnBrk="0" hangingPunct="1">
      <a:defRPr sz="58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26A1A87D-CAF7-4BDC-A0D3-C0DBEDE81619}" type="slidenum">
              <a:rPr lang="en-US" smtClean="0"/>
              <a:pPr/>
              <a:t>1</a:t>
            </a:fld>
            <a:endParaRPr lang="en-US" dirty="0"/>
          </a:p>
        </p:txBody>
      </p:sp>
    </p:spTree>
    <p:extLst>
      <p:ext uri="{BB962C8B-B14F-4D97-AF65-F5344CB8AC3E}">
        <p14:creationId xmlns:p14="http://schemas.microsoft.com/office/powerpoint/2010/main" val="176264442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Standard 4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491425" y="6378481"/>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509578"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INTRODUCTION or ABSTRACT</a:t>
            </a:r>
          </a:p>
        </p:txBody>
      </p:sp>
      <p:sp>
        <p:nvSpPr>
          <p:cNvPr id="20" name="Text Placeholder 5"/>
          <p:cNvSpPr>
            <a:spLocks noGrp="1"/>
          </p:cNvSpPr>
          <p:nvPr>
            <p:ph type="body" sz="quarter" idx="20" hasCustomPrompt="1"/>
          </p:nvPr>
        </p:nvSpPr>
        <p:spPr>
          <a:xfrm>
            <a:off x="509576"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OBJECTIVES</a:t>
            </a:r>
          </a:p>
        </p:txBody>
      </p:sp>
      <p:sp>
        <p:nvSpPr>
          <p:cNvPr id="21" name="Text Placeholder 3"/>
          <p:cNvSpPr>
            <a:spLocks noGrp="1"/>
          </p:cNvSpPr>
          <p:nvPr>
            <p:ph type="body" sz="quarter" idx="21" hasCustomPrompt="1"/>
          </p:nvPr>
        </p:nvSpPr>
        <p:spPr>
          <a:xfrm>
            <a:off x="11460161"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1460162" y="5548749"/>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MATERIALS &amp; METHODS</a:t>
            </a:r>
          </a:p>
        </p:txBody>
      </p:sp>
      <p:sp>
        <p:nvSpPr>
          <p:cNvPr id="23" name="Text Placeholder 3"/>
          <p:cNvSpPr>
            <a:spLocks noGrp="1"/>
          </p:cNvSpPr>
          <p:nvPr>
            <p:ph type="body" sz="quarter" idx="23" hasCustomPrompt="1"/>
          </p:nvPr>
        </p:nvSpPr>
        <p:spPr>
          <a:xfrm>
            <a:off x="22385343" y="6378481"/>
            <a:ext cx="10048874"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22377404" y="5548749"/>
            <a:ext cx="10058400"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RESULTS</a:t>
            </a:r>
          </a:p>
        </p:txBody>
      </p:sp>
      <p:sp>
        <p:nvSpPr>
          <p:cNvPr id="25" name="Text Placeholder 5"/>
          <p:cNvSpPr>
            <a:spLocks noGrp="1"/>
          </p:cNvSpPr>
          <p:nvPr>
            <p:ph type="body" sz="quarter" idx="25" hasCustomPrompt="1"/>
          </p:nvPr>
        </p:nvSpPr>
        <p:spPr>
          <a:xfrm>
            <a:off x="33358541" y="5548749"/>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CONCLUSIONS</a:t>
            </a:r>
          </a:p>
        </p:txBody>
      </p:sp>
      <p:sp>
        <p:nvSpPr>
          <p:cNvPr id="26" name="Text Placeholder 3"/>
          <p:cNvSpPr>
            <a:spLocks noGrp="1"/>
          </p:cNvSpPr>
          <p:nvPr>
            <p:ph type="body" sz="quarter" idx="26" hasCustomPrompt="1"/>
          </p:nvPr>
        </p:nvSpPr>
        <p:spPr>
          <a:xfrm>
            <a:off x="33358541" y="6378481"/>
            <a:ext cx="10047018"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33358541"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REFERENCES</a:t>
            </a:r>
          </a:p>
        </p:txBody>
      </p:sp>
      <p:sp>
        <p:nvSpPr>
          <p:cNvPr id="28" name="Text Placeholder 3"/>
          <p:cNvSpPr>
            <a:spLocks noGrp="1"/>
          </p:cNvSpPr>
          <p:nvPr>
            <p:ph type="body" sz="quarter" idx="28" hasCustomPrompt="1"/>
          </p:nvPr>
        </p:nvSpPr>
        <p:spPr>
          <a:xfrm>
            <a:off x="33358541" y="15011402"/>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33358541" y="25679401"/>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edit)  ACKNOWLEDGEMENTS or  CONTACT</a:t>
            </a:r>
          </a:p>
        </p:txBody>
      </p:sp>
      <p:sp>
        <p:nvSpPr>
          <p:cNvPr id="30" name="Text Placeholder 3"/>
          <p:cNvSpPr>
            <a:spLocks noGrp="1"/>
          </p:cNvSpPr>
          <p:nvPr>
            <p:ph type="body" sz="quarter" idx="30" hasCustomPrompt="1"/>
          </p:nvPr>
        </p:nvSpPr>
        <p:spPr>
          <a:xfrm>
            <a:off x="33358541" y="26433446"/>
            <a:ext cx="10052050"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0" name="Text Placeholder 3"/>
          <p:cNvSpPr>
            <a:spLocks noGrp="1"/>
          </p:cNvSpPr>
          <p:nvPr>
            <p:ph type="body" sz="quarter" idx="96" hasCustomPrompt="1"/>
          </p:nvPr>
        </p:nvSpPr>
        <p:spPr>
          <a:xfrm>
            <a:off x="491425" y="14951552"/>
            <a:ext cx="10056813" cy="846363"/>
          </a:xfrm>
          <a:prstGeom prst="rect">
            <a:avLst/>
          </a:prstGeom>
        </p:spPr>
        <p:txBody>
          <a:bodyPr wrap="square" lIns="228589" tIns="228589" rIns="228589" bIns="228589">
            <a:spAutoFit/>
          </a:bodyPr>
          <a:lstStyle>
            <a:lvl1pPr marL="0" indent="0">
              <a:buNone/>
              <a:defRPr sz="25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77"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78"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79"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tandard 3 columns">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6" y="6295353"/>
            <a:ext cx="13591277"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 name="Text Placeholder 5"/>
          <p:cNvSpPr>
            <a:spLocks noGrp="1"/>
          </p:cNvSpPr>
          <p:nvPr>
            <p:ph type="body" sz="quarter" idx="11" hasCustomPrompt="1"/>
          </p:nvPr>
        </p:nvSpPr>
        <p:spPr>
          <a:xfrm>
            <a:off x="922338" y="5431995"/>
            <a:ext cx="13573126"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22338" y="18240478"/>
            <a:ext cx="1359286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0" name="Text Placeholder 5"/>
          <p:cNvSpPr>
            <a:spLocks noGrp="1"/>
          </p:cNvSpPr>
          <p:nvPr>
            <p:ph type="body" sz="quarter" idx="20" hasCustomPrompt="1"/>
          </p:nvPr>
        </p:nvSpPr>
        <p:spPr>
          <a:xfrm>
            <a:off x="942080" y="17409229"/>
            <a:ext cx="1357312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5154276" y="2159508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2" name="Text Placeholder 5"/>
          <p:cNvSpPr>
            <a:spLocks noGrp="1"/>
          </p:cNvSpPr>
          <p:nvPr>
            <p:ph type="body" sz="quarter" idx="22" hasCustomPrompt="1"/>
          </p:nvPr>
        </p:nvSpPr>
        <p:spPr>
          <a:xfrm>
            <a:off x="15154276" y="20739663"/>
            <a:ext cx="13571534"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MATERIALS &amp; METHODS</a:t>
            </a:r>
          </a:p>
        </p:txBody>
      </p:sp>
      <p:sp>
        <p:nvSpPr>
          <p:cNvPr id="23" name="Text Placeholder 3"/>
          <p:cNvSpPr>
            <a:spLocks noGrp="1"/>
          </p:cNvSpPr>
          <p:nvPr>
            <p:ph type="body" sz="quarter" idx="23" hasCustomPrompt="1"/>
          </p:nvPr>
        </p:nvSpPr>
        <p:spPr>
          <a:xfrm>
            <a:off x="15162215" y="6295353"/>
            <a:ext cx="13571534"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4" name="Text Placeholder 5"/>
          <p:cNvSpPr>
            <a:spLocks noGrp="1"/>
          </p:cNvSpPr>
          <p:nvPr>
            <p:ph type="body" sz="quarter" idx="24" hasCustomPrompt="1"/>
          </p:nvPr>
        </p:nvSpPr>
        <p:spPr>
          <a:xfrm>
            <a:off x="15154277" y="5431995"/>
            <a:ext cx="13579475"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29395741" y="5431995"/>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29395741" y="6295353"/>
            <a:ext cx="13576029"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7" name="Text Placeholder 5"/>
          <p:cNvSpPr>
            <a:spLocks noGrp="1"/>
          </p:cNvSpPr>
          <p:nvPr>
            <p:ph type="body" sz="quarter" idx="27" hasCustomPrompt="1"/>
          </p:nvPr>
        </p:nvSpPr>
        <p:spPr>
          <a:xfrm>
            <a:off x="29395741" y="17377122"/>
            <a:ext cx="13576029" cy="754045"/>
          </a:xfrm>
          <a:prstGeom prst="rect">
            <a:avLst/>
          </a:prstGeom>
          <a:noFill/>
        </p:spPr>
        <p:txBody>
          <a:bodyPr wrap="square" lIns="91436" tIns="91436" rIns="91436" bIns="91436" anchor="ctr" anchorCtr="0">
            <a:spAutoFit/>
          </a:bodyPr>
          <a:lstStyle>
            <a:lvl1pPr marL="0" indent="0" algn="ctr">
              <a:buNone/>
              <a:tabLst/>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29390710" y="18157350"/>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29" name="Text Placeholder 5"/>
          <p:cNvSpPr>
            <a:spLocks noGrp="1"/>
          </p:cNvSpPr>
          <p:nvPr>
            <p:ph type="body" sz="quarter" idx="29" hasCustomPrompt="1"/>
          </p:nvPr>
        </p:nvSpPr>
        <p:spPr>
          <a:xfrm>
            <a:off x="29395741" y="25845657"/>
            <a:ext cx="13576029"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29395742" y="26625887"/>
            <a:ext cx="13581061" cy="861752"/>
          </a:xfrm>
          <a:prstGeom prst="rect">
            <a:avLst/>
          </a:prstGeom>
        </p:spPr>
        <p:txBody>
          <a:bodyPr wrap="square" lIns="228589" tIns="228589" rIns="228589" bIns="228589">
            <a:spAutoFit/>
          </a:bodyPr>
          <a:lstStyle>
            <a:lvl1pPr marL="0" indent="0">
              <a:buNone/>
              <a:defRPr sz="2600">
                <a:solidFill>
                  <a:schemeClr val="accent5">
                    <a:lumMod val="50000"/>
                  </a:schemeClr>
                </a:solidFill>
                <a:latin typeface="Times New Roman" pitchFamily="18" charset="0"/>
                <a:cs typeface="Times New Roman" pitchFamily="18"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Type in or paste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Wide center column">
    <p:spTree>
      <p:nvGrpSpPr>
        <p:cNvPr id="1" name=""/>
        <p:cNvGrpSpPr/>
        <p:nvPr/>
      </p:nvGrpSpPr>
      <p:grpSpPr>
        <a:xfrm>
          <a:off x="0" y="0"/>
          <a:ext cx="0" cy="0"/>
          <a:chOff x="0" y="0"/>
          <a:chExt cx="0" cy="0"/>
        </a:xfrm>
      </p:grpSpPr>
      <p:sp>
        <p:nvSpPr>
          <p:cNvPr id="4" name="Text Placeholder 3"/>
          <p:cNvSpPr>
            <a:spLocks noGrp="1"/>
          </p:cNvSpPr>
          <p:nvPr>
            <p:ph type="body" sz="quarter" idx="10" hasCustomPrompt="1"/>
          </p:nvPr>
        </p:nvSpPr>
        <p:spPr>
          <a:xfrm>
            <a:off x="904188" y="6212225"/>
            <a:ext cx="10056813"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 name="Text Placeholder 5"/>
          <p:cNvSpPr>
            <a:spLocks noGrp="1"/>
          </p:cNvSpPr>
          <p:nvPr>
            <p:ph type="body" sz="quarter" idx="11" hasCustomPrompt="1"/>
          </p:nvPr>
        </p:nvSpPr>
        <p:spPr>
          <a:xfrm>
            <a:off x="922341" y="5348867"/>
            <a:ext cx="10048875" cy="754045"/>
          </a:xfrm>
          <a:prstGeom prst="rect">
            <a:avLst/>
          </a:prstGeom>
          <a:noFill/>
        </p:spPr>
        <p:txBody>
          <a:bodyPr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INTRODUCTION or ABSTRACT</a:t>
            </a:r>
          </a:p>
        </p:txBody>
      </p:sp>
      <p:sp>
        <p:nvSpPr>
          <p:cNvPr id="19" name="Text Placeholder 3"/>
          <p:cNvSpPr>
            <a:spLocks noGrp="1"/>
          </p:cNvSpPr>
          <p:nvPr>
            <p:ph type="body" sz="quarter" idx="19" hasCustomPrompt="1"/>
          </p:nvPr>
        </p:nvSpPr>
        <p:spPr>
          <a:xfrm>
            <a:off x="902598" y="15043762"/>
            <a:ext cx="1005840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0" name="Text Placeholder 5"/>
          <p:cNvSpPr>
            <a:spLocks noGrp="1"/>
          </p:cNvSpPr>
          <p:nvPr>
            <p:ph type="body" sz="quarter" idx="20" hasCustomPrompt="1"/>
          </p:nvPr>
        </p:nvSpPr>
        <p:spPr>
          <a:xfrm>
            <a:off x="922339" y="14212513"/>
            <a:ext cx="10050462"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OBJECTIVES</a:t>
            </a:r>
          </a:p>
        </p:txBody>
      </p:sp>
      <p:sp>
        <p:nvSpPr>
          <p:cNvPr id="21" name="Text Placeholder 3"/>
          <p:cNvSpPr>
            <a:spLocks noGrp="1"/>
          </p:cNvSpPr>
          <p:nvPr>
            <p:ph type="body" sz="quarter" idx="21" hasCustomPrompt="1"/>
          </p:nvPr>
        </p:nvSpPr>
        <p:spPr>
          <a:xfrm>
            <a:off x="11587163" y="6204287"/>
            <a:ext cx="2072004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2" name="Text Placeholder 5"/>
          <p:cNvSpPr>
            <a:spLocks noGrp="1"/>
          </p:cNvSpPr>
          <p:nvPr>
            <p:ph type="body" sz="quarter" idx="22" hasCustomPrompt="1"/>
          </p:nvPr>
        </p:nvSpPr>
        <p:spPr>
          <a:xfrm>
            <a:off x="11587164" y="5348867"/>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(header)  MATERIALS &amp; METHODS</a:t>
            </a:r>
          </a:p>
        </p:txBody>
      </p:sp>
      <p:sp>
        <p:nvSpPr>
          <p:cNvPr id="23" name="Text Placeholder 3"/>
          <p:cNvSpPr>
            <a:spLocks noGrp="1"/>
          </p:cNvSpPr>
          <p:nvPr>
            <p:ph type="body" sz="quarter" idx="23" hasCustomPrompt="1"/>
          </p:nvPr>
        </p:nvSpPr>
        <p:spPr>
          <a:xfrm>
            <a:off x="11587164" y="21896538"/>
            <a:ext cx="20720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4" name="Text Placeholder 5"/>
          <p:cNvSpPr>
            <a:spLocks noGrp="1"/>
          </p:cNvSpPr>
          <p:nvPr>
            <p:ph type="body" sz="quarter" idx="24" hasCustomPrompt="1"/>
          </p:nvPr>
        </p:nvSpPr>
        <p:spPr>
          <a:xfrm>
            <a:off x="11587162" y="21074746"/>
            <a:ext cx="20720050"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RESULTS</a:t>
            </a:r>
          </a:p>
        </p:txBody>
      </p:sp>
      <p:sp>
        <p:nvSpPr>
          <p:cNvPr id="25" name="Text Placeholder 5"/>
          <p:cNvSpPr>
            <a:spLocks noGrp="1"/>
          </p:cNvSpPr>
          <p:nvPr>
            <p:ph type="body" sz="quarter" idx="25" hasCustomPrompt="1"/>
          </p:nvPr>
        </p:nvSpPr>
        <p:spPr>
          <a:xfrm>
            <a:off x="32905536" y="5348867"/>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CONCLUSIONS</a:t>
            </a:r>
          </a:p>
        </p:txBody>
      </p:sp>
      <p:sp>
        <p:nvSpPr>
          <p:cNvPr id="26" name="Text Placeholder 3"/>
          <p:cNvSpPr>
            <a:spLocks noGrp="1"/>
          </p:cNvSpPr>
          <p:nvPr>
            <p:ph type="body" sz="quarter" idx="26" hasCustomPrompt="1"/>
          </p:nvPr>
        </p:nvSpPr>
        <p:spPr>
          <a:xfrm>
            <a:off x="32905536" y="6212225"/>
            <a:ext cx="10047018"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7" name="Text Placeholder 5"/>
          <p:cNvSpPr>
            <a:spLocks noGrp="1"/>
          </p:cNvSpPr>
          <p:nvPr>
            <p:ph type="body" sz="quarter" idx="27" hasCustomPrompt="1"/>
          </p:nvPr>
        </p:nvSpPr>
        <p:spPr>
          <a:xfrm>
            <a:off x="32905536" y="14272738"/>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REFERENCES</a:t>
            </a:r>
          </a:p>
        </p:txBody>
      </p:sp>
      <p:sp>
        <p:nvSpPr>
          <p:cNvPr id="28" name="Text Placeholder 3"/>
          <p:cNvSpPr>
            <a:spLocks noGrp="1"/>
          </p:cNvSpPr>
          <p:nvPr>
            <p:ph type="body" sz="quarter" idx="28" hasCustomPrompt="1"/>
          </p:nvPr>
        </p:nvSpPr>
        <p:spPr>
          <a:xfrm>
            <a:off x="32905536" y="15011402"/>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29" name="Text Placeholder 5"/>
          <p:cNvSpPr>
            <a:spLocks noGrp="1"/>
          </p:cNvSpPr>
          <p:nvPr>
            <p:ph type="body" sz="quarter" idx="29" hasCustomPrompt="1"/>
          </p:nvPr>
        </p:nvSpPr>
        <p:spPr>
          <a:xfrm>
            <a:off x="32905536" y="25669876"/>
            <a:ext cx="10047018" cy="754045"/>
          </a:xfrm>
          <a:prstGeom prst="rect">
            <a:avLst/>
          </a:prstGeom>
          <a:noFill/>
        </p:spPr>
        <p:txBody>
          <a:bodyPr wrap="square" lIns="91436" tIns="91436" rIns="91436" bIns="91436" anchor="ctr" anchorCtr="0">
            <a:spAutoFit/>
          </a:bodyPr>
          <a:lstStyle>
            <a:lvl1pPr marL="0" indent="0" algn="ctr">
              <a:buNone/>
              <a:defRPr sz="3700" b="1" u="sng" baseline="0">
                <a:solidFill>
                  <a:schemeClr val="accent5">
                    <a:lumMod val="50000"/>
                  </a:schemeClr>
                </a:solidFill>
              </a:defRPr>
            </a:lvl1pPr>
          </a:lstStyle>
          <a:p>
            <a:pPr lvl="0"/>
            <a:r>
              <a:rPr lang="en-US" dirty="0"/>
              <a:t>(click to add)  ACKNOWLEDGEMENTS or CONTACT</a:t>
            </a:r>
          </a:p>
        </p:txBody>
      </p:sp>
      <p:sp>
        <p:nvSpPr>
          <p:cNvPr id="30" name="Text Placeholder 3"/>
          <p:cNvSpPr>
            <a:spLocks noGrp="1"/>
          </p:cNvSpPr>
          <p:nvPr>
            <p:ph type="body" sz="quarter" idx="30" hasCustomPrompt="1"/>
          </p:nvPr>
        </p:nvSpPr>
        <p:spPr>
          <a:xfrm>
            <a:off x="32905536" y="26436774"/>
            <a:ext cx="10052050" cy="846363"/>
          </a:xfrm>
          <a:prstGeom prst="rect">
            <a:avLst/>
          </a:prstGeom>
        </p:spPr>
        <p:txBody>
          <a:bodyPr wrap="square" lIns="228589" tIns="228589" rIns="228589" bIns="228589">
            <a:spAutoFit/>
          </a:bodyPr>
          <a:lstStyle>
            <a:lvl1pPr marL="0" indent="0">
              <a:buNone/>
              <a:defRPr sz="2500">
                <a:latin typeface="Trebuchet MS" pitchFamily="34" charset="0"/>
              </a:defRPr>
            </a:lvl1pPr>
            <a:lvl2pPr marL="1485825" indent="-571471">
              <a:defRPr sz="2500">
                <a:latin typeface="Trebuchet MS" pitchFamily="34" charset="0"/>
              </a:defRPr>
            </a:lvl2pPr>
            <a:lvl3pPr marL="2057297" indent="-571471">
              <a:defRPr sz="2500">
                <a:latin typeface="Trebuchet MS" pitchFamily="34" charset="0"/>
              </a:defRPr>
            </a:lvl3pPr>
            <a:lvl4pPr marL="2685916" indent="-628619">
              <a:defRPr sz="2500">
                <a:latin typeface="Trebuchet MS" pitchFamily="34" charset="0"/>
              </a:defRPr>
            </a:lvl4pPr>
            <a:lvl5pPr marL="3143093" indent="-457177">
              <a:defRPr sz="2500">
                <a:latin typeface="Trebuchet MS" pitchFamily="34" charset="0"/>
              </a:defRPr>
            </a:lvl5pPr>
          </a:lstStyle>
          <a:p>
            <a:pPr lvl="0"/>
            <a:r>
              <a:rPr lang="en-US" dirty="0"/>
              <a:t>Enter your text here</a:t>
            </a:r>
          </a:p>
        </p:txBody>
      </p:sp>
      <p:sp>
        <p:nvSpPr>
          <p:cNvPr id="64" name="Text Placeholder 76"/>
          <p:cNvSpPr>
            <a:spLocks noGrp="1"/>
          </p:cNvSpPr>
          <p:nvPr>
            <p:ph type="body" sz="quarter" idx="150" hasCustomPrompt="1"/>
          </p:nvPr>
        </p:nvSpPr>
        <p:spPr>
          <a:xfrm>
            <a:off x="5932593" y="3383947"/>
            <a:ext cx="31998968" cy="1280160"/>
          </a:xfrm>
          <a:prstGeom prst="rect">
            <a:avLst/>
          </a:prstGeom>
        </p:spPr>
        <p:txBody>
          <a:bodyPr>
            <a:normAutofit/>
          </a:bodyPr>
          <a:lstStyle>
            <a:lvl1pPr marL="0" indent="0" algn="ctr">
              <a:buFontTx/>
              <a:buNone/>
              <a:defRPr sz="60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affiliations</a:t>
            </a:r>
          </a:p>
        </p:txBody>
      </p:sp>
      <p:sp>
        <p:nvSpPr>
          <p:cNvPr id="65" name="Text Placeholder 76"/>
          <p:cNvSpPr>
            <a:spLocks noGrp="1"/>
          </p:cNvSpPr>
          <p:nvPr>
            <p:ph type="body" sz="quarter" idx="151" hasCustomPrompt="1"/>
          </p:nvPr>
        </p:nvSpPr>
        <p:spPr>
          <a:xfrm>
            <a:off x="5932593" y="2103787"/>
            <a:ext cx="31998968" cy="1280160"/>
          </a:xfrm>
          <a:prstGeom prst="rect">
            <a:avLst/>
          </a:prstGeom>
        </p:spPr>
        <p:txBody>
          <a:bodyPr anchor="t" anchorCtr="1">
            <a:normAutofit/>
          </a:bodyPr>
          <a:lstStyle>
            <a:lvl1pPr marL="0" indent="0" algn="ctr">
              <a:buFontTx/>
              <a:buNone/>
              <a:defRPr sz="88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authors</a:t>
            </a:r>
          </a:p>
        </p:txBody>
      </p:sp>
      <p:sp>
        <p:nvSpPr>
          <p:cNvPr id="66" name="Text Placeholder 76"/>
          <p:cNvSpPr>
            <a:spLocks noGrp="1"/>
          </p:cNvSpPr>
          <p:nvPr>
            <p:ph type="body" sz="quarter" idx="153" hasCustomPrompt="1"/>
          </p:nvPr>
        </p:nvSpPr>
        <p:spPr>
          <a:xfrm>
            <a:off x="5932593" y="465813"/>
            <a:ext cx="31998968" cy="1637973"/>
          </a:xfrm>
          <a:prstGeom prst="rect">
            <a:avLst/>
          </a:prstGeom>
        </p:spPr>
        <p:txBody>
          <a:bodyPr anchor="t" anchorCtr="1">
            <a:normAutofit/>
          </a:bodyPr>
          <a:lstStyle>
            <a:lvl1pPr marL="0" indent="0" algn="ctr">
              <a:buFontTx/>
              <a:buNone/>
              <a:defRPr sz="11500">
                <a:solidFill>
                  <a:schemeClr val="bg1"/>
                </a:solidFill>
                <a:latin typeface="+mj-lt"/>
              </a:defRPr>
            </a:lvl1pPr>
            <a:lvl2pPr>
              <a:buFontTx/>
              <a:buNone/>
              <a:defRPr sz="7200"/>
            </a:lvl2pPr>
            <a:lvl3pPr>
              <a:buFontTx/>
              <a:buNone/>
              <a:defRPr sz="7200"/>
            </a:lvl3pPr>
            <a:lvl4pPr>
              <a:buFontTx/>
              <a:buNone/>
              <a:defRPr sz="7200"/>
            </a:lvl4pPr>
            <a:lvl5pPr>
              <a:buFontTx/>
              <a:buNone/>
              <a:defRPr sz="7200"/>
            </a:lvl5pPr>
          </a:lstStyle>
          <a:p>
            <a:pPr lvl="0"/>
            <a:r>
              <a:rPr lang="en-US" dirty="0"/>
              <a:t>Click here to add title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5.wmf"/><Relationship Id="rId13" Type="http://schemas.openxmlformats.org/officeDocument/2006/relationships/image" Target="../media/image8.png"/><Relationship Id="rId3" Type="http://schemas.openxmlformats.org/officeDocument/2006/relationships/image" Target="../media/image1.png"/><Relationship Id="rId7" Type="http://schemas.openxmlformats.org/officeDocument/2006/relationships/oleObject" Target="../embeddings/oleObject1.bin"/><Relationship Id="rId12" Type="http://schemas.openxmlformats.org/officeDocument/2006/relationships/image" Target="../media/image7.wmf"/><Relationship Id="rId17" Type="http://schemas.openxmlformats.org/officeDocument/2006/relationships/image" Target="../media/image10.jpeg"/><Relationship Id="rId2" Type="http://schemas.openxmlformats.org/officeDocument/2006/relationships/theme" Target="../theme/theme1.xml"/><Relationship Id="rId16" Type="http://schemas.openxmlformats.org/officeDocument/2006/relationships/hyperlink" Target="http://www.facebook.com/pages/PosterPresentationscom/217914411419?v=app_4949752878&amp;ref=ts" TargetMode="External"/><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oleObject" Target="../embeddings/oleObject3.bin"/><Relationship Id="rId5" Type="http://schemas.openxmlformats.org/officeDocument/2006/relationships/image" Target="../media/image3.png"/><Relationship Id="rId15" Type="http://schemas.openxmlformats.org/officeDocument/2006/relationships/image" Target="../media/image9.wmf"/><Relationship Id="rId10" Type="http://schemas.openxmlformats.org/officeDocument/2006/relationships/image" Target="../media/image6.wmf"/><Relationship Id="rId4" Type="http://schemas.openxmlformats.org/officeDocument/2006/relationships/image" Target="../media/image2.png"/><Relationship Id="rId9" Type="http://schemas.openxmlformats.org/officeDocument/2006/relationships/oleObject" Target="../embeddings/oleObject2.bin"/><Relationship Id="rId14" Type="http://schemas.openxmlformats.org/officeDocument/2006/relationships/oleObject" Target="../embeddings/oleObject4.bin"/></Relationships>
</file>

<file path=ppt/slideMasters/_rels/slideMaster2.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2.xml"/><Relationship Id="rId16" Type="http://schemas.openxmlformats.org/officeDocument/2006/relationships/oleObject" Target="../embeddings/oleObject2.bin"/><Relationship Id="rId1" Type="http://schemas.openxmlformats.org/officeDocument/2006/relationships/slideLayout" Target="../slideLayouts/slideLayout2.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_rels/slideMaster3.xml.rels><?xml version="1.0" encoding="UTF-8" standalone="yes"?>
<Relationships xmlns="http://schemas.openxmlformats.org/package/2006/relationships"><Relationship Id="rId8" Type="http://schemas.openxmlformats.org/officeDocument/2006/relationships/hyperlink" Target="http://www.facebook.com/pages/PosterPresentationscom/217914411419?v=app_4949752878&amp;ref=ts" TargetMode="External"/><Relationship Id="rId13" Type="http://schemas.openxmlformats.org/officeDocument/2006/relationships/image" Target="../media/image4.png"/><Relationship Id="rId3" Type="http://schemas.openxmlformats.org/officeDocument/2006/relationships/oleObject" Target="../embeddings/oleObject3.bin"/><Relationship Id="rId7" Type="http://schemas.openxmlformats.org/officeDocument/2006/relationships/image" Target="../media/image9.wmf"/><Relationship Id="rId12" Type="http://schemas.openxmlformats.org/officeDocument/2006/relationships/image" Target="../media/image3.png"/><Relationship Id="rId17" Type="http://schemas.openxmlformats.org/officeDocument/2006/relationships/image" Target="../media/image6.wmf"/><Relationship Id="rId2" Type="http://schemas.openxmlformats.org/officeDocument/2006/relationships/theme" Target="../theme/theme3.xml"/><Relationship Id="rId16" Type="http://schemas.openxmlformats.org/officeDocument/2006/relationships/oleObject" Target="../embeddings/oleObject2.bin"/><Relationship Id="rId1" Type="http://schemas.openxmlformats.org/officeDocument/2006/relationships/slideLayout" Target="../slideLayouts/slideLayout3.xml"/><Relationship Id="rId6" Type="http://schemas.openxmlformats.org/officeDocument/2006/relationships/oleObject" Target="../embeddings/oleObject4.bin"/><Relationship Id="rId11" Type="http://schemas.openxmlformats.org/officeDocument/2006/relationships/image" Target="../media/image2.png"/><Relationship Id="rId5" Type="http://schemas.openxmlformats.org/officeDocument/2006/relationships/image" Target="../media/image8.png"/><Relationship Id="rId15" Type="http://schemas.openxmlformats.org/officeDocument/2006/relationships/image" Target="../media/image5.wmf"/><Relationship Id="rId10" Type="http://schemas.openxmlformats.org/officeDocument/2006/relationships/image" Target="../media/image1.png"/><Relationship Id="rId4" Type="http://schemas.openxmlformats.org/officeDocument/2006/relationships/image" Target="../media/image7.wmf"/><Relationship Id="rId9" Type="http://schemas.openxmlformats.org/officeDocument/2006/relationships/image" Target="../media/image10.jpeg"/><Relationship Id="rId14" Type="http://schemas.openxmlformats.org/officeDocument/2006/relationships/oleObject" Target="../embeddings/oleObject1.bin"/></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0600"/>
            <a:ext cx="43891200" cy="45719"/>
          </a:xfrm>
          <a:prstGeom prst="rect">
            <a:avLst/>
          </a:prstGeom>
          <a:solidFill>
            <a:schemeClr val="accent5">
              <a:lumMod val="50000"/>
            </a:schemeClr>
          </a:solidFill>
          <a:ln w="152400">
            <a:solidFill>
              <a:schemeClr val="accent5">
                <a:lumMod val="50000"/>
              </a:schemeClr>
            </a:solidFill>
            <a:miter lim="800000"/>
            <a:headEnd/>
            <a:tailEnd/>
          </a:ln>
          <a:effectLst/>
        </p:spPr>
        <p:txBody>
          <a:bodyPr wrap="none" lIns="91436" tIns="45717" rIns="91436" bIns="45717" anchor="ctr"/>
          <a:lstStyle/>
          <a:p>
            <a:pPr>
              <a:defRPr/>
            </a:pPr>
            <a:endParaRPr lang="en-US" dirty="0"/>
          </a:p>
        </p:txBody>
      </p:sp>
      <p:sp>
        <p:nvSpPr>
          <p:cNvPr id="10" name="Text Box 14"/>
          <p:cNvSpPr txBox="1">
            <a:spLocks noChangeArrowheads="1"/>
          </p:cNvSpPr>
          <p:nvPr/>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
        <p:nvSpPr>
          <p:cNvPr id="2" name="Rounded Rectangle 1"/>
          <p:cNvSpPr/>
          <p:nvPr userDrawn="1"/>
        </p:nvSpPr>
        <p:spPr>
          <a:xfrm>
            <a:off x="477824" y="5475145"/>
            <a:ext cx="10058400" cy="26736675"/>
          </a:xfrm>
          <a:prstGeom prst="roundRect">
            <a:avLst>
              <a:gd name="adj" fmla="val 4178"/>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11439521" y="5475145"/>
            <a:ext cx="10058400" cy="26736675"/>
          </a:xfrm>
          <a:prstGeom prst="roundRect">
            <a:avLst>
              <a:gd name="adj" fmla="val 4494"/>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ounded Rectangle 23"/>
          <p:cNvSpPr/>
          <p:nvPr userDrawn="1"/>
        </p:nvSpPr>
        <p:spPr>
          <a:xfrm>
            <a:off x="22401218" y="5475145"/>
            <a:ext cx="10058400" cy="26736675"/>
          </a:xfrm>
          <a:prstGeom prst="roundRect">
            <a:avLst>
              <a:gd name="adj" fmla="val 4810"/>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ounded Rectangle 25"/>
          <p:cNvSpPr/>
          <p:nvPr userDrawn="1"/>
        </p:nvSpPr>
        <p:spPr>
          <a:xfrm>
            <a:off x="33362914" y="5475145"/>
            <a:ext cx="10058400" cy="26736675"/>
          </a:xfrm>
          <a:prstGeom prst="roundRect">
            <a:avLst>
              <a:gd name="adj" fmla="val 3863"/>
            </a:avLst>
          </a:prstGeom>
          <a:gradFill>
            <a:gsLst>
              <a:gs pos="0">
                <a:srgbClr val="CDD2DE"/>
              </a:gs>
              <a:gs pos="0">
                <a:srgbClr val="CDD2DE"/>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 name="Group 29"/>
          <p:cNvGrpSpPr/>
          <p:nvPr userDrawn="1"/>
        </p:nvGrpSpPr>
        <p:grpSpPr>
          <a:xfrm>
            <a:off x="-11225189" y="-1"/>
            <a:ext cx="11018865" cy="32918401"/>
            <a:chOff x="-11225189" y="-1"/>
            <a:chExt cx="11018865" cy="32918401"/>
          </a:xfrm>
        </p:grpSpPr>
        <p:sp>
          <p:nvSpPr>
            <p:cNvPr id="31" name="Rectangle 30"/>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32" name="Straight Connector 31"/>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36" name="Picture 35"/>
            <p:cNvPicPr>
              <a:picLocks noChangeAspect="1"/>
            </p:cNvPicPr>
            <p:nvPr userDrawn="1"/>
          </p:nvPicPr>
          <p:blipFill>
            <a:blip r:embed="rId3"/>
            <a:stretch>
              <a:fillRect/>
            </a:stretch>
          </p:blipFill>
          <p:spPr>
            <a:xfrm>
              <a:off x="-10740740" y="10261718"/>
              <a:ext cx="1597666" cy="1201935"/>
            </a:xfrm>
            <a:prstGeom prst="rect">
              <a:avLst/>
            </a:prstGeom>
          </p:spPr>
        </p:pic>
        <p:pic>
          <p:nvPicPr>
            <p:cNvPr id="37" name="Picture 36"/>
            <p:cNvPicPr>
              <a:picLocks noChangeAspect="1"/>
            </p:cNvPicPr>
            <p:nvPr userDrawn="1"/>
          </p:nvPicPr>
          <p:blipFill>
            <a:blip r:embed="rId4"/>
            <a:stretch>
              <a:fillRect/>
            </a:stretch>
          </p:blipFill>
          <p:spPr>
            <a:xfrm>
              <a:off x="-10732765" y="15696927"/>
              <a:ext cx="9986808" cy="1053596"/>
            </a:xfrm>
            <a:prstGeom prst="rect">
              <a:avLst/>
            </a:prstGeom>
          </p:spPr>
        </p:pic>
        <p:grpSp>
          <p:nvGrpSpPr>
            <p:cNvPr id="38" name="Group 37"/>
            <p:cNvGrpSpPr/>
            <p:nvPr userDrawn="1"/>
          </p:nvGrpSpPr>
          <p:grpSpPr>
            <a:xfrm>
              <a:off x="-9744993" y="23540957"/>
              <a:ext cx="7531182" cy="2120439"/>
              <a:chOff x="-4470427" y="11016658"/>
              <a:chExt cx="3470785" cy="974220"/>
            </a:xfrm>
          </p:grpSpPr>
          <p:grpSp>
            <p:nvGrpSpPr>
              <p:cNvPr id="46" name="Group 45"/>
              <p:cNvGrpSpPr/>
              <p:nvPr userDrawn="1"/>
            </p:nvGrpSpPr>
            <p:grpSpPr>
              <a:xfrm>
                <a:off x="-2783495" y="11060886"/>
                <a:ext cx="624431" cy="893535"/>
                <a:chOff x="-3958697" y="11117435"/>
                <a:chExt cx="779338" cy="1280430"/>
              </a:xfrm>
            </p:grpSpPr>
            <p:pic>
              <p:nvPicPr>
                <p:cNvPr id="52" name="Picture 51"/>
                <p:cNvPicPr>
                  <a:picLocks noChangeAspect="1"/>
                </p:cNvPicPr>
                <p:nvPr userDrawn="1"/>
              </p:nvPicPr>
              <p:blipFill>
                <a:blip r:embed="rId5"/>
                <a:stretch>
                  <a:fillRect/>
                </a:stretch>
              </p:blipFill>
              <p:spPr>
                <a:xfrm>
                  <a:off x="-3948160" y="11117435"/>
                  <a:ext cx="768801" cy="1090857"/>
                </a:xfrm>
                <a:prstGeom prst="rect">
                  <a:avLst/>
                </a:prstGeom>
              </p:spPr>
            </p:pic>
            <p:sp>
              <p:nvSpPr>
                <p:cNvPr id="53" name="TextBox 52"/>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47" name="Group 46"/>
              <p:cNvGrpSpPr/>
              <p:nvPr userDrawn="1"/>
            </p:nvGrpSpPr>
            <p:grpSpPr>
              <a:xfrm>
                <a:off x="-2033159" y="11060889"/>
                <a:ext cx="1033517" cy="893529"/>
                <a:chOff x="-2921738" y="11200127"/>
                <a:chExt cx="1420279" cy="1227904"/>
              </a:xfrm>
            </p:grpSpPr>
            <p:pic>
              <p:nvPicPr>
                <p:cNvPr id="50" name="Picture 49"/>
                <p:cNvPicPr>
                  <a:picLocks noChangeAspect="1"/>
                </p:cNvPicPr>
                <p:nvPr userDrawn="1"/>
              </p:nvPicPr>
              <p:blipFill>
                <a:blip r:embed="rId5"/>
                <a:stretch>
                  <a:fillRect/>
                </a:stretch>
              </p:blipFill>
              <p:spPr>
                <a:xfrm>
                  <a:off x="-2921738" y="11200127"/>
                  <a:ext cx="1420279" cy="1029694"/>
                </a:xfrm>
                <a:prstGeom prst="rect">
                  <a:avLst/>
                </a:prstGeom>
              </p:spPr>
            </p:pic>
            <p:sp>
              <p:nvSpPr>
                <p:cNvPr id="51" name="TextBox 50"/>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48" name="Picture 47"/>
              <p:cNvPicPr>
                <a:picLocks noChangeAspect="1"/>
              </p:cNvPicPr>
              <p:nvPr userDrawn="1"/>
            </p:nvPicPr>
            <p:blipFill>
              <a:blip r:embed="rId6"/>
              <a:stretch>
                <a:fillRect/>
              </a:stretch>
            </p:blipFill>
            <p:spPr>
              <a:xfrm>
                <a:off x="-4470427" y="11016658"/>
                <a:ext cx="1098742" cy="847761"/>
              </a:xfrm>
              <a:prstGeom prst="rect">
                <a:avLst/>
              </a:prstGeom>
            </p:spPr>
          </p:pic>
          <p:sp>
            <p:nvSpPr>
              <p:cNvPr id="49" name="TextBox 48"/>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39" name="Group 38"/>
            <p:cNvGrpSpPr/>
            <p:nvPr userDrawn="1"/>
          </p:nvGrpSpPr>
          <p:grpSpPr>
            <a:xfrm>
              <a:off x="-10398793" y="27751410"/>
              <a:ext cx="9323012" cy="2453251"/>
              <a:chOff x="-4754996" y="12734136"/>
              <a:chExt cx="4296559" cy="1127128"/>
            </a:xfrm>
          </p:grpSpPr>
          <p:graphicFrame>
            <p:nvGraphicFramePr>
              <p:cNvPr id="41" name="Object 40"/>
              <p:cNvGraphicFramePr>
                <a:graphicFrameLocks noChangeAspect="1"/>
              </p:cNvGraphicFramePr>
              <p:nvPr userDrawn="1">
                <p:extLst>
                  <p:ext uri="{D42A27DB-BD31-4B8C-83A1-F6EECF244321}">
                    <p14:modId xmlns:p14="http://schemas.microsoft.com/office/powerpoint/2010/main" val="2923600614"/>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7" imgW="1828440" imgH="1117440" progId="Photoshop.Image.13">
                      <p:embed/>
                    </p:oleObj>
                  </mc:Choice>
                  <mc:Fallback>
                    <p:oleObj name="Image" r:id="rId7" imgW="1828440" imgH="1117440" progId="Photoshop.Image.13">
                      <p:embed/>
                      <p:pic>
                        <p:nvPicPr>
                          <p:cNvPr id="0" name=""/>
                          <p:cNvPicPr/>
                          <p:nvPr/>
                        </p:nvPicPr>
                        <p:blipFill>
                          <a:blip r:embed="rId8"/>
                          <a:stretch>
                            <a:fillRect/>
                          </a:stretch>
                        </p:blipFill>
                        <p:spPr>
                          <a:xfrm>
                            <a:off x="-4533347" y="12734142"/>
                            <a:ext cx="1828800" cy="1117600"/>
                          </a:xfrm>
                          <a:prstGeom prst="rect">
                            <a:avLst/>
                          </a:prstGeom>
                        </p:spPr>
                      </p:pic>
                    </p:oleObj>
                  </mc:Fallback>
                </mc:AlternateContent>
              </a:graphicData>
            </a:graphic>
          </p:graphicFrame>
          <p:graphicFrame>
            <p:nvGraphicFramePr>
              <p:cNvPr id="43" name="Object 42"/>
              <p:cNvGraphicFramePr>
                <a:graphicFrameLocks noChangeAspect="1"/>
              </p:cNvGraphicFramePr>
              <p:nvPr userDrawn="1">
                <p:extLst>
                  <p:ext uri="{D42A27DB-BD31-4B8C-83A1-F6EECF244321}">
                    <p14:modId xmlns:p14="http://schemas.microsoft.com/office/powerpoint/2010/main" val="3743875991"/>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9" imgW="1828440" imgH="1117440" progId="Photoshop.Image.13">
                      <p:embed/>
                    </p:oleObj>
                  </mc:Choice>
                  <mc:Fallback>
                    <p:oleObj name="Image" r:id="rId9" imgW="1828440" imgH="1117440" progId="Photoshop.Image.13">
                      <p:embed/>
                      <p:pic>
                        <p:nvPicPr>
                          <p:cNvPr id="0" name=""/>
                          <p:cNvPicPr/>
                          <p:nvPr/>
                        </p:nvPicPr>
                        <p:blipFill>
                          <a:blip r:embed="rId10"/>
                          <a:stretch>
                            <a:fillRect/>
                          </a:stretch>
                        </p:blipFill>
                        <p:spPr>
                          <a:xfrm>
                            <a:off x="-2456641" y="12737835"/>
                            <a:ext cx="1828800" cy="1117600"/>
                          </a:xfrm>
                          <a:prstGeom prst="rect">
                            <a:avLst/>
                          </a:prstGeom>
                        </p:spPr>
                      </p:pic>
                    </p:oleObj>
                  </mc:Fallback>
                </mc:AlternateContent>
              </a:graphicData>
            </a:graphic>
          </p:graphicFrame>
          <p:sp>
            <p:nvSpPr>
              <p:cNvPr id="44" name="TextBox 43"/>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45" name="TextBox 44"/>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grpSp>
        <p:nvGrpSpPr>
          <p:cNvPr id="54" name="Group 53"/>
          <p:cNvGrpSpPr/>
          <p:nvPr userDrawn="1"/>
        </p:nvGrpSpPr>
        <p:grpSpPr>
          <a:xfrm>
            <a:off x="44157839" y="-55065"/>
            <a:ext cx="11062139" cy="32973465"/>
            <a:chOff x="44157839" y="-55065"/>
            <a:chExt cx="11062139" cy="32973465"/>
          </a:xfrm>
        </p:grpSpPr>
        <p:sp>
          <p:nvSpPr>
            <p:cNvPr id="55" name="Rectangle 5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56" name="Object 5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11" imgW="4571280" imgH="1688760" progId="Photoshop.Image.13">
                    <p:embed/>
                  </p:oleObj>
                </mc:Choice>
                <mc:Fallback>
                  <p:oleObj name="Image" r:id="rId11" imgW="4571280" imgH="1688760" progId="Photoshop.Image.13">
                    <p:embed/>
                    <p:pic>
                      <p:nvPicPr>
                        <p:cNvPr id="0" name=""/>
                        <p:cNvPicPr/>
                        <p:nvPr/>
                      </p:nvPicPr>
                      <p:blipFill>
                        <a:blip r:embed="rId12"/>
                        <a:stretch>
                          <a:fillRect/>
                        </a:stretch>
                      </p:blipFill>
                      <p:spPr>
                        <a:xfrm>
                          <a:off x="46915679" y="3349444"/>
                          <a:ext cx="5586150" cy="2063772"/>
                        </a:xfrm>
                        <a:prstGeom prst="rect">
                          <a:avLst/>
                        </a:prstGeom>
                      </p:spPr>
                    </p:pic>
                  </p:oleObj>
                </mc:Fallback>
              </mc:AlternateContent>
            </a:graphicData>
          </a:graphic>
        </p:graphicFrame>
        <p:pic>
          <p:nvPicPr>
            <p:cNvPr id="57" name="Picture 56"/>
            <p:cNvPicPr>
              <a:picLocks noChangeAspect="1"/>
            </p:cNvPicPr>
            <p:nvPr userDrawn="1"/>
          </p:nvPicPr>
          <p:blipFill>
            <a:blip r:embed="rId13"/>
            <a:stretch>
              <a:fillRect/>
            </a:stretch>
          </p:blipFill>
          <p:spPr>
            <a:xfrm>
              <a:off x="44621819" y="7740040"/>
              <a:ext cx="2969584" cy="1370577"/>
            </a:xfrm>
            <a:prstGeom prst="rect">
              <a:avLst/>
            </a:prstGeom>
            <a:ln>
              <a:noFill/>
            </a:ln>
          </p:spPr>
        </p:pic>
        <p:graphicFrame>
          <p:nvGraphicFramePr>
            <p:cNvPr id="58" name="Object 5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14" imgW="1574280" imgH="1053720" progId="Photoshop.Image.13">
                    <p:embed/>
                  </p:oleObj>
                </mc:Choice>
                <mc:Fallback>
                  <p:oleObj name="Image" r:id="rId14" imgW="1574280" imgH="1053720" progId="Photoshop.Image.13">
                    <p:embed/>
                    <p:pic>
                      <p:nvPicPr>
                        <p:cNvPr id="0" name=""/>
                        <p:cNvPicPr/>
                        <p:nvPr/>
                      </p:nvPicPr>
                      <p:blipFill>
                        <a:blip r:embed="rId15"/>
                        <a:stretch>
                          <a:fillRect/>
                        </a:stretch>
                      </p:blipFill>
                      <p:spPr>
                        <a:xfrm>
                          <a:off x="44629619" y="12347263"/>
                          <a:ext cx="1482266" cy="992162"/>
                        </a:xfrm>
                        <a:prstGeom prst="rect">
                          <a:avLst/>
                        </a:prstGeom>
                      </p:spPr>
                    </p:pic>
                  </p:oleObj>
                </mc:Fallback>
              </mc:AlternateContent>
            </a:graphicData>
          </a:graphic>
        </p:graphicFrame>
        <p:grpSp>
          <p:nvGrpSpPr>
            <p:cNvPr id="59" name="Group 58"/>
            <p:cNvGrpSpPr/>
            <p:nvPr userDrawn="1"/>
          </p:nvGrpSpPr>
          <p:grpSpPr>
            <a:xfrm>
              <a:off x="44487207" y="29414560"/>
              <a:ext cx="10354213" cy="1265612"/>
              <a:chOff x="44200453" y="28362386"/>
              <a:chExt cx="9771399" cy="1090622"/>
            </a:xfrm>
          </p:grpSpPr>
          <p:sp>
            <p:nvSpPr>
              <p:cNvPr id="61" name="Rounded Rectangle 6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2" name="Picture 7" descr="http://t2.gstatic.com/images?q=tbn:ANd9GcR4APHC6TT9w54M2zn_pvCiBxUNcspYPoVxirLRphBoJabfSvu7zw">
                <a:hlinkClick r:id="rId16"/>
              </p:cNvPr>
              <p:cNvPicPr>
                <a:picLocks noChangeAspect="1" noChangeArrowheads="1"/>
              </p:cNvPicPr>
              <p:nvPr userDrawn="1"/>
            </p:nvPicPr>
            <p:blipFill>
              <a:blip r:embed="rId17" cstate="print"/>
              <a:srcRect/>
              <a:stretch>
                <a:fillRect/>
              </a:stretch>
            </p:blipFill>
            <p:spPr bwMode="auto">
              <a:xfrm>
                <a:off x="44326393" y="28460718"/>
                <a:ext cx="914401" cy="914399"/>
              </a:xfrm>
              <a:prstGeom prst="rect">
                <a:avLst/>
              </a:prstGeom>
              <a:noFill/>
              <a:ln>
                <a:noFill/>
              </a:ln>
            </p:spPr>
          </p:pic>
          <p:sp>
            <p:nvSpPr>
              <p:cNvPr id="63" name="TextBox 6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60" name="TextBox 5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spTree>
  </p:cSld>
  <p:clrMap bg1="lt1" tx1="dk1" bg2="lt2" tx2="dk2" accent1="accent1" accent2="accent2" accent3="accent3" accent4="accent4" accent5="accent5" accent6="accent6" hlink="hlink" folHlink="folHlink"/>
  <p:sldLayoutIdLst>
    <p:sldLayoutId id="2147483652"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cxnSp>
        <p:nvCxnSpPr>
          <p:cNvPr id="38" name="Straight Connector 37"/>
          <p:cNvCxnSpPr/>
          <p:nvPr/>
        </p:nvCxnSpPr>
        <p:spPr>
          <a:xfrm flipV="1">
            <a:off x="-13946601" y="11526118"/>
            <a:ext cx="13577436" cy="818"/>
          </a:xfrm>
          <a:prstGeom prst="line">
            <a:avLst/>
          </a:prstGeom>
          <a:ln>
            <a:solidFill>
              <a:schemeClr val="bg1">
                <a:lumMod val="95000"/>
              </a:schemeClr>
            </a:solidFill>
          </a:ln>
        </p:spPr>
        <p:style>
          <a:lnRef idx="1">
            <a:schemeClr val="accent1"/>
          </a:lnRef>
          <a:fillRef idx="0">
            <a:schemeClr val="accent1"/>
          </a:fillRef>
          <a:effectRef idx="0">
            <a:schemeClr val="accent1"/>
          </a:effectRef>
          <a:fontRef idx="minor">
            <a:schemeClr val="tx1"/>
          </a:fontRef>
        </p:style>
      </p:cxnSp>
      <p:sp>
        <p:nvSpPr>
          <p:cNvPr id="21" name="Rounded Rectangle 20"/>
          <p:cNvSpPr/>
          <p:nvPr userDrawn="1"/>
        </p:nvSpPr>
        <p:spPr>
          <a:xfrm>
            <a:off x="922338"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userDrawn="1"/>
        </p:nvSpPr>
        <p:spPr>
          <a:xfrm>
            <a:off x="15154504" y="5392017"/>
            <a:ext cx="13577436" cy="26736675"/>
          </a:xfrm>
          <a:prstGeom prst="roundRect">
            <a:avLst>
              <a:gd name="adj" fmla="val 3524"/>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29386670" y="5392017"/>
            <a:ext cx="13577436" cy="26736675"/>
          </a:xfrm>
          <a:prstGeom prst="roundRect">
            <a:avLst>
              <a:gd name="adj" fmla="val 3290"/>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4" name="Group 43"/>
          <p:cNvGrpSpPr/>
          <p:nvPr userDrawn="1"/>
        </p:nvGrpSpPr>
        <p:grpSpPr>
          <a:xfrm>
            <a:off x="44157839" y="-55065"/>
            <a:ext cx="11062139" cy="32973465"/>
            <a:chOff x="44157839" y="-55065"/>
            <a:chExt cx="11062139" cy="32973465"/>
          </a:xfrm>
        </p:grpSpPr>
        <p:sp>
          <p:nvSpPr>
            <p:cNvPr id="45" name="Rectangle 44"/>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6" name="Object 45"/>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0" name=""/>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7" name="Picture 46"/>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8" name="Object 47"/>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0" name=""/>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9" name="Group 48"/>
            <p:cNvGrpSpPr/>
            <p:nvPr userDrawn="1"/>
          </p:nvGrpSpPr>
          <p:grpSpPr>
            <a:xfrm>
              <a:off x="44487207" y="29414560"/>
              <a:ext cx="10354213" cy="1265612"/>
              <a:chOff x="44200453" y="28362386"/>
              <a:chExt cx="9771399" cy="1090622"/>
            </a:xfrm>
          </p:grpSpPr>
          <p:sp>
            <p:nvSpPr>
              <p:cNvPr id="51" name="Rounded Rectangle 50"/>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2"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3" name="TextBox 52"/>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50" name="TextBox 49"/>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4" name="Group 53"/>
          <p:cNvGrpSpPr/>
          <p:nvPr userDrawn="1"/>
        </p:nvGrpSpPr>
        <p:grpSpPr>
          <a:xfrm>
            <a:off x="-11225189" y="-1"/>
            <a:ext cx="11018865" cy="32918401"/>
            <a:chOff x="-11225189" y="-1"/>
            <a:chExt cx="11018865" cy="32918401"/>
          </a:xfrm>
        </p:grpSpPr>
        <p:sp>
          <p:nvSpPr>
            <p:cNvPr id="55" name="Rectangle 54"/>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6" name="Straight Connector 55"/>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7" name="Picture 56"/>
            <p:cNvPicPr>
              <a:picLocks noChangeAspect="1"/>
            </p:cNvPicPr>
            <p:nvPr userDrawn="1"/>
          </p:nvPicPr>
          <p:blipFill>
            <a:blip r:embed="rId10"/>
            <a:stretch>
              <a:fillRect/>
            </a:stretch>
          </p:blipFill>
          <p:spPr>
            <a:xfrm>
              <a:off x="-10740740" y="10261718"/>
              <a:ext cx="1597666" cy="1201935"/>
            </a:xfrm>
            <a:prstGeom prst="rect">
              <a:avLst/>
            </a:prstGeom>
          </p:spPr>
        </p:pic>
        <p:pic>
          <p:nvPicPr>
            <p:cNvPr id="58" name="Picture 57"/>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9" name="Group 58"/>
            <p:cNvGrpSpPr/>
            <p:nvPr userDrawn="1"/>
          </p:nvGrpSpPr>
          <p:grpSpPr>
            <a:xfrm>
              <a:off x="-9744993" y="23540957"/>
              <a:ext cx="7531182" cy="2120439"/>
              <a:chOff x="-4470427" y="11016658"/>
              <a:chExt cx="3470785" cy="974220"/>
            </a:xfrm>
          </p:grpSpPr>
          <p:grpSp>
            <p:nvGrpSpPr>
              <p:cNvPr id="65" name="Group 64"/>
              <p:cNvGrpSpPr/>
              <p:nvPr userDrawn="1"/>
            </p:nvGrpSpPr>
            <p:grpSpPr>
              <a:xfrm>
                <a:off x="-2783495" y="11060886"/>
                <a:ext cx="624431" cy="893535"/>
                <a:chOff x="-3958697" y="11117435"/>
                <a:chExt cx="779338" cy="1280430"/>
              </a:xfrm>
            </p:grpSpPr>
            <p:pic>
              <p:nvPicPr>
                <p:cNvPr id="71" name="Picture 70"/>
                <p:cNvPicPr>
                  <a:picLocks noChangeAspect="1"/>
                </p:cNvPicPr>
                <p:nvPr userDrawn="1"/>
              </p:nvPicPr>
              <p:blipFill>
                <a:blip r:embed="rId12"/>
                <a:stretch>
                  <a:fillRect/>
                </a:stretch>
              </p:blipFill>
              <p:spPr>
                <a:xfrm>
                  <a:off x="-3948160" y="11117435"/>
                  <a:ext cx="768801" cy="1090857"/>
                </a:xfrm>
                <a:prstGeom prst="rect">
                  <a:avLst/>
                </a:prstGeom>
              </p:spPr>
            </p:pic>
            <p:sp>
              <p:nvSpPr>
                <p:cNvPr id="72" name="TextBox 71"/>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6" name="Group 65"/>
              <p:cNvGrpSpPr/>
              <p:nvPr userDrawn="1"/>
            </p:nvGrpSpPr>
            <p:grpSpPr>
              <a:xfrm>
                <a:off x="-2033159" y="11060889"/>
                <a:ext cx="1033517" cy="893529"/>
                <a:chOff x="-2921738" y="11200127"/>
                <a:chExt cx="1420279" cy="1227904"/>
              </a:xfrm>
            </p:grpSpPr>
            <p:pic>
              <p:nvPicPr>
                <p:cNvPr id="69" name="Picture 68"/>
                <p:cNvPicPr>
                  <a:picLocks noChangeAspect="1"/>
                </p:cNvPicPr>
                <p:nvPr userDrawn="1"/>
              </p:nvPicPr>
              <p:blipFill>
                <a:blip r:embed="rId12"/>
                <a:stretch>
                  <a:fillRect/>
                </a:stretch>
              </p:blipFill>
              <p:spPr>
                <a:xfrm>
                  <a:off x="-2921738" y="11200127"/>
                  <a:ext cx="1420279" cy="1029694"/>
                </a:xfrm>
                <a:prstGeom prst="rect">
                  <a:avLst/>
                </a:prstGeom>
              </p:spPr>
            </p:pic>
            <p:sp>
              <p:nvSpPr>
                <p:cNvPr id="70" name="TextBox 69"/>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7" name="Picture 66"/>
              <p:cNvPicPr>
                <a:picLocks noChangeAspect="1"/>
              </p:cNvPicPr>
              <p:nvPr userDrawn="1"/>
            </p:nvPicPr>
            <p:blipFill>
              <a:blip r:embed="rId13"/>
              <a:stretch>
                <a:fillRect/>
              </a:stretch>
            </p:blipFill>
            <p:spPr>
              <a:xfrm>
                <a:off x="-4470427" y="11016658"/>
                <a:ext cx="1098742" cy="847761"/>
              </a:xfrm>
              <a:prstGeom prst="rect">
                <a:avLst/>
              </a:prstGeom>
            </p:spPr>
          </p:pic>
          <p:sp>
            <p:nvSpPr>
              <p:cNvPr id="68" name="TextBox 67"/>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60" name="Group 59"/>
            <p:cNvGrpSpPr/>
            <p:nvPr userDrawn="1"/>
          </p:nvGrpSpPr>
          <p:grpSpPr>
            <a:xfrm>
              <a:off x="-10398793" y="27751410"/>
              <a:ext cx="9323012" cy="2453251"/>
              <a:chOff x="-4754996" y="12734136"/>
              <a:chExt cx="4296559" cy="1127128"/>
            </a:xfrm>
          </p:grpSpPr>
          <p:graphicFrame>
            <p:nvGraphicFramePr>
              <p:cNvPr id="61" name="Object 60"/>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0" name=""/>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2" name="Object 61"/>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0" name=""/>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3" name="TextBox 62"/>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4" name="TextBox 63"/>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40"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8"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gradFill flip="none" rotWithShape="1">
          <a:gsLst>
            <a:gs pos="0">
              <a:schemeClr val="accent5">
                <a:lumMod val="50000"/>
              </a:schemeClr>
            </a:gs>
            <a:gs pos="34000">
              <a:schemeClr val="tx2">
                <a:lumMod val="40000"/>
                <a:lumOff val="60000"/>
              </a:schemeClr>
            </a:gs>
            <a:gs pos="100000">
              <a:schemeClr val="accent5">
                <a:lumMod val="20000"/>
                <a:lumOff val="80000"/>
              </a:schemeClr>
            </a:gs>
          </a:gsLst>
          <a:lin ang="16200000" scaled="1"/>
          <a:tileRect/>
        </a:gradFill>
        <a:effectLst/>
      </p:bgPr>
    </p:bg>
    <p:spTree>
      <p:nvGrpSpPr>
        <p:cNvPr id="1" name=""/>
        <p:cNvGrpSpPr/>
        <p:nvPr/>
      </p:nvGrpSpPr>
      <p:grpSpPr>
        <a:xfrm>
          <a:off x="0" y="0"/>
          <a:ext cx="0" cy="0"/>
          <a:chOff x="0" y="0"/>
          <a:chExt cx="0" cy="0"/>
        </a:xfrm>
      </p:grpSpPr>
      <p:sp>
        <p:nvSpPr>
          <p:cNvPr id="7" name="Rectangle 36"/>
          <p:cNvSpPr>
            <a:spLocks noChangeArrowheads="1"/>
          </p:cNvSpPr>
          <p:nvPr/>
        </p:nvSpPr>
        <p:spPr bwMode="auto">
          <a:xfrm>
            <a:off x="0" y="0"/>
            <a:ext cx="43891200" cy="4800600"/>
          </a:xfrm>
          <a:prstGeom prst="rect">
            <a:avLst/>
          </a:prstGeom>
          <a:solidFill>
            <a:schemeClr val="accent5">
              <a:lumMod val="75000"/>
            </a:schemeClr>
          </a:solidFill>
          <a:ln w="9525">
            <a:solidFill>
              <a:schemeClr val="tx1"/>
            </a:solidFill>
            <a:miter lim="800000"/>
            <a:headEnd/>
            <a:tailEnd/>
          </a:ln>
          <a:effectLst/>
        </p:spPr>
        <p:txBody>
          <a:bodyPr wrap="none" lIns="91436" tIns="45717" rIns="91436" bIns="45717" anchor="ctr"/>
          <a:lstStyle/>
          <a:p>
            <a:pPr>
              <a:defRPr/>
            </a:pPr>
            <a:endParaRPr lang="en-US" dirty="0"/>
          </a:p>
        </p:txBody>
      </p:sp>
      <p:sp>
        <p:nvSpPr>
          <p:cNvPr id="9" name="Rectangle 9"/>
          <p:cNvSpPr>
            <a:spLocks noChangeArrowheads="1"/>
          </p:cNvSpPr>
          <p:nvPr/>
        </p:nvSpPr>
        <p:spPr bwMode="auto">
          <a:xfrm>
            <a:off x="0" y="4805363"/>
            <a:ext cx="43891200" cy="152400"/>
          </a:xfrm>
          <a:prstGeom prst="rect">
            <a:avLst/>
          </a:prstGeom>
          <a:solidFill>
            <a:schemeClr val="accent5">
              <a:lumMod val="50000"/>
            </a:schemeClr>
          </a:solidFill>
          <a:ln w="152400">
            <a:noFill/>
            <a:miter lim="800000"/>
            <a:headEnd/>
            <a:tailEnd/>
          </a:ln>
          <a:effectLst/>
        </p:spPr>
        <p:txBody>
          <a:bodyPr wrap="none" lIns="91436" tIns="45717" rIns="91436" bIns="45717" anchor="ctr"/>
          <a:lstStyle/>
          <a:p>
            <a:pPr>
              <a:defRPr/>
            </a:pPr>
            <a:endParaRPr lang="en-US" dirty="0"/>
          </a:p>
        </p:txBody>
      </p:sp>
      <p:sp>
        <p:nvSpPr>
          <p:cNvPr id="21" name="Rounded Rectangle 20"/>
          <p:cNvSpPr/>
          <p:nvPr userDrawn="1"/>
        </p:nvSpPr>
        <p:spPr>
          <a:xfrm>
            <a:off x="922338"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ounded Rectangle 21"/>
          <p:cNvSpPr/>
          <p:nvPr userDrawn="1"/>
        </p:nvSpPr>
        <p:spPr>
          <a:xfrm>
            <a:off x="32918400" y="5257800"/>
            <a:ext cx="10050462" cy="26736675"/>
          </a:xfrm>
          <a:prstGeom prst="roundRect">
            <a:avLst>
              <a:gd name="adj" fmla="val 5862"/>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ounded Rectangle 22"/>
          <p:cNvSpPr/>
          <p:nvPr userDrawn="1"/>
        </p:nvSpPr>
        <p:spPr>
          <a:xfrm>
            <a:off x="11583194" y="5267325"/>
            <a:ext cx="20724813" cy="26736675"/>
          </a:xfrm>
          <a:prstGeom prst="roundRect">
            <a:avLst>
              <a:gd name="adj" fmla="val 2853"/>
            </a:avLst>
          </a:prstGeom>
          <a:gradFill>
            <a:gsLst>
              <a:gs pos="0">
                <a:srgbClr val="CDD2DE"/>
              </a:gs>
              <a:gs pos="0">
                <a:schemeClr val="tx2">
                  <a:lumMod val="40000"/>
                  <a:lumOff val="60000"/>
                </a:schemeClr>
              </a:gs>
              <a:gs pos="100000">
                <a:srgbClr val="F3F5FA"/>
              </a:gs>
            </a:gsLst>
            <a:lin ang="16200000" scaled="1"/>
          </a:gradFill>
          <a:ln>
            <a:solidFill>
              <a:schemeClr val="accent5">
                <a:lumMod val="50000"/>
                <a:alpha val="58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3" name="Group 42"/>
          <p:cNvGrpSpPr/>
          <p:nvPr userDrawn="1"/>
        </p:nvGrpSpPr>
        <p:grpSpPr>
          <a:xfrm>
            <a:off x="44157839" y="-55065"/>
            <a:ext cx="11062139" cy="32973465"/>
            <a:chOff x="44157839" y="-55065"/>
            <a:chExt cx="11062139" cy="32973465"/>
          </a:xfrm>
        </p:grpSpPr>
        <p:sp>
          <p:nvSpPr>
            <p:cNvPr id="44" name="Rectangle 43"/>
            <p:cNvSpPr/>
            <p:nvPr userDrawn="1"/>
          </p:nvSpPr>
          <p:spPr>
            <a:xfrm>
              <a:off x="44157839" y="-55065"/>
              <a:ext cx="11062139" cy="32973465"/>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algn="ctr"/>
              <a:r>
                <a:rPr lang="en-US" sz="4000" b="1" spc="600" dirty="0">
                  <a:solidFill>
                    <a:schemeClr val="bg1"/>
                  </a:solidFill>
                  <a:latin typeface="Trebuchet MS" pitchFamily="34" charset="0"/>
                </a:rPr>
                <a:t>QUICK START (cont.)</a:t>
              </a:r>
            </a:p>
            <a:p>
              <a:pPr algn="ctr"/>
              <a:endParaRPr lang="en-US" sz="36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How to change the template color theme</a:t>
              </a:r>
            </a:p>
            <a:p>
              <a:pPr marL="0" marR="0" lvl="2" indent="0" algn="l" defTabSz="114300"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You can easily change the color theme of your poster by going to the DESIGN menu, click on COLORS, and choose the color theme of your choice. You can </a:t>
              </a:r>
              <a:r>
                <a:rPr lang="en-US" sz="2400" b="0" spc="0" baseline="0" dirty="0">
                  <a:solidFill>
                    <a:schemeClr val="bg1">
                      <a:lumMod val="75000"/>
                    </a:schemeClr>
                  </a:solidFill>
                  <a:latin typeface="Trebuchet MS" pitchFamily="34" charset="0"/>
                </a:rPr>
                <a:t>also create your own color theme.</a:t>
              </a:r>
            </a:p>
            <a:p>
              <a:pPr marL="0" marR="0" lvl="2"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endParaRPr lang="en-US" sz="2400" b="0" baseline="0" dirty="0">
                <a:solidFill>
                  <a:schemeClr val="bg1">
                    <a:lumMod val="75000"/>
                  </a:schemeClr>
                </a:solidFill>
                <a:latin typeface="Trebuchet MS" pitchFamily="34" charset="0"/>
              </a:endParaRPr>
            </a:p>
            <a:p>
              <a:pPr marL="0" indent="0" algn="l" defTabSz="114300"/>
              <a:r>
                <a:rPr lang="en-US" sz="2400" b="0" baseline="0" dirty="0">
                  <a:solidFill>
                    <a:schemeClr val="bg1">
                      <a:lumMod val="75000"/>
                    </a:schemeClr>
                  </a:solidFill>
                  <a:latin typeface="Trebuchet MS" pitchFamily="34" charset="0"/>
                </a:rPr>
                <a:t>You can also manually change the color of your background by going to VIEW &gt; SLIDE MASTER.  After you finish working on the master be sure to go to VIEW &gt; NORMAL to continue working on your poster.</a:t>
              </a:r>
            </a:p>
            <a:p>
              <a:pPr marL="0"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Text</a:t>
              </a:r>
            </a:p>
            <a:p>
              <a:pPr marL="3265488" lvl="2" indent="0" algn="l" defTabSz="114300"/>
              <a:r>
                <a:rPr lang="en-US" sz="2400" b="0" baseline="0" dirty="0">
                  <a:solidFill>
                    <a:schemeClr val="bg1">
                      <a:lumMod val="75000"/>
                    </a:schemeClr>
                  </a:solidFill>
                  <a:latin typeface="Trebuchet MS" pitchFamily="34" charset="0"/>
                </a:rPr>
                <a:t>The template comes with a number of pre-formatted placeholders for headers and text blocks. You can add more blocks by copying and pasting the existing ones or by adding a text box from the HOME menu. </a:t>
              </a:r>
            </a:p>
            <a:p>
              <a:pPr marL="1518341" lvl="2"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lang="en-US" sz="2400" b="0" baseline="0" dirty="0">
                  <a:solidFill>
                    <a:schemeClr val="bg1">
                      <a:lumMod val="75000"/>
                    </a:schemeClr>
                  </a:solidFill>
                  <a:latin typeface="Trebuchet MS" pitchFamily="34" charset="0"/>
                </a:rPr>
                <a:t> </a:t>
              </a:r>
              <a:r>
                <a:rPr kumimoji="0" lang="en-US" sz="3200" b="1" i="0" u="none" strike="noStrike" kern="1200" cap="none" spc="0" normalizeH="0" baseline="0" noProof="0" dirty="0">
                  <a:ln>
                    <a:noFill/>
                  </a:ln>
                  <a:solidFill>
                    <a:srgbClr val="FFC000"/>
                  </a:solidFill>
                  <a:effectLst/>
                  <a:uLnTx/>
                  <a:uFillTx/>
                  <a:latin typeface="Trebuchet MS" pitchFamily="34" charset="0"/>
                </a:rPr>
                <a:t>Text size</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Adjust the size of your text based on how much content you have to present. The default template text offers a good starting point. Follow the conference requirements.</a:t>
              </a:r>
              <a:endParaRPr lang="en-US" sz="2400" b="0" baseline="0" dirty="0">
                <a:solidFill>
                  <a:schemeClr val="bg1">
                    <a:lumMod val="75000"/>
                  </a:schemeClr>
                </a:solidFill>
                <a:latin typeface="Trebuchet MS" pitchFamily="34" charset="0"/>
              </a:endParaRPr>
            </a:p>
            <a:p>
              <a:pPr marL="1518341" lvl="2" indent="0" algn="l" defTabSz="114300"/>
              <a:endParaRPr lang="en-US" sz="2400" b="0" baseline="0" dirty="0">
                <a:solidFill>
                  <a:schemeClr val="bg1">
                    <a:lumMod val="75000"/>
                  </a:schemeClr>
                </a:solidFill>
                <a:latin typeface="Trebuchet MS" pitchFamily="34" charset="0"/>
              </a:endParaRPr>
            </a:p>
            <a:p>
              <a:pPr algn="ctr"/>
              <a:r>
                <a:rPr lang="en-US" sz="3200" b="1" baseline="0" dirty="0">
                  <a:solidFill>
                    <a:srgbClr val="FFC000"/>
                  </a:solidFill>
                  <a:latin typeface="Trebuchet MS" pitchFamily="34" charset="0"/>
                </a:rPr>
                <a:t>How to add Tables</a:t>
              </a:r>
            </a:p>
            <a:p>
              <a:pPr marL="1730375" lvl="1" indent="0" algn="l" defTabSz="114300"/>
              <a:r>
                <a:rPr lang="en-US" sz="2400" b="0" baseline="0" dirty="0">
                  <a:solidFill>
                    <a:schemeClr val="bg1">
                      <a:lumMod val="75000"/>
                    </a:schemeClr>
                  </a:solidFill>
                  <a:latin typeface="Trebuchet MS" pitchFamily="34" charset="0"/>
                </a:rPr>
                <a:t>To add a table from scratch go to the INSERT menu and </a:t>
              </a:r>
              <a:br>
                <a:rPr lang="en-US" sz="2400" b="0" baseline="0" dirty="0">
                  <a:solidFill>
                    <a:schemeClr val="bg1">
                      <a:lumMod val="75000"/>
                    </a:schemeClr>
                  </a:solidFill>
                  <a:latin typeface="Trebuchet MS" pitchFamily="34" charset="0"/>
                </a:rPr>
              </a:br>
              <a:r>
                <a:rPr lang="en-US" sz="2400" b="0" baseline="0" dirty="0">
                  <a:solidFill>
                    <a:schemeClr val="bg1">
                      <a:lumMod val="75000"/>
                    </a:schemeClr>
                  </a:solidFill>
                  <a:latin typeface="Trebuchet MS" pitchFamily="34" charset="0"/>
                </a:rPr>
                <a:t>click on TABLE. A drop-down box will help you select rows and columns. </a:t>
              </a:r>
            </a:p>
            <a:p>
              <a:pPr marL="0" lvl="0" indent="0" algn="l" defTabSz="114300"/>
              <a:r>
                <a:rPr lang="en-US" sz="2400" b="0" baseline="0" dirty="0">
                  <a:solidFill>
                    <a:schemeClr val="bg1">
                      <a:lumMod val="75000"/>
                    </a:schemeClr>
                  </a:solidFill>
                  <a:latin typeface="Trebuchet MS" pitchFamily="34" charset="0"/>
                </a:rPr>
                <a:t>You can also copy and a paste a table from Word or another PowerPoint document. A pasted table may need to be re-formatted by RIGHT-CLICK &gt; FORMAT SHAPE, TEXT BOX, Margins.</a:t>
              </a:r>
            </a:p>
            <a:p>
              <a:pPr marL="0" lvl="0" indent="0" algn="l" defTabSz="114300"/>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Graphs / Charts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You can simply copy and paste charts and graphs from Excel or Word. Some reformatting may be required depending on how the original document has been created.</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change the column configuration</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RIGHT-CLICK on the poster background and select LAYOUT to see the column options available for this template. The poster columns can also be customized on the Master. VIEW &gt; MASTER.</a:t>
              </a:r>
            </a:p>
            <a:p>
              <a:pPr marL="0" marR="0" lvl="0" indent="0" algn="ctr" defTabSz="1518341" rtl="0" eaLnBrk="1" fontAlgn="auto" latinLnBrk="0" hangingPunct="1">
                <a:lnSpc>
                  <a:spcPct val="100000"/>
                </a:lnSpc>
                <a:spcBef>
                  <a:spcPts val="0"/>
                </a:spcBef>
                <a:spcAft>
                  <a:spcPts val="0"/>
                </a:spcAft>
                <a:buClrTx/>
                <a:buSzTx/>
                <a:buFontTx/>
                <a:buNone/>
                <a:tabLst/>
                <a:defRPr/>
              </a:pPr>
              <a:endParaRPr kumimoji="0" lang="en-US" sz="3200" b="1" i="0" u="none" strike="noStrike" kern="1200" cap="none" spc="0" normalizeH="0" baseline="0" noProof="0" dirty="0">
                <a:ln>
                  <a:noFill/>
                </a:ln>
                <a:solidFill>
                  <a:srgbClr val="FFC000"/>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How to remove the info bars</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If you are working in PowerPoint for Windows and have finished your poster, save as PDF and the bars will not be included. You can also delete them by going to VIEW &gt; MASTER. On the Mac adjust the Page-Setup to match the Page-Setup in PowerPoint before you create a PDF. You can also delete them from the Slide Master.</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400" b="0" i="0" u="none" strike="noStrike" kern="1200" cap="none" spc="0" normalizeH="0" baseline="0" noProof="0" dirty="0">
                <a:ln>
                  <a:noFill/>
                </a:ln>
                <a:solidFill>
                  <a:prstClr val="white">
                    <a:lumMod val="75000"/>
                  </a:prstClr>
                </a:solidFill>
                <a:effectLst/>
                <a:uLnTx/>
                <a:uFillTx/>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Save your work</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Save your template as a PowerPoint document. For printing, save as PowerPoint or “Print-quality” PDF.</a:t>
              </a:r>
            </a:p>
            <a:p>
              <a:pPr marL="0" marR="0" lvl="0" indent="0" algn="l" defTabSz="114300" rtl="0" eaLnBrk="1" fontAlgn="auto" latinLnBrk="0" hangingPunct="1">
                <a:lnSpc>
                  <a:spcPct val="100000"/>
                </a:lnSpc>
                <a:spcBef>
                  <a:spcPts val="0"/>
                </a:spcBef>
                <a:spcAft>
                  <a:spcPts val="0"/>
                </a:spcAft>
                <a:buClrTx/>
                <a:buSzTx/>
                <a:buFontTx/>
                <a:buNone/>
                <a:tabLst/>
                <a:defRPr/>
              </a:pPr>
              <a:endParaRPr lang="en-US" sz="2400" b="0" baseline="0" dirty="0">
                <a:solidFill>
                  <a:schemeClr val="bg1">
                    <a:lumMod val="75000"/>
                  </a:schemeClr>
                </a:solidFill>
                <a:latin typeface="Trebuchet MS" pitchFamily="34" charset="0"/>
              </a:endParaRPr>
            </a:p>
            <a:p>
              <a:pPr marL="0" marR="0" lvl="0" indent="0" algn="ctr" defTabSz="1518341"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FC000"/>
                  </a:solidFill>
                  <a:effectLst/>
                  <a:uLnTx/>
                  <a:uFillTx/>
                  <a:latin typeface="Trebuchet MS" pitchFamily="34" charset="0"/>
                </a:rPr>
                <a:t>Print your poster</a:t>
              </a:r>
            </a:p>
            <a:p>
              <a:pPr marL="0" marR="0" lvl="0" indent="0" algn="l" defTabSz="1143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white">
                      <a:lumMod val="75000"/>
                    </a:prstClr>
                  </a:solidFill>
                  <a:effectLst/>
                  <a:uLnTx/>
                  <a:uFillTx/>
                  <a:latin typeface="Trebuchet MS" pitchFamily="34" charset="0"/>
                </a:rPr>
                <a:t>When you are ready to have your poster printed go online to PosterPresentations.com and click on the “Order Your Poster” button. Choose the poster type the best suits your needs and submit your order. If you submit a PowerPoint document you will be receiving a PDF proof for your approval prior to printing. If your order is placed and paid for before noon, Pacific, Monday through Friday, your order will ship out that same day. Next day, Second day, Third day, and Free Ground services are offered. Go to PosterPresentations.com for more information.</a:t>
              </a:r>
            </a:p>
            <a:p>
              <a:pPr marL="0" marR="0" lvl="0" indent="0" algn="l" defTabSz="114300" rtl="0" eaLnBrk="1" fontAlgn="auto" latinLnBrk="0" hangingPunct="1">
                <a:lnSpc>
                  <a:spcPct val="100000"/>
                </a:lnSpc>
                <a:spcBef>
                  <a:spcPts val="0"/>
                </a:spcBef>
                <a:spcAft>
                  <a:spcPts val="0"/>
                </a:spcAft>
                <a:buClrTx/>
                <a:buSzTx/>
                <a:buFontTx/>
                <a:buNone/>
                <a:tabLst/>
                <a:defRPr/>
              </a:pPr>
              <a:endParaRPr kumimoji="0" lang="en-US" sz="2800" b="0" i="0" u="none" strike="noStrike" kern="1200" cap="none" spc="0" normalizeH="0" baseline="0" noProof="0" dirty="0">
                <a:ln>
                  <a:noFill/>
                </a:ln>
                <a:solidFill>
                  <a:prstClr val="white">
                    <a:lumMod val="75000"/>
                  </a:prstClr>
                </a:solidFill>
                <a:effectLst/>
                <a:uLnTx/>
                <a:uFillTx/>
                <a:latin typeface="Trebuchet MS" pitchFamily="34" charset="0"/>
              </a:endParaRPr>
            </a:p>
          </p:txBody>
        </p:sp>
        <p:graphicFrame>
          <p:nvGraphicFramePr>
            <p:cNvPr id="45" name="Object 44"/>
            <p:cNvGraphicFramePr>
              <a:graphicFrameLocks noChangeAspect="1"/>
            </p:cNvGraphicFramePr>
            <p:nvPr userDrawn="1">
              <p:extLst>
                <p:ext uri="{D42A27DB-BD31-4B8C-83A1-F6EECF244321}">
                  <p14:modId xmlns:p14="http://schemas.microsoft.com/office/powerpoint/2010/main" val="262704017"/>
                </p:ext>
              </p:extLst>
            </p:nvPr>
          </p:nvGraphicFramePr>
          <p:xfrm>
            <a:off x="46915679" y="3349444"/>
            <a:ext cx="5586150" cy="2063772"/>
          </p:xfrm>
          <a:graphic>
            <a:graphicData uri="http://schemas.openxmlformats.org/presentationml/2006/ole">
              <mc:AlternateContent xmlns:mc="http://schemas.openxmlformats.org/markup-compatibility/2006">
                <mc:Choice xmlns:v="urn:schemas-microsoft-com:vml" Requires="v">
                  <p:oleObj name="Image" r:id="rId3" imgW="4571280" imgH="1688760" progId="Photoshop.Image.13">
                    <p:embed/>
                  </p:oleObj>
                </mc:Choice>
                <mc:Fallback>
                  <p:oleObj name="Image" r:id="rId3" imgW="4571280" imgH="1688760" progId="Photoshop.Image.13">
                    <p:embed/>
                    <p:pic>
                      <p:nvPicPr>
                        <p:cNvPr id="0" name=""/>
                        <p:cNvPicPr/>
                        <p:nvPr/>
                      </p:nvPicPr>
                      <p:blipFill>
                        <a:blip r:embed="rId4"/>
                        <a:stretch>
                          <a:fillRect/>
                        </a:stretch>
                      </p:blipFill>
                      <p:spPr>
                        <a:xfrm>
                          <a:off x="46915679" y="3349444"/>
                          <a:ext cx="5586150" cy="2063772"/>
                        </a:xfrm>
                        <a:prstGeom prst="rect">
                          <a:avLst/>
                        </a:prstGeom>
                      </p:spPr>
                    </p:pic>
                  </p:oleObj>
                </mc:Fallback>
              </mc:AlternateContent>
            </a:graphicData>
          </a:graphic>
        </p:graphicFrame>
        <p:pic>
          <p:nvPicPr>
            <p:cNvPr id="46" name="Picture 45"/>
            <p:cNvPicPr>
              <a:picLocks noChangeAspect="1"/>
            </p:cNvPicPr>
            <p:nvPr userDrawn="1"/>
          </p:nvPicPr>
          <p:blipFill>
            <a:blip r:embed="rId5"/>
            <a:stretch>
              <a:fillRect/>
            </a:stretch>
          </p:blipFill>
          <p:spPr>
            <a:xfrm>
              <a:off x="44621819" y="7740040"/>
              <a:ext cx="2969584" cy="1370577"/>
            </a:xfrm>
            <a:prstGeom prst="rect">
              <a:avLst/>
            </a:prstGeom>
            <a:ln>
              <a:noFill/>
            </a:ln>
          </p:spPr>
        </p:pic>
        <p:graphicFrame>
          <p:nvGraphicFramePr>
            <p:cNvPr id="47" name="Object 46"/>
            <p:cNvGraphicFramePr>
              <a:graphicFrameLocks noChangeAspect="1"/>
            </p:cNvGraphicFramePr>
            <p:nvPr userDrawn="1">
              <p:extLst>
                <p:ext uri="{D42A27DB-BD31-4B8C-83A1-F6EECF244321}">
                  <p14:modId xmlns:p14="http://schemas.microsoft.com/office/powerpoint/2010/main" val="2040245264"/>
                </p:ext>
              </p:extLst>
            </p:nvPr>
          </p:nvGraphicFramePr>
          <p:xfrm>
            <a:off x="44629619" y="12347263"/>
            <a:ext cx="1482266" cy="992162"/>
          </p:xfrm>
          <a:graphic>
            <a:graphicData uri="http://schemas.openxmlformats.org/presentationml/2006/ole">
              <mc:AlternateContent xmlns:mc="http://schemas.openxmlformats.org/markup-compatibility/2006">
                <mc:Choice xmlns:v="urn:schemas-microsoft-com:vml" Requires="v">
                  <p:oleObj name="Image" r:id="rId6" imgW="1574280" imgH="1053720" progId="Photoshop.Image.13">
                    <p:embed/>
                  </p:oleObj>
                </mc:Choice>
                <mc:Fallback>
                  <p:oleObj name="Image" r:id="rId6" imgW="1574280" imgH="1053720" progId="Photoshop.Image.13">
                    <p:embed/>
                    <p:pic>
                      <p:nvPicPr>
                        <p:cNvPr id="0" name=""/>
                        <p:cNvPicPr/>
                        <p:nvPr/>
                      </p:nvPicPr>
                      <p:blipFill>
                        <a:blip r:embed="rId7"/>
                        <a:stretch>
                          <a:fillRect/>
                        </a:stretch>
                      </p:blipFill>
                      <p:spPr>
                        <a:xfrm>
                          <a:off x="44629619" y="12347263"/>
                          <a:ext cx="1482266" cy="992162"/>
                        </a:xfrm>
                        <a:prstGeom prst="rect">
                          <a:avLst/>
                        </a:prstGeom>
                      </p:spPr>
                    </p:pic>
                  </p:oleObj>
                </mc:Fallback>
              </mc:AlternateContent>
            </a:graphicData>
          </a:graphic>
        </p:graphicFrame>
        <p:grpSp>
          <p:nvGrpSpPr>
            <p:cNvPr id="48" name="Group 47"/>
            <p:cNvGrpSpPr/>
            <p:nvPr userDrawn="1"/>
          </p:nvGrpSpPr>
          <p:grpSpPr>
            <a:xfrm>
              <a:off x="44487207" y="29414560"/>
              <a:ext cx="10354213" cy="1265612"/>
              <a:chOff x="44200453" y="28362386"/>
              <a:chExt cx="9771399" cy="1090622"/>
            </a:xfrm>
          </p:grpSpPr>
          <p:sp>
            <p:nvSpPr>
              <p:cNvPr id="50" name="Rounded Rectangle 49"/>
              <p:cNvSpPr/>
              <p:nvPr userDrawn="1"/>
            </p:nvSpPr>
            <p:spPr>
              <a:xfrm>
                <a:off x="44200453" y="28362386"/>
                <a:ext cx="9771398" cy="1090622"/>
              </a:xfrm>
              <a:prstGeom prst="round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 name="Picture 7" descr="http://t2.gstatic.com/images?q=tbn:ANd9GcR4APHC6TT9w54M2zn_pvCiBxUNcspYPoVxirLRphBoJabfSvu7zw">
                <a:hlinkClick r:id="rId8"/>
              </p:cNvPr>
              <p:cNvPicPr>
                <a:picLocks noChangeAspect="1" noChangeArrowheads="1"/>
              </p:cNvPicPr>
              <p:nvPr userDrawn="1"/>
            </p:nvPicPr>
            <p:blipFill>
              <a:blip r:embed="rId9" cstate="print"/>
              <a:srcRect/>
              <a:stretch>
                <a:fillRect/>
              </a:stretch>
            </p:blipFill>
            <p:spPr bwMode="auto">
              <a:xfrm>
                <a:off x="44326393" y="28460718"/>
                <a:ext cx="914401" cy="914399"/>
              </a:xfrm>
              <a:prstGeom prst="rect">
                <a:avLst/>
              </a:prstGeom>
              <a:noFill/>
              <a:ln>
                <a:noFill/>
              </a:ln>
            </p:spPr>
          </p:pic>
          <p:sp>
            <p:nvSpPr>
              <p:cNvPr id="52" name="TextBox 51"/>
              <p:cNvSpPr txBox="1"/>
              <p:nvPr userDrawn="1"/>
            </p:nvSpPr>
            <p:spPr>
              <a:xfrm>
                <a:off x="45300663" y="28552305"/>
                <a:ext cx="8671189" cy="716099"/>
              </a:xfrm>
              <a:prstGeom prst="rect">
                <a:avLst/>
              </a:prstGeom>
              <a:noFill/>
              <a:ln>
                <a:noFill/>
              </a:ln>
            </p:spPr>
            <p:txBody>
              <a:bodyPr wrap="square" rtlCol="0">
                <a:spAutoFit/>
              </a:bodyPr>
              <a:lstStyle/>
              <a:p>
                <a:r>
                  <a:rPr lang="en-US" sz="2400" dirty="0">
                    <a:solidFill>
                      <a:schemeClr val="tx2"/>
                    </a:solidFill>
                    <a:latin typeface="Trebuchet MS" pitchFamily="34" charset="0"/>
                  </a:rPr>
                  <a:t>Student</a:t>
                </a:r>
                <a:r>
                  <a:rPr lang="en-US" sz="2400" baseline="0" dirty="0">
                    <a:solidFill>
                      <a:schemeClr val="tx2"/>
                    </a:solidFill>
                    <a:latin typeface="Trebuchet MS" pitchFamily="34" charset="0"/>
                  </a:rPr>
                  <a:t> discounts are available on our </a:t>
                </a:r>
                <a:r>
                  <a:rPr lang="en-US" sz="2400" baseline="0" dirty="0" err="1">
                    <a:solidFill>
                      <a:schemeClr val="tx2"/>
                    </a:solidFill>
                    <a:latin typeface="Trebuchet MS" pitchFamily="34" charset="0"/>
                  </a:rPr>
                  <a:t>Facebook</a:t>
                </a:r>
                <a:r>
                  <a:rPr lang="en-US" sz="2400" baseline="0" dirty="0">
                    <a:solidFill>
                      <a:schemeClr val="tx2"/>
                    </a:solidFill>
                    <a:latin typeface="Trebuchet MS" pitchFamily="34" charset="0"/>
                  </a:rPr>
                  <a:t> page.</a:t>
                </a:r>
                <a:br>
                  <a:rPr lang="en-US" sz="2400" baseline="0" dirty="0">
                    <a:solidFill>
                      <a:schemeClr val="tx2"/>
                    </a:solidFill>
                    <a:latin typeface="Trebuchet MS" pitchFamily="34" charset="0"/>
                  </a:rPr>
                </a:br>
                <a:r>
                  <a:rPr lang="en-US" sz="2400" baseline="0" dirty="0">
                    <a:solidFill>
                      <a:schemeClr val="tx2"/>
                    </a:solidFill>
                    <a:latin typeface="Trebuchet MS" pitchFamily="34" charset="0"/>
                  </a:rPr>
                  <a:t>Go to </a:t>
                </a:r>
                <a:r>
                  <a:rPr lang="en-US" sz="2400" u="sng" baseline="0" dirty="0">
                    <a:solidFill>
                      <a:schemeClr val="tx2"/>
                    </a:solidFill>
                    <a:latin typeface="Trebuchet MS" pitchFamily="34" charset="0"/>
                  </a:rPr>
                  <a:t>PosterPresentations.com</a:t>
                </a:r>
                <a:r>
                  <a:rPr lang="en-US" sz="2400" baseline="0" dirty="0">
                    <a:solidFill>
                      <a:schemeClr val="tx2"/>
                    </a:solidFill>
                    <a:latin typeface="Trebuchet MS" pitchFamily="34" charset="0"/>
                  </a:rPr>
                  <a:t> and click on the FB icon. </a:t>
                </a:r>
                <a:endParaRPr lang="en-US" sz="2400" dirty="0">
                  <a:solidFill>
                    <a:schemeClr val="tx2"/>
                  </a:solidFill>
                  <a:latin typeface="Trebuchet MS" pitchFamily="34" charset="0"/>
                </a:endParaRPr>
              </a:p>
            </p:txBody>
          </p:sp>
        </p:grpSp>
        <p:sp>
          <p:nvSpPr>
            <p:cNvPr id="49" name="TextBox 48"/>
            <p:cNvSpPr txBox="1"/>
            <p:nvPr userDrawn="1"/>
          </p:nvSpPr>
          <p:spPr>
            <a:xfrm>
              <a:off x="44262808" y="31169782"/>
              <a:ext cx="6870215" cy="1399638"/>
            </a:xfrm>
            <a:prstGeom prst="rect">
              <a:avLst/>
            </a:prstGeom>
            <a:noFill/>
          </p:spPr>
          <p:txBody>
            <a:bodyPr wrap="square" lIns="65304" tIns="32651" rIns="65304" bIns="32651" rtlCol="0">
              <a:spAutoFit/>
            </a:bodyPr>
            <a:lstStyle/>
            <a:p>
              <a:pPr>
                <a:lnSpc>
                  <a:spcPts val="2600"/>
                </a:lnSpc>
              </a:pPr>
              <a:r>
                <a:rPr lang="en-US" sz="2800" dirty="0">
                  <a:solidFill>
                    <a:schemeClr val="bg1"/>
                  </a:solidFill>
                </a:rPr>
                <a:t>© 2015</a:t>
              </a:r>
              <a:r>
                <a:rPr lang="en-US" sz="2800" baseline="0" dirty="0">
                  <a:solidFill>
                    <a:schemeClr val="bg1"/>
                  </a:solidFill>
                </a:rPr>
                <a:t> </a:t>
              </a:r>
              <a:r>
                <a:rPr lang="en-US" sz="2800" dirty="0">
                  <a:solidFill>
                    <a:schemeClr val="bg1"/>
                  </a:solidFill>
                </a:rPr>
                <a:t>PosterPresentations.com</a:t>
              </a:r>
              <a:br>
                <a:rPr lang="en-US" sz="2800" dirty="0">
                  <a:solidFill>
                    <a:schemeClr val="bg1"/>
                  </a:solidFill>
                </a:rPr>
              </a:br>
              <a:r>
                <a:rPr lang="en-US" sz="2800" dirty="0">
                  <a:solidFill>
                    <a:schemeClr val="bg1"/>
                  </a:solidFill>
                </a:rPr>
                <a:t>    </a:t>
              </a:r>
              <a:r>
                <a:rPr lang="en-US" sz="2400" dirty="0">
                  <a:solidFill>
                    <a:schemeClr val="bg1"/>
                  </a:solidFill>
                </a:rPr>
                <a:t>2117 Fourth Street ,</a:t>
              </a:r>
              <a:r>
                <a:rPr lang="en-US" sz="2400" baseline="0" dirty="0">
                  <a:solidFill>
                    <a:schemeClr val="bg1"/>
                  </a:solidFill>
                </a:rPr>
                <a:t> Unit C        </a:t>
              </a:r>
            </a:p>
            <a:p>
              <a:pPr>
                <a:lnSpc>
                  <a:spcPts val="2600"/>
                </a:lnSpc>
              </a:pPr>
              <a:r>
                <a:rPr lang="en-US" sz="2400" baseline="0" dirty="0">
                  <a:solidFill>
                    <a:schemeClr val="bg1"/>
                  </a:solidFill>
                </a:rPr>
                <a:t>     Berkeley CA </a:t>
              </a:r>
              <a:r>
                <a:rPr lang="en-US" sz="2000" baseline="0" dirty="0">
                  <a:solidFill>
                    <a:schemeClr val="bg1"/>
                  </a:solidFill>
                </a:rPr>
                <a:t>94710</a:t>
              </a:r>
              <a:br>
                <a:rPr lang="en-US" sz="2400" baseline="0" dirty="0">
                  <a:solidFill>
                    <a:schemeClr val="bg1"/>
                  </a:solidFill>
                </a:rPr>
              </a:br>
              <a:r>
                <a:rPr lang="en-US" sz="2400" baseline="0" dirty="0">
                  <a:solidFill>
                    <a:schemeClr val="bg1"/>
                  </a:solidFill>
                </a:rPr>
                <a:t>    </a:t>
              </a:r>
              <a:r>
                <a:rPr lang="en-US" sz="2400" b="1" baseline="0" dirty="0">
                  <a:solidFill>
                    <a:srgbClr val="FFFF00"/>
                  </a:solidFill>
                </a:rPr>
                <a:t>posterpresenter@gmail.com</a:t>
              </a:r>
              <a:endParaRPr lang="en-US" sz="2800" b="1" dirty="0">
                <a:solidFill>
                  <a:srgbClr val="FFFF00"/>
                </a:solidFill>
              </a:endParaRPr>
            </a:p>
          </p:txBody>
        </p:sp>
      </p:grpSp>
      <p:grpSp>
        <p:nvGrpSpPr>
          <p:cNvPr id="53" name="Group 52"/>
          <p:cNvGrpSpPr/>
          <p:nvPr userDrawn="1"/>
        </p:nvGrpSpPr>
        <p:grpSpPr>
          <a:xfrm>
            <a:off x="-11225189" y="-1"/>
            <a:ext cx="11018865" cy="32918401"/>
            <a:chOff x="-11225189" y="-1"/>
            <a:chExt cx="11018865" cy="32918401"/>
          </a:xfrm>
        </p:grpSpPr>
        <p:sp>
          <p:nvSpPr>
            <p:cNvPr id="54" name="Rectangle 53"/>
            <p:cNvSpPr/>
            <p:nvPr/>
          </p:nvSpPr>
          <p:spPr>
            <a:xfrm>
              <a:off x="-11216136" y="-1"/>
              <a:ext cx="11009812" cy="32918401"/>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457200" tIns="457200" rIns="457200" bIns="0" rtlCol="0" anchor="t" anchorCtr="0"/>
            <a:lstStyle/>
            <a:p>
              <a:pPr marL="0" marR="0" indent="0" algn="ctr" defTabSz="1518341" rtl="0" eaLnBrk="1" fontAlgn="auto" latinLnBrk="0" hangingPunct="1">
                <a:lnSpc>
                  <a:spcPct val="100000"/>
                </a:lnSpc>
                <a:spcBef>
                  <a:spcPts val="0"/>
                </a:spcBef>
                <a:spcAft>
                  <a:spcPts val="0"/>
                </a:spcAft>
                <a:buClrTx/>
                <a:buSzTx/>
                <a:buFontTx/>
                <a:buNone/>
                <a:tabLst/>
                <a:defRPr/>
              </a:pPr>
              <a:r>
                <a:rPr lang="en-US" sz="3200" b="1" spc="0" dirty="0">
                  <a:solidFill>
                    <a:srgbClr val="FF0000"/>
                  </a:solidFill>
                  <a:latin typeface="Trebuchet MS" pitchFamily="34" charset="0"/>
                </a:rPr>
                <a:t>(—THIS SIDEBAR DOES NOT PRINT—)</a:t>
              </a:r>
              <a:endParaRPr lang="en-US" sz="3200" b="1" spc="600" dirty="0">
                <a:solidFill>
                  <a:schemeClr val="bg1"/>
                </a:solidFill>
                <a:latin typeface="Trebuchet MS" pitchFamily="34" charset="0"/>
              </a:endParaRPr>
            </a:p>
            <a:p>
              <a:pPr algn="ctr"/>
              <a:r>
                <a:rPr lang="en-US" sz="4000" b="1" spc="600" dirty="0">
                  <a:solidFill>
                    <a:schemeClr val="bg1"/>
                  </a:solidFill>
                  <a:latin typeface="Trebuchet MS" pitchFamily="34" charset="0"/>
                </a:rPr>
                <a:t>DESIGN</a:t>
              </a:r>
              <a:r>
                <a:rPr lang="en-US" sz="4000" b="1" spc="600" baseline="0" dirty="0">
                  <a:solidFill>
                    <a:schemeClr val="bg1"/>
                  </a:solidFill>
                  <a:latin typeface="Trebuchet MS" pitchFamily="34" charset="0"/>
                </a:rPr>
                <a:t> </a:t>
              </a:r>
              <a:r>
                <a:rPr lang="en-US" sz="4000" b="1" spc="600" dirty="0">
                  <a:solidFill>
                    <a:schemeClr val="bg1"/>
                  </a:solidFill>
                  <a:latin typeface="Trebuchet MS" pitchFamily="34" charset="0"/>
                </a:rPr>
                <a:t>GUIDE</a:t>
              </a:r>
            </a:p>
            <a:p>
              <a:pPr algn="ctr"/>
              <a:endParaRPr lang="en-US" sz="2800" b="1" dirty="0">
                <a:latin typeface="Trebuchet MS" pitchFamily="34" charset="0"/>
              </a:endParaRPr>
            </a:p>
            <a:p>
              <a:pPr defTabSz="3765639"/>
              <a:r>
                <a:rPr lang="en-US" sz="2800" i="0" dirty="0">
                  <a:latin typeface="Trebuchet MS" pitchFamily="34" charset="0"/>
                </a:rPr>
                <a:t>This PowerPoint</a:t>
              </a:r>
              <a:r>
                <a:rPr lang="en-US" sz="2800" i="0" baseline="0" dirty="0">
                  <a:latin typeface="Trebuchet MS" pitchFamily="34" charset="0"/>
                </a:rPr>
                <a:t> </a:t>
              </a:r>
              <a:r>
                <a:rPr lang="en-US" sz="2800" i="0" dirty="0">
                  <a:latin typeface="Trebuchet MS" pitchFamily="34" charset="0"/>
                </a:rPr>
                <a:t>2007 template produces</a:t>
              </a:r>
              <a:r>
                <a:rPr lang="en-US" sz="2800" i="0" baseline="0" dirty="0">
                  <a:latin typeface="Trebuchet MS" pitchFamily="34" charset="0"/>
                </a:rPr>
                <a:t> </a:t>
              </a:r>
              <a:r>
                <a:rPr lang="en-US" sz="2800" i="0" dirty="0">
                  <a:latin typeface="Trebuchet MS" pitchFamily="34" charset="0"/>
                </a:rPr>
                <a:t>a 36”x48” presentation poster. </a:t>
              </a:r>
              <a:r>
                <a:rPr lang="en-US" sz="2800" dirty="0">
                  <a:latin typeface="Trebuchet MS" pitchFamily="34" charset="0"/>
                </a:rPr>
                <a:t>You</a:t>
              </a:r>
              <a:r>
                <a:rPr lang="en-US" sz="2800" baseline="0" dirty="0">
                  <a:latin typeface="Trebuchet MS" pitchFamily="34" charset="0"/>
                </a:rPr>
                <a:t> can u</a:t>
              </a:r>
              <a:r>
                <a:rPr lang="en-US" sz="2800" dirty="0">
                  <a:latin typeface="Trebuchet MS" pitchFamily="34" charset="0"/>
                </a:rPr>
                <a:t>se</a:t>
              </a:r>
              <a:r>
                <a:rPr lang="en-US" sz="2800" baseline="0" dirty="0">
                  <a:latin typeface="Trebuchet MS" pitchFamily="34" charset="0"/>
                </a:rPr>
                <a:t> it to create your research poster and </a:t>
              </a:r>
              <a:r>
                <a:rPr lang="en-US" sz="2800" dirty="0">
                  <a:latin typeface="Trebuchet MS" pitchFamily="34" charset="0"/>
                </a:rPr>
                <a:t>save valuable time placing titles, subtitles,</a:t>
              </a:r>
              <a:r>
                <a:rPr lang="en-US" sz="2800" baseline="0" dirty="0">
                  <a:latin typeface="Trebuchet MS" pitchFamily="34" charset="0"/>
                </a:rPr>
                <a:t> text, and graphics</a:t>
              </a:r>
              <a:r>
                <a:rPr lang="en-US" sz="2800" dirty="0">
                  <a:latin typeface="Trebuchet MS" pitchFamily="34" charset="0"/>
                </a:rPr>
                <a:t>. </a:t>
              </a:r>
            </a:p>
            <a:p>
              <a:pPr defTabSz="3765639"/>
              <a:endParaRPr lang="en-US" sz="2800" dirty="0">
                <a:latin typeface="Trebuchet MS" pitchFamily="34" charset="0"/>
              </a:endParaRPr>
            </a:p>
            <a:p>
              <a:pPr defTabSz="4389219"/>
              <a:r>
                <a:rPr lang="en-US" sz="2800" dirty="0">
                  <a:latin typeface="Trebuchet MS" pitchFamily="34" charset="0"/>
                </a:rPr>
                <a:t>We provide a series of online tutorials that will guide you through the poster design process and answer your poster production questions. To view our template tutorials, go online to </a:t>
              </a:r>
              <a:r>
                <a:rPr lang="en-US" sz="2800" b="1" dirty="0">
                  <a:solidFill>
                    <a:srgbClr val="FFC000"/>
                  </a:solidFill>
                  <a:latin typeface="Trebuchet MS" pitchFamily="34" charset="0"/>
                </a:rPr>
                <a:t>PosterPresentations.com</a:t>
              </a:r>
              <a:r>
                <a:rPr lang="en-US" sz="2800" b="1" dirty="0">
                  <a:solidFill>
                    <a:schemeClr val="bg1"/>
                  </a:solidFill>
                  <a:latin typeface="Trebuchet MS" pitchFamily="34" charset="0"/>
                </a:rPr>
                <a:t> </a:t>
              </a:r>
              <a:r>
                <a:rPr lang="en-US" sz="2800" dirty="0">
                  <a:solidFill>
                    <a:schemeClr val="bg1"/>
                  </a:solidFill>
                  <a:latin typeface="Trebuchet MS" pitchFamily="34" charset="0"/>
                </a:rPr>
                <a:t>and click on HELP DESK.</a:t>
              </a:r>
            </a:p>
            <a:p>
              <a:pPr defTabSz="4389219"/>
              <a:endParaRPr lang="en-US" sz="2800" dirty="0">
                <a:latin typeface="Trebuchet MS" pitchFamily="34" charset="0"/>
              </a:endParaRPr>
            </a:p>
            <a:p>
              <a:pPr defTabSz="4389219"/>
              <a:r>
                <a:rPr lang="en-US" sz="2800" dirty="0">
                  <a:solidFill>
                    <a:schemeClr val="bg1"/>
                  </a:solidFill>
                  <a:latin typeface="Trebuchet MS" pitchFamily="34" charset="0"/>
                </a:rPr>
                <a:t>When</a:t>
              </a:r>
              <a:r>
                <a:rPr lang="en-US" sz="2800" baseline="0" dirty="0">
                  <a:solidFill>
                    <a:schemeClr val="bg1"/>
                  </a:solidFill>
                  <a:latin typeface="Trebuchet MS" pitchFamily="34" charset="0"/>
                </a:rPr>
                <a:t> you are ready to print your poster</a:t>
              </a:r>
              <a:r>
                <a:rPr lang="en-US" sz="2800" dirty="0">
                  <a:solidFill>
                    <a:schemeClr val="bg1"/>
                  </a:solidFill>
                  <a:latin typeface="Trebuchet MS" pitchFamily="34" charset="0"/>
                </a:rPr>
                <a:t>,</a:t>
              </a:r>
              <a:r>
                <a:rPr lang="en-US" sz="2800" baseline="0" dirty="0">
                  <a:solidFill>
                    <a:schemeClr val="bg1"/>
                  </a:solidFill>
                  <a:latin typeface="Trebuchet MS" pitchFamily="34" charset="0"/>
                </a:rPr>
                <a:t> go online to </a:t>
              </a:r>
              <a:r>
                <a:rPr lang="en-US" sz="2800" b="0" dirty="0">
                  <a:solidFill>
                    <a:schemeClr val="bg1"/>
                  </a:solidFill>
                  <a:latin typeface="Trebuchet MS" pitchFamily="34" charset="0"/>
                </a:rPr>
                <a:t>PosterPresentations.com</a:t>
              </a:r>
              <a:br>
                <a:rPr lang="en-US" sz="2800" dirty="0">
                  <a:solidFill>
                    <a:schemeClr val="bg1"/>
                  </a:solidFill>
                  <a:latin typeface="Trebuchet MS" pitchFamily="34" charset="0"/>
                </a:rPr>
              </a:br>
              <a:endParaRPr lang="en-US" sz="2800" dirty="0">
                <a:solidFill>
                  <a:schemeClr val="bg1"/>
                </a:solidFill>
                <a:latin typeface="Trebuchet MS" pitchFamily="34" charset="0"/>
              </a:endParaRPr>
            </a:p>
            <a:p>
              <a:pPr algn="l" defTabSz="3765639"/>
              <a:r>
                <a:rPr lang="en-US" sz="2800" b="0" dirty="0">
                  <a:solidFill>
                    <a:schemeClr val="bg1"/>
                  </a:solidFill>
                  <a:latin typeface="Trebuchet MS" pitchFamily="34" charset="0"/>
                </a:rPr>
                <a:t>Need</a:t>
              </a:r>
              <a:r>
                <a:rPr lang="en-US" sz="2800" b="0" baseline="0" dirty="0">
                  <a:solidFill>
                    <a:schemeClr val="bg1"/>
                  </a:solidFill>
                  <a:latin typeface="Trebuchet MS" pitchFamily="34" charset="0"/>
                </a:rPr>
                <a:t> assistance? Call us at </a:t>
              </a:r>
              <a:r>
                <a:rPr lang="en-US" sz="2800" b="0" dirty="0">
                  <a:solidFill>
                    <a:srgbClr val="FFC000"/>
                  </a:solidFill>
                  <a:latin typeface="Trebuchet MS" pitchFamily="34" charset="0"/>
                </a:rPr>
                <a:t>1.510.649.3001</a:t>
              </a:r>
            </a:p>
            <a:p>
              <a:pPr algn="l" defTabSz="3765639"/>
              <a:endParaRPr lang="en-US" sz="3600" b="1" dirty="0">
                <a:solidFill>
                  <a:srgbClr val="FFFF00"/>
                </a:solidFill>
                <a:latin typeface="Trebuchet MS" pitchFamily="34" charset="0"/>
              </a:endParaRPr>
            </a:p>
            <a:p>
              <a:pPr algn="ctr"/>
              <a:endParaRPr lang="en-US" sz="2400" b="1" dirty="0">
                <a:solidFill>
                  <a:schemeClr val="bg1"/>
                </a:solidFill>
                <a:latin typeface="Trebuchet MS" pitchFamily="34" charset="0"/>
              </a:endParaRPr>
            </a:p>
            <a:p>
              <a:pPr algn="ctr"/>
              <a:r>
                <a:rPr lang="en-US" sz="4000" b="1" spc="600" dirty="0">
                  <a:solidFill>
                    <a:schemeClr val="bg1"/>
                  </a:solidFill>
                  <a:latin typeface="Trebuchet MS" pitchFamily="34" charset="0"/>
                </a:rPr>
                <a:t>QUICK START</a:t>
              </a:r>
            </a:p>
            <a:p>
              <a:pPr algn="ctr"/>
              <a:endParaRPr lang="en-US" sz="3200" b="1"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Zoom in and out</a:t>
              </a:r>
            </a:p>
            <a:p>
              <a:pPr marL="1892300" indent="-1892300" algn="l" defTabSz="850900"/>
              <a:r>
                <a:rPr lang="en-US" sz="2400" b="0" baseline="0" dirty="0">
                  <a:solidFill>
                    <a:schemeClr val="bg1"/>
                  </a:solidFill>
                  <a:latin typeface="Trebuchet MS" pitchFamily="34" charset="0"/>
                </a:rPr>
                <a:t>	</a:t>
              </a:r>
              <a:r>
                <a:rPr lang="en-US" sz="2400" b="0" baseline="0" dirty="0">
                  <a:solidFill>
                    <a:schemeClr val="bg1">
                      <a:lumMod val="75000"/>
                    </a:schemeClr>
                  </a:solidFill>
                  <a:latin typeface="Trebuchet MS" pitchFamily="34" charset="0"/>
                </a:rPr>
                <a:t>As you work on your poster zoom in and out to the level that is more comfortable to you. </a:t>
              </a:r>
            </a:p>
            <a:p>
              <a:pPr marL="1892300" indent="-1892300" algn="l" defTabSz="850900"/>
              <a:r>
                <a:rPr lang="en-US" sz="2400" b="1" baseline="0" dirty="0">
                  <a:solidFill>
                    <a:schemeClr val="bg1">
                      <a:lumMod val="75000"/>
                    </a:schemeClr>
                  </a:solidFill>
                  <a:latin typeface="Trebuchet MS" pitchFamily="34" charset="0"/>
                </a:rPr>
                <a:t>	</a:t>
              </a:r>
              <a:r>
                <a:rPr lang="en-US" sz="2400" b="0" baseline="0" dirty="0">
                  <a:solidFill>
                    <a:schemeClr val="bg1">
                      <a:lumMod val="75000"/>
                    </a:schemeClr>
                  </a:solidFill>
                  <a:latin typeface="Trebuchet MS" pitchFamily="34" charset="0"/>
                </a:rPr>
                <a:t>Go to VIEW &gt; ZOOM.</a:t>
              </a:r>
            </a:p>
            <a:p>
              <a:pPr algn="l"/>
              <a:endParaRPr lang="en-US" sz="2800" b="0" baseline="0" dirty="0">
                <a:solidFill>
                  <a:schemeClr val="bg1"/>
                </a:solidFill>
                <a:latin typeface="Trebuchet MS" pitchFamily="34" charset="0"/>
              </a:endParaRPr>
            </a:p>
            <a:p>
              <a:pPr algn="ctr"/>
              <a:r>
                <a:rPr lang="en-US" sz="3200" b="1" baseline="0" dirty="0">
                  <a:solidFill>
                    <a:srgbClr val="FFC000"/>
                  </a:solidFill>
                  <a:latin typeface="Trebuchet MS" pitchFamily="34" charset="0"/>
                </a:rPr>
                <a:t>Title, Authors, and Affiliations</a:t>
              </a:r>
            </a:p>
            <a:p>
              <a:pPr algn="l"/>
              <a:r>
                <a:rPr lang="en-US" sz="2400" b="0" baseline="0" dirty="0">
                  <a:solidFill>
                    <a:schemeClr val="bg1">
                      <a:lumMod val="75000"/>
                    </a:schemeClr>
                  </a:solidFill>
                  <a:latin typeface="Trebuchet MS" pitchFamily="34" charset="0"/>
                </a:rPr>
                <a:t>Start designing your poster by adding the title, the names of the authors, and the affiliated institutions. </a:t>
              </a:r>
              <a:r>
                <a:rPr lang="en-US" sz="2400" b="0" spc="0" baseline="0" dirty="0">
                  <a:solidFill>
                    <a:schemeClr val="bg1">
                      <a:lumMod val="75000"/>
                    </a:schemeClr>
                  </a:solidFill>
                  <a:latin typeface="Trebuchet MS" pitchFamily="34" charset="0"/>
                </a:rPr>
                <a:t>You can type or paste text into the provided boxes. The template will automatically adjust the size of your text to fit the title box. You can manually override this feature and change the size of your text. </a:t>
              </a:r>
            </a:p>
            <a:p>
              <a:pPr algn="l"/>
              <a:endParaRPr lang="en-US" sz="2400" b="0" spc="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The font size of your title should be bigger than your name(s) and institution name(s).</a:t>
              </a:r>
            </a:p>
            <a:p>
              <a:pPr algn="l"/>
              <a:br>
                <a:rPr lang="en-US" sz="2800" b="1" baseline="0" dirty="0">
                  <a:solidFill>
                    <a:schemeClr val="bg1"/>
                  </a:solidFill>
                  <a:latin typeface="Trebuchet MS" pitchFamily="34" charset="0"/>
                </a:rPr>
              </a:br>
              <a:endParaRPr lang="en-US" sz="2800" b="1" dirty="0">
                <a:solidFill>
                  <a:schemeClr val="bg1"/>
                </a:solidFill>
                <a:latin typeface="Trebuchet MS" pitchFamily="34" charset="0"/>
              </a:endParaRPr>
            </a:p>
            <a:p>
              <a:pPr algn="ctr"/>
              <a:endParaRPr lang="en-US" sz="2800" b="1" dirty="0">
                <a:solidFill>
                  <a:srgbClr val="FFC000"/>
                </a:solidFill>
                <a:latin typeface="Trebuchet MS" pitchFamily="34" charset="0"/>
              </a:endParaRPr>
            </a:p>
            <a:p>
              <a:pPr algn="ctr"/>
              <a:endParaRPr lang="en-US" sz="2800" b="1" dirty="0">
                <a:solidFill>
                  <a:srgbClr val="FFC000"/>
                </a:solidFill>
                <a:latin typeface="Trebuchet MS" pitchFamily="34" charset="0"/>
              </a:endParaRPr>
            </a:p>
            <a:p>
              <a:pPr algn="ctr"/>
              <a:r>
                <a:rPr lang="en-US" sz="3200" b="1" dirty="0">
                  <a:solidFill>
                    <a:srgbClr val="FFC000"/>
                  </a:solidFill>
                  <a:latin typeface="Trebuchet MS" pitchFamily="34" charset="0"/>
                </a:rPr>
                <a:t>Adding Logos</a:t>
              </a:r>
              <a:r>
                <a:rPr lang="en-US" sz="3200" b="1" baseline="0" dirty="0">
                  <a:solidFill>
                    <a:srgbClr val="FFC000"/>
                  </a:solidFill>
                  <a:latin typeface="Trebuchet MS" pitchFamily="34" charset="0"/>
                </a:rPr>
                <a:t> / Seals</a:t>
              </a:r>
            </a:p>
            <a:p>
              <a:pPr algn="l"/>
              <a:r>
                <a:rPr lang="en-US" sz="2400" b="0" baseline="0" dirty="0">
                  <a:solidFill>
                    <a:schemeClr val="bg1">
                      <a:lumMod val="75000"/>
                    </a:schemeClr>
                  </a:solidFill>
                  <a:latin typeface="Trebuchet MS" pitchFamily="34" charset="0"/>
                </a:rPr>
                <a:t>Most often, logos are added on each side of the title. You can insert a logo by dragging and dropping it from your desktop, copy and paste or by going to INSERT &gt; PICTURES. Logos taken from web sites are likely to be low quality when printed. Zoom it at 100% to see what the logo will look like on the final poster and make any necessary adjustments.  </a:t>
              </a:r>
            </a:p>
            <a:p>
              <a:pPr algn="l"/>
              <a:endParaRPr lang="en-US" sz="2400" b="0" spc="300" baseline="0" dirty="0">
                <a:solidFill>
                  <a:schemeClr val="bg1">
                    <a:lumMod val="75000"/>
                  </a:schemeClr>
                </a:solidFill>
                <a:latin typeface="Trebuchet MS" pitchFamily="34" charset="0"/>
              </a:endParaRPr>
            </a:p>
            <a:p>
              <a:pPr algn="l"/>
              <a:r>
                <a:rPr lang="en-US" sz="2400" b="1" spc="300" baseline="0" dirty="0">
                  <a:solidFill>
                    <a:srgbClr val="FFC000"/>
                  </a:solidFill>
                  <a:latin typeface="Trebuchet MS" pitchFamily="34" charset="0"/>
                </a:rPr>
                <a:t>TIP:</a:t>
              </a:r>
              <a:r>
                <a:rPr lang="en-US" sz="2400" b="1" spc="0" baseline="0" dirty="0">
                  <a:solidFill>
                    <a:srgbClr val="FFC000"/>
                  </a:solidFill>
                  <a:latin typeface="Trebuchet MS" pitchFamily="34" charset="0"/>
                </a:rPr>
                <a:t> </a:t>
              </a:r>
              <a:r>
                <a:rPr lang="en-US" sz="2400" b="0" baseline="0" dirty="0">
                  <a:solidFill>
                    <a:schemeClr val="bg1">
                      <a:lumMod val="75000"/>
                    </a:schemeClr>
                  </a:solidFill>
                  <a:latin typeface="Trebuchet MS" pitchFamily="34" charset="0"/>
                </a:rPr>
                <a:t>See if your school’s logo is available on our free poster templates page.</a:t>
              </a:r>
            </a:p>
            <a:p>
              <a:pPr algn="l"/>
              <a:endParaRPr lang="en-US" sz="2400" b="0" baseline="0" dirty="0">
                <a:latin typeface="Trebuchet MS" pitchFamily="34" charset="0"/>
              </a:endParaRPr>
            </a:p>
            <a:p>
              <a:pPr algn="ctr"/>
              <a:r>
                <a:rPr lang="en-US" sz="3200" b="1" baseline="0" dirty="0">
                  <a:solidFill>
                    <a:srgbClr val="FFC000"/>
                  </a:solidFill>
                  <a:latin typeface="Trebuchet MS" pitchFamily="34" charset="0"/>
                </a:rPr>
                <a:t>Photographs / Graphics</a:t>
              </a:r>
            </a:p>
            <a:p>
              <a:pPr algn="l" defTabSz="977900"/>
              <a:r>
                <a:rPr lang="en-US" sz="2400" b="0" baseline="0" dirty="0">
                  <a:solidFill>
                    <a:schemeClr val="bg1">
                      <a:lumMod val="75000"/>
                    </a:schemeClr>
                  </a:solidFill>
                  <a:latin typeface="Trebuchet MS" pitchFamily="34" charset="0"/>
                </a:rPr>
                <a:t>You can add images by dragging and dropping from your desktop, copy and paste, or by going to INSERT &gt; PICTURES. Resize images proportionally by holding down the SHIFT key and dragging one of the corner handles. For a professional-looking poster, do not distort your images by enlarging them </a:t>
              </a:r>
              <a:r>
                <a:rPr lang="en-US" sz="2400" b="0" spc="0" baseline="0" dirty="0">
                  <a:solidFill>
                    <a:schemeClr val="bg1">
                      <a:lumMod val="75000"/>
                    </a:schemeClr>
                  </a:solidFill>
                  <a:latin typeface="Trebuchet MS" pitchFamily="34" charset="0"/>
                </a:rPr>
                <a:t>disproportionally.</a:t>
              </a:r>
            </a:p>
            <a:p>
              <a:pPr algn="l" defTabSz="977900"/>
              <a:endParaRPr lang="en-US" sz="2400" b="0" baseline="0" dirty="0">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endParaRPr lang="en-US" sz="2800" b="1" baseline="0" dirty="0">
                <a:solidFill>
                  <a:srgbClr val="FFC000"/>
                </a:solidFill>
                <a:latin typeface="Trebuchet MS" pitchFamily="34" charset="0"/>
              </a:endParaRPr>
            </a:p>
            <a:p>
              <a:pPr algn="ctr"/>
              <a:r>
                <a:rPr lang="en-US" sz="3200" b="1" baseline="0" dirty="0">
                  <a:solidFill>
                    <a:srgbClr val="FFC000"/>
                  </a:solidFill>
                  <a:latin typeface="Trebuchet MS" pitchFamily="34" charset="0"/>
                </a:rPr>
                <a:t>Image Quality Check</a:t>
              </a:r>
            </a:p>
            <a:p>
              <a:pPr lvl="0" algn="l" defTabSz="977900"/>
              <a:r>
                <a:rPr lang="en-US" sz="2400" b="0" baseline="0" dirty="0">
                  <a:solidFill>
                    <a:schemeClr val="bg1">
                      <a:lumMod val="75000"/>
                    </a:schemeClr>
                  </a:solidFill>
                  <a:latin typeface="Trebuchet MS" pitchFamily="34" charset="0"/>
                </a:rPr>
                <a:t>Zoom in and look at your images at 100% magnification. If they look good they will print well. </a:t>
              </a:r>
              <a:endParaRPr lang="en-US" sz="2800" b="0" dirty="0">
                <a:latin typeface="Trebuchet MS" pitchFamily="34" charset="0"/>
              </a:endParaRPr>
            </a:p>
          </p:txBody>
        </p:sp>
        <p:cxnSp>
          <p:nvCxnSpPr>
            <p:cNvPr id="55" name="Straight Connector 54"/>
            <p:cNvCxnSpPr/>
            <p:nvPr/>
          </p:nvCxnSpPr>
          <p:spPr>
            <a:xfrm>
              <a:off x="-11225189" y="8422500"/>
              <a:ext cx="10999746" cy="3341"/>
            </a:xfrm>
            <a:prstGeom prst="line">
              <a:avLst/>
            </a:prstGeom>
            <a:ln>
              <a:solidFill>
                <a:srgbClr val="FFC000"/>
              </a:solidFill>
            </a:ln>
          </p:spPr>
          <p:style>
            <a:lnRef idx="1">
              <a:schemeClr val="accent1"/>
            </a:lnRef>
            <a:fillRef idx="0">
              <a:schemeClr val="accent1"/>
            </a:fillRef>
            <a:effectRef idx="0">
              <a:schemeClr val="accent1"/>
            </a:effectRef>
            <a:fontRef idx="minor">
              <a:schemeClr val="tx1"/>
            </a:fontRef>
          </p:style>
        </p:cxnSp>
        <p:pic>
          <p:nvPicPr>
            <p:cNvPr id="56" name="Picture 55"/>
            <p:cNvPicPr>
              <a:picLocks noChangeAspect="1"/>
            </p:cNvPicPr>
            <p:nvPr userDrawn="1"/>
          </p:nvPicPr>
          <p:blipFill>
            <a:blip r:embed="rId10"/>
            <a:stretch>
              <a:fillRect/>
            </a:stretch>
          </p:blipFill>
          <p:spPr>
            <a:xfrm>
              <a:off x="-10740740" y="10261718"/>
              <a:ext cx="1597666" cy="1201935"/>
            </a:xfrm>
            <a:prstGeom prst="rect">
              <a:avLst/>
            </a:prstGeom>
          </p:spPr>
        </p:pic>
        <p:pic>
          <p:nvPicPr>
            <p:cNvPr id="57" name="Picture 56"/>
            <p:cNvPicPr>
              <a:picLocks noChangeAspect="1"/>
            </p:cNvPicPr>
            <p:nvPr userDrawn="1"/>
          </p:nvPicPr>
          <p:blipFill>
            <a:blip r:embed="rId11"/>
            <a:stretch>
              <a:fillRect/>
            </a:stretch>
          </p:blipFill>
          <p:spPr>
            <a:xfrm>
              <a:off x="-10732765" y="15696927"/>
              <a:ext cx="9986808" cy="1053596"/>
            </a:xfrm>
            <a:prstGeom prst="rect">
              <a:avLst/>
            </a:prstGeom>
          </p:spPr>
        </p:pic>
        <p:grpSp>
          <p:nvGrpSpPr>
            <p:cNvPr id="58" name="Group 57"/>
            <p:cNvGrpSpPr/>
            <p:nvPr userDrawn="1"/>
          </p:nvGrpSpPr>
          <p:grpSpPr>
            <a:xfrm>
              <a:off x="-9744993" y="23540957"/>
              <a:ext cx="7531182" cy="2120439"/>
              <a:chOff x="-4470427" y="11016658"/>
              <a:chExt cx="3470785" cy="974220"/>
            </a:xfrm>
          </p:grpSpPr>
          <p:grpSp>
            <p:nvGrpSpPr>
              <p:cNvPr id="64" name="Group 63"/>
              <p:cNvGrpSpPr/>
              <p:nvPr userDrawn="1"/>
            </p:nvGrpSpPr>
            <p:grpSpPr>
              <a:xfrm>
                <a:off x="-2783495" y="11060886"/>
                <a:ext cx="624431" cy="893535"/>
                <a:chOff x="-3958697" y="11117435"/>
                <a:chExt cx="779338" cy="1280430"/>
              </a:xfrm>
            </p:grpSpPr>
            <p:pic>
              <p:nvPicPr>
                <p:cNvPr id="70" name="Picture 69"/>
                <p:cNvPicPr>
                  <a:picLocks noChangeAspect="1"/>
                </p:cNvPicPr>
                <p:nvPr userDrawn="1"/>
              </p:nvPicPr>
              <p:blipFill>
                <a:blip r:embed="rId12"/>
                <a:stretch>
                  <a:fillRect/>
                </a:stretch>
              </p:blipFill>
              <p:spPr>
                <a:xfrm>
                  <a:off x="-3948160" y="11117435"/>
                  <a:ext cx="768801" cy="1090857"/>
                </a:xfrm>
                <a:prstGeom prst="rect">
                  <a:avLst/>
                </a:prstGeom>
              </p:spPr>
            </p:pic>
            <p:sp>
              <p:nvSpPr>
                <p:cNvPr id="71" name="TextBox 70"/>
                <p:cNvSpPr txBox="1"/>
                <p:nvPr userDrawn="1"/>
              </p:nvSpPr>
              <p:spPr>
                <a:xfrm>
                  <a:off x="-3958697" y="12114178"/>
                  <a:ext cx="779337" cy="283687"/>
                </a:xfrm>
                <a:prstGeom prst="rect">
                  <a:avLst/>
                </a:prstGeom>
                <a:solidFill>
                  <a:schemeClr val="accent1"/>
                </a:solidFill>
                <a:ln>
                  <a:noFill/>
                </a:ln>
              </p:spPr>
              <p:txBody>
                <a:bodyPr wrap="square" lIns="91440" tIns="91440" rIns="91440" bIns="91440" rtlCol="0">
                  <a:spAutoFit/>
                </a:bodyPr>
                <a:lstStyle/>
                <a:p>
                  <a:pPr algn="ctr"/>
                  <a:r>
                    <a:rPr lang="en-US" sz="1600" b="1" dirty="0">
                      <a:solidFill>
                        <a:schemeClr val="tx1"/>
                      </a:solidFill>
                    </a:rPr>
                    <a:t>ORIGINAL</a:t>
                  </a:r>
                </a:p>
              </p:txBody>
            </p:sp>
          </p:grpSp>
          <p:grpSp>
            <p:nvGrpSpPr>
              <p:cNvPr id="65" name="Group 64"/>
              <p:cNvGrpSpPr/>
              <p:nvPr userDrawn="1"/>
            </p:nvGrpSpPr>
            <p:grpSpPr>
              <a:xfrm>
                <a:off x="-2033159" y="11060889"/>
                <a:ext cx="1033517" cy="893529"/>
                <a:chOff x="-2921738" y="11200127"/>
                <a:chExt cx="1420279" cy="1227904"/>
              </a:xfrm>
            </p:grpSpPr>
            <p:pic>
              <p:nvPicPr>
                <p:cNvPr id="68" name="Picture 67"/>
                <p:cNvPicPr>
                  <a:picLocks noChangeAspect="1"/>
                </p:cNvPicPr>
                <p:nvPr userDrawn="1"/>
              </p:nvPicPr>
              <p:blipFill>
                <a:blip r:embed="rId12"/>
                <a:stretch>
                  <a:fillRect/>
                </a:stretch>
              </p:blipFill>
              <p:spPr>
                <a:xfrm>
                  <a:off x="-2921738" y="11200127"/>
                  <a:ext cx="1420279" cy="1029694"/>
                </a:xfrm>
                <a:prstGeom prst="rect">
                  <a:avLst/>
                </a:prstGeom>
              </p:spPr>
            </p:pic>
            <p:sp>
              <p:nvSpPr>
                <p:cNvPr id="69" name="TextBox 68"/>
                <p:cNvSpPr txBox="1"/>
                <p:nvPr userDrawn="1"/>
              </p:nvSpPr>
              <p:spPr>
                <a:xfrm>
                  <a:off x="-2918991" y="12175418"/>
                  <a:ext cx="1417532" cy="252613"/>
                </a:xfrm>
                <a:prstGeom prst="rect">
                  <a:avLst/>
                </a:prstGeom>
                <a:solidFill>
                  <a:srgbClr val="FF0000"/>
                </a:solidFill>
              </p:spPr>
              <p:txBody>
                <a:bodyPr wrap="square" lIns="457200" tIns="91440" rIns="457200" bIns="91440" rtlCol="0">
                  <a:spAutoFit/>
                </a:bodyPr>
                <a:lstStyle/>
                <a:p>
                  <a:pPr algn="ctr"/>
                  <a:r>
                    <a:rPr lang="en-US" sz="1400" b="1" dirty="0">
                      <a:solidFill>
                        <a:schemeClr val="bg1"/>
                      </a:solidFill>
                    </a:rPr>
                    <a:t>DISTORTED</a:t>
                  </a:r>
                  <a:endParaRPr lang="en-US" sz="700" b="1" dirty="0">
                    <a:solidFill>
                      <a:schemeClr val="bg1"/>
                    </a:solidFill>
                  </a:endParaRPr>
                </a:p>
              </p:txBody>
            </p:sp>
          </p:grpSp>
          <p:pic>
            <p:nvPicPr>
              <p:cNvPr id="66" name="Picture 65"/>
              <p:cNvPicPr>
                <a:picLocks noChangeAspect="1"/>
              </p:cNvPicPr>
              <p:nvPr userDrawn="1"/>
            </p:nvPicPr>
            <p:blipFill>
              <a:blip r:embed="rId13"/>
              <a:stretch>
                <a:fillRect/>
              </a:stretch>
            </p:blipFill>
            <p:spPr>
              <a:xfrm>
                <a:off x="-4470427" y="11016658"/>
                <a:ext cx="1098742" cy="847761"/>
              </a:xfrm>
              <a:prstGeom prst="rect">
                <a:avLst/>
              </a:prstGeom>
            </p:spPr>
          </p:pic>
          <p:sp>
            <p:nvSpPr>
              <p:cNvPr id="67" name="TextBox 66"/>
              <p:cNvSpPr txBox="1"/>
              <p:nvPr userDrawn="1"/>
            </p:nvSpPr>
            <p:spPr>
              <a:xfrm>
                <a:off x="-4440600" y="11665645"/>
                <a:ext cx="1035685" cy="325233"/>
              </a:xfrm>
              <a:prstGeom prst="rect">
                <a:avLst/>
              </a:prstGeom>
              <a:noFill/>
            </p:spPr>
            <p:txBody>
              <a:bodyPr wrap="square" lIns="457200" tIns="457200" rIns="457200" bIns="0" rtlCol="0">
                <a:spAutoFit/>
              </a:bodyPr>
              <a:lstStyle/>
              <a:p>
                <a:pPr algn="ctr"/>
                <a:r>
                  <a:rPr lang="en-US" sz="1600" dirty="0">
                    <a:solidFill>
                      <a:schemeClr val="bg1"/>
                    </a:solidFill>
                  </a:rPr>
                  <a:t>Corner</a:t>
                </a:r>
                <a:r>
                  <a:rPr lang="en-US" sz="1600" baseline="0" dirty="0">
                    <a:solidFill>
                      <a:schemeClr val="bg1"/>
                    </a:solidFill>
                  </a:rPr>
                  <a:t> handles</a:t>
                </a:r>
                <a:endParaRPr lang="en-US" sz="1600" dirty="0">
                  <a:solidFill>
                    <a:schemeClr val="bg1"/>
                  </a:solidFill>
                </a:endParaRPr>
              </a:p>
            </p:txBody>
          </p:sp>
        </p:grpSp>
        <p:grpSp>
          <p:nvGrpSpPr>
            <p:cNvPr id="59" name="Group 58"/>
            <p:cNvGrpSpPr/>
            <p:nvPr userDrawn="1"/>
          </p:nvGrpSpPr>
          <p:grpSpPr>
            <a:xfrm>
              <a:off x="-10398793" y="27751410"/>
              <a:ext cx="9323012" cy="2453251"/>
              <a:chOff x="-4754996" y="12734136"/>
              <a:chExt cx="4296559" cy="1127128"/>
            </a:xfrm>
          </p:grpSpPr>
          <p:graphicFrame>
            <p:nvGraphicFramePr>
              <p:cNvPr id="60" name="Object 59"/>
              <p:cNvGraphicFramePr>
                <a:graphicFrameLocks noChangeAspect="1"/>
              </p:cNvGraphicFramePr>
              <p:nvPr userDrawn="1">
                <p:extLst>
                  <p:ext uri="{D42A27DB-BD31-4B8C-83A1-F6EECF244321}">
                    <p14:modId xmlns:p14="http://schemas.microsoft.com/office/powerpoint/2010/main" val="1199812768"/>
                  </p:ext>
                </p:extLst>
              </p:nvPr>
            </p:nvGraphicFramePr>
            <p:xfrm>
              <a:off x="-4533347" y="12734142"/>
              <a:ext cx="1828800" cy="1117600"/>
            </p:xfrm>
            <a:graphic>
              <a:graphicData uri="http://schemas.openxmlformats.org/presentationml/2006/ole">
                <mc:AlternateContent xmlns:mc="http://schemas.openxmlformats.org/markup-compatibility/2006">
                  <mc:Choice xmlns:v="urn:schemas-microsoft-com:vml" Requires="v">
                    <p:oleObj name="Image" r:id="rId14" imgW="1828440" imgH="1117440" progId="Photoshop.Image.13">
                      <p:embed/>
                    </p:oleObj>
                  </mc:Choice>
                  <mc:Fallback>
                    <p:oleObj name="Image" r:id="rId14" imgW="1828440" imgH="1117440" progId="Photoshop.Image.13">
                      <p:embed/>
                      <p:pic>
                        <p:nvPicPr>
                          <p:cNvPr id="0" name=""/>
                          <p:cNvPicPr/>
                          <p:nvPr/>
                        </p:nvPicPr>
                        <p:blipFill>
                          <a:blip r:embed="rId15"/>
                          <a:stretch>
                            <a:fillRect/>
                          </a:stretch>
                        </p:blipFill>
                        <p:spPr>
                          <a:xfrm>
                            <a:off x="-4533347" y="12734142"/>
                            <a:ext cx="1828800" cy="1117600"/>
                          </a:xfrm>
                          <a:prstGeom prst="rect">
                            <a:avLst/>
                          </a:prstGeom>
                        </p:spPr>
                      </p:pic>
                    </p:oleObj>
                  </mc:Fallback>
                </mc:AlternateContent>
              </a:graphicData>
            </a:graphic>
          </p:graphicFrame>
          <p:graphicFrame>
            <p:nvGraphicFramePr>
              <p:cNvPr id="61" name="Object 60"/>
              <p:cNvGraphicFramePr>
                <a:graphicFrameLocks noChangeAspect="1"/>
              </p:cNvGraphicFramePr>
              <p:nvPr userDrawn="1">
                <p:extLst>
                  <p:ext uri="{D42A27DB-BD31-4B8C-83A1-F6EECF244321}">
                    <p14:modId xmlns:p14="http://schemas.microsoft.com/office/powerpoint/2010/main" val="4096349677"/>
                  </p:ext>
                </p:extLst>
              </p:nvPr>
            </p:nvGraphicFramePr>
            <p:xfrm>
              <a:off x="-2456641" y="12737835"/>
              <a:ext cx="1828800" cy="1117600"/>
            </p:xfrm>
            <a:graphic>
              <a:graphicData uri="http://schemas.openxmlformats.org/presentationml/2006/ole">
                <mc:AlternateContent xmlns:mc="http://schemas.openxmlformats.org/markup-compatibility/2006">
                  <mc:Choice xmlns:v="urn:schemas-microsoft-com:vml" Requires="v">
                    <p:oleObj name="Image" r:id="rId16" imgW="1828440" imgH="1117440" progId="Photoshop.Image.13">
                      <p:embed/>
                    </p:oleObj>
                  </mc:Choice>
                  <mc:Fallback>
                    <p:oleObj name="Image" r:id="rId16" imgW="1828440" imgH="1117440" progId="Photoshop.Image.13">
                      <p:embed/>
                      <p:pic>
                        <p:nvPicPr>
                          <p:cNvPr id="0" name=""/>
                          <p:cNvPicPr/>
                          <p:nvPr/>
                        </p:nvPicPr>
                        <p:blipFill>
                          <a:blip r:embed="rId17"/>
                          <a:stretch>
                            <a:fillRect/>
                          </a:stretch>
                        </p:blipFill>
                        <p:spPr>
                          <a:xfrm>
                            <a:off x="-2456641" y="12737835"/>
                            <a:ext cx="1828800" cy="1117600"/>
                          </a:xfrm>
                          <a:prstGeom prst="rect">
                            <a:avLst/>
                          </a:prstGeom>
                        </p:spPr>
                      </p:pic>
                    </p:oleObj>
                  </mc:Fallback>
                </mc:AlternateContent>
              </a:graphicData>
            </a:graphic>
          </p:graphicFrame>
          <p:sp>
            <p:nvSpPr>
              <p:cNvPr id="62" name="TextBox 61"/>
              <p:cNvSpPr txBox="1"/>
              <p:nvPr userDrawn="1"/>
            </p:nvSpPr>
            <p:spPr>
              <a:xfrm rot="16200000">
                <a:off x="-5235785" y="13214925"/>
                <a:ext cx="1117601" cy="156024"/>
              </a:xfrm>
              <a:prstGeom prst="rect">
                <a:avLst/>
              </a:prstGeom>
              <a:noFill/>
            </p:spPr>
            <p:txBody>
              <a:bodyPr wrap="square" lIns="91440" tIns="91440" rIns="91440" bIns="0" rtlCol="0">
                <a:spAutoFit/>
              </a:bodyPr>
              <a:lstStyle/>
              <a:p>
                <a:pPr algn="ctr"/>
                <a:r>
                  <a:rPr lang="en-US" sz="1600" dirty="0">
                    <a:solidFill>
                      <a:srgbClr val="92D050"/>
                    </a:solidFill>
                  </a:rPr>
                  <a:t>Good</a:t>
                </a:r>
                <a:r>
                  <a:rPr lang="en-US" sz="1600" baseline="0" dirty="0">
                    <a:solidFill>
                      <a:srgbClr val="92D050"/>
                    </a:solidFill>
                  </a:rPr>
                  <a:t> </a:t>
                </a:r>
                <a:r>
                  <a:rPr lang="en-US" sz="1600" baseline="0" dirty="0">
                    <a:solidFill>
                      <a:schemeClr val="bg1"/>
                    </a:solidFill>
                  </a:rPr>
                  <a:t>printing quality</a:t>
                </a:r>
                <a:endParaRPr lang="en-US" sz="1600" dirty="0">
                  <a:solidFill>
                    <a:schemeClr val="bg1"/>
                  </a:solidFill>
                </a:endParaRPr>
              </a:p>
            </p:txBody>
          </p:sp>
          <p:sp>
            <p:nvSpPr>
              <p:cNvPr id="63" name="TextBox 62"/>
              <p:cNvSpPr txBox="1"/>
              <p:nvPr userDrawn="1"/>
            </p:nvSpPr>
            <p:spPr>
              <a:xfrm rot="16200000">
                <a:off x="-1095250" y="13224452"/>
                <a:ext cx="1117601" cy="156024"/>
              </a:xfrm>
              <a:prstGeom prst="rect">
                <a:avLst/>
              </a:prstGeom>
              <a:noFill/>
            </p:spPr>
            <p:txBody>
              <a:bodyPr wrap="square" lIns="91440" tIns="91440" rIns="91440" bIns="0" rtlCol="0">
                <a:spAutoFit/>
              </a:bodyPr>
              <a:lstStyle/>
              <a:p>
                <a:pPr algn="ctr"/>
                <a:r>
                  <a:rPr lang="en-US" sz="1600" dirty="0">
                    <a:solidFill>
                      <a:srgbClr val="FF0000"/>
                    </a:solidFill>
                  </a:rPr>
                  <a:t>Bad </a:t>
                </a:r>
                <a:r>
                  <a:rPr lang="en-US" sz="1600" dirty="0">
                    <a:solidFill>
                      <a:schemeClr val="bg1"/>
                    </a:solidFill>
                  </a:rPr>
                  <a:t>printing quality</a:t>
                </a:r>
              </a:p>
            </p:txBody>
          </p:sp>
        </p:grpSp>
      </p:grpSp>
      <p:sp>
        <p:nvSpPr>
          <p:cNvPr id="38" name="Text Box 14"/>
          <p:cNvSpPr txBox="1">
            <a:spLocks noChangeArrowheads="1"/>
          </p:cNvSpPr>
          <p:nvPr userDrawn="1"/>
        </p:nvSpPr>
        <p:spPr bwMode="auto">
          <a:xfrm>
            <a:off x="1567305" y="32315729"/>
            <a:ext cx="2514600" cy="336819"/>
          </a:xfrm>
          <a:prstGeom prst="rect">
            <a:avLst/>
          </a:prstGeom>
          <a:noFill/>
          <a:ln w="9525">
            <a:noFill/>
            <a:miter lim="800000"/>
            <a:headEnd/>
            <a:tailEnd/>
          </a:ln>
          <a:effectLst/>
        </p:spPr>
        <p:txBody>
          <a:bodyPr lIns="91263" tIns="45623" rIns="91263" bIns="45623">
            <a:spAutoFit/>
          </a:bodyPr>
          <a:lstStyle/>
          <a:p>
            <a:pPr eaLnBrk="0" hangingPunct="0">
              <a:lnSpc>
                <a:spcPct val="65000"/>
              </a:lnSpc>
              <a:spcBef>
                <a:spcPct val="50000"/>
              </a:spcBef>
              <a:defRPr/>
            </a:pPr>
            <a:r>
              <a:rPr lang="en-US" sz="500" b="1" dirty="0">
                <a:solidFill>
                  <a:schemeClr val="bg1">
                    <a:lumMod val="75000"/>
                  </a:schemeClr>
                </a:solidFill>
                <a:latin typeface="Arial" charset="0"/>
              </a:rPr>
              <a:t>RESEARCH POSTER PRESENTATION DESIGN © 2015</a:t>
            </a:r>
          </a:p>
          <a:p>
            <a:pPr eaLnBrk="0" hangingPunct="0">
              <a:lnSpc>
                <a:spcPct val="65000"/>
              </a:lnSpc>
              <a:spcBef>
                <a:spcPct val="50000"/>
              </a:spcBef>
              <a:defRPr/>
            </a:pPr>
            <a:r>
              <a:rPr lang="en-US" sz="1100" b="1" dirty="0">
                <a:solidFill>
                  <a:schemeClr val="bg1">
                    <a:lumMod val="75000"/>
                  </a:schemeClr>
                </a:solidFill>
                <a:latin typeface="Arial" charset="0"/>
              </a:rPr>
              <a:t>www.PosterPresentations.com</a:t>
            </a:r>
          </a:p>
        </p:txBody>
      </p:sp>
    </p:spTree>
  </p:cSld>
  <p:clrMap bg1="lt1" tx1="dk1" bg2="lt2" tx2="dk2" accent1="accent1" accent2="accent2" accent3="accent3" accent4="accent4" accent5="accent5" accent6="accent6" hlink="hlink" folHlink="folHlink"/>
  <p:sldLayoutIdLst>
    <p:sldLayoutId id="2147483654" r:id="rId1"/>
  </p:sldLayoutIdLst>
  <p:txStyles>
    <p:titleStyle>
      <a:lvl1pPr algn="ctr" defTabSz="4388900" rtl="0" eaLnBrk="1" latinLnBrk="0" hangingPunct="1">
        <a:spcBef>
          <a:spcPct val="0"/>
        </a:spcBef>
        <a:buNone/>
        <a:defRPr sz="8800" kern="1200">
          <a:solidFill>
            <a:schemeClr val="bg1"/>
          </a:solidFill>
          <a:latin typeface="Trebuchet MS" pitchFamily="34" charset="0"/>
          <a:ea typeface="+mj-ea"/>
          <a:cs typeface="+mj-cs"/>
        </a:defRPr>
      </a:lvl1pPr>
    </p:titleStyle>
    <p:body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p:bodyStyle>
    <p:otherStyle>
      <a:defPPr>
        <a:defRPr lang="en-US"/>
      </a:defPPr>
      <a:lvl1pPr marL="0" algn="l" defTabSz="4388900" rtl="0" eaLnBrk="1" latinLnBrk="0" hangingPunct="1">
        <a:defRPr sz="8600" kern="1200">
          <a:solidFill>
            <a:schemeClr val="tx1"/>
          </a:solidFill>
          <a:latin typeface="+mn-lt"/>
          <a:ea typeface="+mn-ea"/>
          <a:cs typeface="+mn-cs"/>
        </a:defRPr>
      </a:lvl1pPr>
      <a:lvl2pPr marL="2194451" algn="l" defTabSz="4388900" rtl="0" eaLnBrk="1" latinLnBrk="0" hangingPunct="1">
        <a:defRPr sz="8600" kern="1200">
          <a:solidFill>
            <a:schemeClr val="tx1"/>
          </a:solidFill>
          <a:latin typeface="+mn-lt"/>
          <a:ea typeface="+mn-ea"/>
          <a:cs typeface="+mn-cs"/>
        </a:defRPr>
      </a:lvl2pPr>
      <a:lvl3pPr marL="4388900" algn="l" defTabSz="4388900" rtl="0" eaLnBrk="1" latinLnBrk="0" hangingPunct="1">
        <a:defRPr sz="8600" kern="1200">
          <a:solidFill>
            <a:schemeClr val="tx1"/>
          </a:solidFill>
          <a:latin typeface="+mn-lt"/>
          <a:ea typeface="+mn-ea"/>
          <a:cs typeface="+mn-cs"/>
        </a:defRPr>
      </a:lvl3pPr>
      <a:lvl4pPr marL="6583351" algn="l" defTabSz="4388900" rtl="0" eaLnBrk="1" latinLnBrk="0" hangingPunct="1">
        <a:defRPr sz="8600" kern="1200">
          <a:solidFill>
            <a:schemeClr val="tx1"/>
          </a:solidFill>
          <a:latin typeface="+mn-lt"/>
          <a:ea typeface="+mn-ea"/>
          <a:cs typeface="+mn-cs"/>
        </a:defRPr>
      </a:lvl4pPr>
      <a:lvl5pPr marL="8777801" algn="l" defTabSz="4388900" rtl="0" eaLnBrk="1" latinLnBrk="0" hangingPunct="1">
        <a:defRPr sz="8600" kern="1200">
          <a:solidFill>
            <a:schemeClr val="tx1"/>
          </a:solidFill>
          <a:latin typeface="+mn-lt"/>
          <a:ea typeface="+mn-ea"/>
          <a:cs typeface="+mn-cs"/>
        </a:defRPr>
      </a:lvl5pPr>
      <a:lvl6pPr marL="10972252" algn="l" defTabSz="4388900" rtl="0" eaLnBrk="1" latinLnBrk="0" hangingPunct="1">
        <a:defRPr sz="8600" kern="1200">
          <a:solidFill>
            <a:schemeClr val="tx1"/>
          </a:solidFill>
          <a:latin typeface="+mn-lt"/>
          <a:ea typeface="+mn-ea"/>
          <a:cs typeface="+mn-cs"/>
        </a:defRPr>
      </a:lvl6pPr>
      <a:lvl7pPr marL="13166703" algn="l" defTabSz="4388900" rtl="0" eaLnBrk="1" latinLnBrk="0" hangingPunct="1">
        <a:defRPr sz="8600" kern="1200">
          <a:solidFill>
            <a:schemeClr val="tx1"/>
          </a:solidFill>
          <a:latin typeface="+mn-lt"/>
          <a:ea typeface="+mn-ea"/>
          <a:cs typeface="+mn-cs"/>
        </a:defRPr>
      </a:lvl7pPr>
      <a:lvl8pPr marL="15361152" algn="l" defTabSz="4388900" rtl="0" eaLnBrk="1" latinLnBrk="0" hangingPunct="1">
        <a:defRPr sz="8600" kern="1200">
          <a:solidFill>
            <a:schemeClr val="tx1"/>
          </a:solidFill>
          <a:latin typeface="+mn-lt"/>
          <a:ea typeface="+mn-ea"/>
          <a:cs typeface="+mn-cs"/>
        </a:defRPr>
      </a:lvl8pPr>
      <a:lvl9pPr marL="17555603" algn="l" defTabSz="4388900" rtl="0" eaLnBrk="1" latinLnBrk="0" hangingPunct="1">
        <a:defRPr sz="86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14" name="Rectángulo 4113">
            <a:extLst>
              <a:ext uri="{FF2B5EF4-FFF2-40B4-BE49-F238E27FC236}">
                <a16:creationId xmlns:a16="http://schemas.microsoft.com/office/drawing/2014/main" id="{7D3ADFB6-ACB2-0089-93BD-B235AF408FBC}"/>
              </a:ext>
            </a:extLst>
          </p:cNvPr>
          <p:cNvSpPr/>
          <p:nvPr/>
        </p:nvSpPr>
        <p:spPr>
          <a:xfrm>
            <a:off x="11860371" y="24140982"/>
            <a:ext cx="9330793" cy="2781016"/>
          </a:xfrm>
          <a:prstGeom prst="rect">
            <a:avLst/>
          </a:prstGeom>
          <a:solidFill>
            <a:schemeClr val="accent5">
              <a:lumMod val="20000"/>
              <a:lumOff val="80000"/>
            </a:schemeClr>
          </a:solidFill>
          <a:ln w="38100">
            <a:solidFill>
              <a:schemeClr val="accent6">
                <a:lumMod val="50000"/>
              </a:schemeClr>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E"/>
          </a:p>
        </p:txBody>
      </p:sp>
      <p:sp>
        <p:nvSpPr>
          <p:cNvPr id="4113" name="Rectángulo 4112">
            <a:extLst>
              <a:ext uri="{FF2B5EF4-FFF2-40B4-BE49-F238E27FC236}">
                <a16:creationId xmlns:a16="http://schemas.microsoft.com/office/drawing/2014/main" id="{AD0E3DCA-DB2D-274B-AD69-B0012C72BA07}"/>
              </a:ext>
            </a:extLst>
          </p:cNvPr>
          <p:cNvSpPr/>
          <p:nvPr/>
        </p:nvSpPr>
        <p:spPr>
          <a:xfrm>
            <a:off x="33534257" y="16380792"/>
            <a:ext cx="9648464" cy="2938972"/>
          </a:xfrm>
          <a:prstGeom prst="rect">
            <a:avLst/>
          </a:prstGeom>
          <a:solidFill>
            <a:srgbClr val="FFBDBD">
              <a:alpha val="18824"/>
            </a:srgbClr>
          </a:solidFill>
          <a:ln w="19050">
            <a:solidFill>
              <a:srgbClr val="C00000"/>
            </a:solid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en-IE"/>
          </a:p>
        </p:txBody>
      </p:sp>
      <p:sp>
        <p:nvSpPr>
          <p:cNvPr id="4109" name="Rectángulo 4108">
            <a:extLst>
              <a:ext uri="{FF2B5EF4-FFF2-40B4-BE49-F238E27FC236}">
                <a16:creationId xmlns:a16="http://schemas.microsoft.com/office/drawing/2014/main" id="{B48B9997-2705-1D7C-D564-E71398D3CB39}"/>
              </a:ext>
            </a:extLst>
          </p:cNvPr>
          <p:cNvSpPr/>
          <p:nvPr/>
        </p:nvSpPr>
        <p:spPr>
          <a:xfrm>
            <a:off x="11629210" y="27524655"/>
            <a:ext cx="9791894" cy="2544330"/>
          </a:xfrm>
          <a:prstGeom prst="rect">
            <a:avLst/>
          </a:prstGeom>
          <a:solidFill>
            <a:schemeClr val="accent5">
              <a:lumMod val="20000"/>
              <a:lumOff val="80000"/>
            </a:schemeClr>
          </a:solidFill>
          <a:ln w="57150">
            <a:solidFill>
              <a:schemeClr val="accent4"/>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IE"/>
          </a:p>
        </p:txBody>
      </p:sp>
      <p:sp>
        <p:nvSpPr>
          <p:cNvPr id="4098" name="Rectángulo 4097">
            <a:extLst>
              <a:ext uri="{FF2B5EF4-FFF2-40B4-BE49-F238E27FC236}">
                <a16:creationId xmlns:a16="http://schemas.microsoft.com/office/drawing/2014/main" id="{4B45A63B-D813-60F2-81DE-4820C63AF034}"/>
              </a:ext>
            </a:extLst>
          </p:cNvPr>
          <p:cNvSpPr/>
          <p:nvPr/>
        </p:nvSpPr>
        <p:spPr>
          <a:xfrm>
            <a:off x="5520310" y="27986228"/>
            <a:ext cx="2268820" cy="1354095"/>
          </a:xfrm>
          <a:prstGeom prst="rect">
            <a:avLst/>
          </a:prstGeom>
          <a:solidFill>
            <a:schemeClr val="accent6">
              <a:lumMod val="75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en-IE"/>
          </a:p>
        </p:txBody>
      </p:sp>
      <p:sp>
        <p:nvSpPr>
          <p:cNvPr id="4097" name="Rectángulo 4096">
            <a:extLst>
              <a:ext uri="{FF2B5EF4-FFF2-40B4-BE49-F238E27FC236}">
                <a16:creationId xmlns:a16="http://schemas.microsoft.com/office/drawing/2014/main" id="{6EE8FAF0-A174-BF55-B560-05F89D640BD6}"/>
              </a:ext>
            </a:extLst>
          </p:cNvPr>
          <p:cNvSpPr/>
          <p:nvPr/>
        </p:nvSpPr>
        <p:spPr>
          <a:xfrm>
            <a:off x="3050533" y="27982561"/>
            <a:ext cx="2391467" cy="1354095"/>
          </a:xfrm>
          <a:prstGeom prst="rect">
            <a:avLst/>
          </a:prstGeom>
          <a:solidFill>
            <a:schemeClr val="accent6">
              <a:lumMod val="75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en-IE"/>
          </a:p>
        </p:txBody>
      </p:sp>
      <p:sp>
        <p:nvSpPr>
          <p:cNvPr id="4096" name="Rectángulo 4095">
            <a:extLst>
              <a:ext uri="{FF2B5EF4-FFF2-40B4-BE49-F238E27FC236}">
                <a16:creationId xmlns:a16="http://schemas.microsoft.com/office/drawing/2014/main" id="{6FACBAEF-85FD-5E39-DF57-3F1076251010}"/>
              </a:ext>
            </a:extLst>
          </p:cNvPr>
          <p:cNvSpPr/>
          <p:nvPr/>
        </p:nvSpPr>
        <p:spPr>
          <a:xfrm>
            <a:off x="543157" y="27972152"/>
            <a:ext cx="2433205" cy="1384995"/>
          </a:xfrm>
          <a:prstGeom prst="rect">
            <a:avLst/>
          </a:prstGeom>
          <a:solidFill>
            <a:schemeClr val="accent6">
              <a:lumMod val="75000"/>
            </a:schemeClr>
          </a:solidFill>
        </p:spPr>
        <p:style>
          <a:lnRef idx="2">
            <a:schemeClr val="accent6"/>
          </a:lnRef>
          <a:fillRef idx="1">
            <a:schemeClr val="lt1"/>
          </a:fillRef>
          <a:effectRef idx="0">
            <a:schemeClr val="accent6"/>
          </a:effectRef>
          <a:fontRef idx="minor">
            <a:schemeClr val="dk1"/>
          </a:fontRef>
        </p:style>
        <p:txBody>
          <a:bodyPr rtlCol="0" anchor="ctr"/>
          <a:lstStyle/>
          <a:p>
            <a:pPr algn="ctr"/>
            <a:endParaRPr lang="en-IE" dirty="0"/>
          </a:p>
        </p:txBody>
      </p:sp>
      <p:sp>
        <p:nvSpPr>
          <p:cNvPr id="2" name="Text Placeholder 1"/>
          <p:cNvSpPr>
            <a:spLocks noGrp="1"/>
          </p:cNvSpPr>
          <p:nvPr>
            <p:ph type="body" sz="quarter" idx="10"/>
          </p:nvPr>
        </p:nvSpPr>
        <p:spPr>
          <a:xfrm>
            <a:off x="817717" y="8016643"/>
            <a:ext cx="9561421" cy="4339627"/>
          </a:xfrm>
        </p:spPr>
        <p:txBody>
          <a:bodyPr/>
          <a:lstStyle/>
          <a:p>
            <a:r>
              <a:rPr lang="en-GB" sz="2800" dirty="0">
                <a:solidFill>
                  <a:schemeClr val="tx1"/>
                </a:solidFill>
                <a:latin typeface="+mn-lt"/>
                <a:cs typeface="Arial" panose="020B0604020202020204" pitchFamily="34" charset="0"/>
              </a:rPr>
              <a:t>This project develops an AI Bias Auditing Framework using ACS Florida labour market data. Logistic Regression and Random Forest models were evaluated, followed by fairness analysis across sex, disability status and race. The tuned Random Forest achieved ROC-AUC 0.7545. Significant disparities were detected, including a disability Recall gap of 0.474 and a sex AUC gap of 0.063</a:t>
            </a:r>
            <a:r>
              <a:rPr lang="en-GB" sz="2800" dirty="0"/>
              <a:t> </a:t>
            </a:r>
            <a:r>
              <a:rPr lang="en-GB" sz="2800" dirty="0">
                <a:solidFill>
                  <a:schemeClr val="tx1"/>
                </a:solidFill>
                <a:latin typeface="+mn-lt"/>
              </a:rPr>
              <a:t>and a racial Recall gap of 0.256. A MySQL auditability layer supports EU AI Act and NYC Local Law 144 compliance</a:t>
            </a:r>
            <a:r>
              <a:rPr lang="en-GB" sz="2800" dirty="0">
                <a:solidFill>
                  <a:schemeClr val="tx1"/>
                </a:solidFill>
                <a:latin typeface="Arial" panose="020B0604020202020204" pitchFamily="34" charset="0"/>
                <a:cs typeface="Arial" panose="020B0604020202020204" pitchFamily="34" charset="0"/>
              </a:rPr>
              <a:t>.</a:t>
            </a:r>
            <a:endParaRPr lang="en-US" sz="2800" dirty="0">
              <a:solidFill>
                <a:schemeClr val="tx1"/>
              </a:solidFill>
              <a:latin typeface="Arial" panose="020B0604020202020204" pitchFamily="34" charset="0"/>
              <a:cs typeface="Arial" panose="020B0604020202020204" pitchFamily="34" charset="0"/>
            </a:endParaRPr>
          </a:p>
        </p:txBody>
      </p:sp>
      <p:sp>
        <p:nvSpPr>
          <p:cNvPr id="3" name="Text Placeholder 2"/>
          <p:cNvSpPr>
            <a:spLocks noGrp="1"/>
          </p:cNvSpPr>
          <p:nvPr>
            <p:ph type="body" sz="quarter" idx="11"/>
          </p:nvPr>
        </p:nvSpPr>
        <p:spPr>
          <a:xfrm>
            <a:off x="509578" y="6878163"/>
            <a:ext cx="10048875" cy="754045"/>
          </a:xfrm>
        </p:spPr>
        <p:txBody>
          <a:bodyPr/>
          <a:lstStyle/>
          <a:p>
            <a:r>
              <a:rPr lang="en-US" dirty="0">
                <a:latin typeface="+mj-lt"/>
                <a:cs typeface="Arial" panose="020B0604020202020204" pitchFamily="34" charset="0"/>
              </a:rPr>
              <a:t>ABSTRACT</a:t>
            </a:r>
          </a:p>
        </p:txBody>
      </p:sp>
      <p:sp>
        <p:nvSpPr>
          <p:cNvPr id="4" name="Text Placeholder 3"/>
          <p:cNvSpPr>
            <a:spLocks noGrp="1"/>
          </p:cNvSpPr>
          <p:nvPr>
            <p:ph type="body" sz="quarter" idx="20"/>
          </p:nvPr>
        </p:nvSpPr>
        <p:spPr>
          <a:xfrm>
            <a:off x="817717" y="17692234"/>
            <a:ext cx="8763595" cy="615545"/>
          </a:xfrm>
        </p:spPr>
        <p:txBody>
          <a:bodyPr/>
          <a:lstStyle/>
          <a:p>
            <a:pPr algn="l"/>
            <a:r>
              <a:rPr lang="en-IE" sz="2800" u="none" dirty="0"/>
              <a:t>Key Risks &amp; Mitigation</a:t>
            </a:r>
          </a:p>
        </p:txBody>
      </p:sp>
      <p:sp>
        <p:nvSpPr>
          <p:cNvPr id="5" name="Text Placeholder 4"/>
          <p:cNvSpPr>
            <a:spLocks noGrp="1"/>
          </p:cNvSpPr>
          <p:nvPr>
            <p:ph type="body" sz="quarter" idx="21"/>
          </p:nvPr>
        </p:nvSpPr>
        <p:spPr>
          <a:xfrm>
            <a:off x="11756837" y="5729336"/>
            <a:ext cx="10172243" cy="892530"/>
          </a:xfrm>
        </p:spPr>
        <p:txBody>
          <a:bodyPr/>
          <a:lstStyle/>
          <a:p>
            <a:r>
              <a:rPr lang="en-GB" sz="2800" b="1" dirty="0">
                <a:latin typeface="+mj-lt"/>
              </a:rPr>
              <a:t>Employment Rate by Demographic Group</a:t>
            </a:r>
            <a:endParaRPr lang="en-US" sz="2600" b="1" dirty="0">
              <a:latin typeface="+mj-lt"/>
              <a:cs typeface="Arial" panose="020B0604020202020204" pitchFamily="34" charset="0"/>
            </a:endParaRPr>
          </a:p>
        </p:txBody>
      </p:sp>
      <p:sp>
        <p:nvSpPr>
          <p:cNvPr id="9" name="Text Placeholder 8"/>
          <p:cNvSpPr>
            <a:spLocks noGrp="1"/>
          </p:cNvSpPr>
          <p:nvPr>
            <p:ph type="body" sz="quarter" idx="25"/>
          </p:nvPr>
        </p:nvSpPr>
        <p:spPr>
          <a:xfrm>
            <a:off x="33635949" y="14721699"/>
            <a:ext cx="9797359" cy="1661985"/>
          </a:xfrm>
        </p:spPr>
        <p:txBody>
          <a:bodyPr/>
          <a:lstStyle/>
          <a:p>
            <a:pPr algn="l"/>
            <a:r>
              <a:rPr lang="en-GB" sz="2400" u="none" dirty="0">
                <a:solidFill>
                  <a:schemeClr val="tx1">
                    <a:lumMod val="85000"/>
                    <a:lumOff val="15000"/>
                  </a:schemeClr>
                </a:solidFill>
              </a:rPr>
              <a:t>BY RACE Recall Gap</a:t>
            </a:r>
            <a:r>
              <a:rPr lang="en-GB" sz="2400" b="0" u="none" dirty="0">
                <a:solidFill>
                  <a:schemeClr val="tx1"/>
                </a:solidFill>
              </a:rPr>
              <a:t>: 0.256 SIGNIFICANT ⚠ Other races most underserved: Recall=0.48 for Not Employed class. AUC gap 0.038 within acceptable limits. Black/African American Recall=0.74 is acceptable — the disparity is concentrated in the Other races category, not across all non-White groups.</a:t>
            </a:r>
            <a:endParaRPr lang="en-US" sz="2400" b="0" u="none" dirty="0">
              <a:solidFill>
                <a:schemeClr val="tx1"/>
              </a:solidFill>
              <a:latin typeface="Arial" panose="020B0604020202020204" pitchFamily="34" charset="0"/>
              <a:cs typeface="Arial" panose="020B0604020202020204" pitchFamily="34" charset="0"/>
            </a:endParaRPr>
          </a:p>
        </p:txBody>
      </p:sp>
      <p:sp>
        <p:nvSpPr>
          <p:cNvPr id="11" name="Text Placeholder 10"/>
          <p:cNvSpPr>
            <a:spLocks noGrp="1"/>
          </p:cNvSpPr>
          <p:nvPr>
            <p:ph type="body" sz="quarter" idx="27"/>
          </p:nvPr>
        </p:nvSpPr>
        <p:spPr>
          <a:xfrm>
            <a:off x="33370866" y="24451466"/>
            <a:ext cx="10047018" cy="754045"/>
          </a:xfrm>
        </p:spPr>
        <p:txBody>
          <a:bodyPr/>
          <a:lstStyle/>
          <a:p>
            <a:r>
              <a:rPr lang="en-IE" dirty="0"/>
              <a:t>CONCLUSIONS </a:t>
            </a:r>
            <a:endParaRPr lang="en-US" dirty="0">
              <a:solidFill>
                <a:schemeClr val="tx2"/>
              </a:solidFill>
              <a:latin typeface="Arial" panose="020B0604020202020204" pitchFamily="34" charset="0"/>
              <a:cs typeface="Arial" panose="020B0604020202020204" pitchFamily="34" charset="0"/>
            </a:endParaRPr>
          </a:p>
        </p:txBody>
      </p:sp>
      <p:sp>
        <p:nvSpPr>
          <p:cNvPr id="16" name="Text Placeholder 15"/>
          <p:cNvSpPr>
            <a:spLocks noGrp="1"/>
          </p:cNvSpPr>
          <p:nvPr>
            <p:ph type="body" sz="quarter" idx="150"/>
          </p:nvPr>
        </p:nvSpPr>
        <p:spPr>
          <a:xfrm>
            <a:off x="5534015" y="3258481"/>
            <a:ext cx="31998968" cy="1280160"/>
          </a:xfrm>
        </p:spPr>
        <p:txBody>
          <a:bodyPr>
            <a:normAutofit/>
          </a:bodyPr>
          <a:lstStyle/>
          <a:p>
            <a:r>
              <a:rPr lang="en-US" sz="4800" b="1" dirty="0">
                <a:latin typeface="Arial" panose="020B0604020202020204" pitchFamily="34" charset="0"/>
                <a:cs typeface="Arial" panose="020B0604020202020204" pitchFamily="34" charset="0"/>
              </a:rPr>
              <a:t>Ana Clara R </a:t>
            </a:r>
            <a:r>
              <a:rPr lang="en-US" sz="4800" b="1" dirty="0" err="1">
                <a:latin typeface="Arial" panose="020B0604020202020204" pitchFamily="34" charset="0"/>
                <a:cs typeface="Arial" panose="020B0604020202020204" pitchFamily="34" charset="0"/>
              </a:rPr>
              <a:t>Quilapan</a:t>
            </a:r>
            <a:r>
              <a:rPr lang="en-US" sz="4800" b="1" dirty="0">
                <a:latin typeface="Arial" panose="020B0604020202020204" pitchFamily="34" charset="0"/>
                <a:cs typeface="Arial" panose="020B0604020202020204" pitchFamily="34" charset="0"/>
              </a:rPr>
              <a:t> - Student no 2022475 - CCT College Dublin </a:t>
            </a:r>
          </a:p>
        </p:txBody>
      </p:sp>
      <p:sp>
        <p:nvSpPr>
          <p:cNvPr id="18" name="Text Placeholder 17"/>
          <p:cNvSpPr>
            <a:spLocks noGrp="1"/>
          </p:cNvSpPr>
          <p:nvPr>
            <p:ph type="body" sz="quarter" idx="153"/>
          </p:nvPr>
        </p:nvSpPr>
        <p:spPr>
          <a:xfrm>
            <a:off x="349066" y="555254"/>
            <a:ext cx="42901013" cy="2277387"/>
          </a:xfrm>
        </p:spPr>
        <p:txBody>
          <a:bodyPr>
            <a:normAutofit/>
          </a:bodyPr>
          <a:lstStyle/>
          <a:p>
            <a:r>
              <a:rPr lang="en-IE" dirty="0"/>
              <a:t>AI Bias Auditing Framework for Labour Market Disparity Analysis</a:t>
            </a:r>
          </a:p>
          <a:p>
            <a:endParaRPr lang="en-US" dirty="0">
              <a:latin typeface="+mn-lt"/>
            </a:endParaRPr>
          </a:p>
        </p:txBody>
      </p:sp>
      <p:sp>
        <p:nvSpPr>
          <p:cNvPr id="28" name="Text Placeholder 6"/>
          <p:cNvSpPr>
            <a:spLocks noGrp="1"/>
          </p:cNvSpPr>
          <p:nvPr>
            <p:ph type="body" sz="quarter" idx="23"/>
          </p:nvPr>
        </p:nvSpPr>
        <p:spPr>
          <a:xfrm>
            <a:off x="22451090" y="5580498"/>
            <a:ext cx="10048874" cy="1031029"/>
          </a:xfrm>
        </p:spPr>
        <p:txBody>
          <a:bodyPr/>
          <a:lstStyle/>
          <a:p>
            <a:pPr algn="ctr"/>
            <a:r>
              <a:rPr lang="en-IE" sz="3700" b="1" u="sng" dirty="0">
                <a:latin typeface="+mj-lt"/>
              </a:rPr>
              <a:t>PHASE 4: MODELLING &amp; MODEL SELECTION</a:t>
            </a:r>
            <a:endParaRPr lang="en-US" sz="3700" b="1" u="sng" dirty="0">
              <a:solidFill>
                <a:schemeClr val="tx1">
                  <a:lumMod val="95000"/>
                  <a:lumOff val="5000"/>
                </a:schemeClr>
              </a:solidFill>
              <a:latin typeface="+mj-lt"/>
              <a:cs typeface="Arial" panose="020B0604020202020204" pitchFamily="34" charset="0"/>
            </a:endParaRPr>
          </a:p>
        </p:txBody>
      </p:sp>
      <p:sp>
        <p:nvSpPr>
          <p:cNvPr id="30" name="Text Placeholder 6"/>
          <p:cNvSpPr>
            <a:spLocks noGrp="1"/>
          </p:cNvSpPr>
          <p:nvPr>
            <p:ph type="body" sz="quarter" idx="23"/>
          </p:nvPr>
        </p:nvSpPr>
        <p:spPr>
          <a:xfrm>
            <a:off x="22461650" y="21284016"/>
            <a:ext cx="10048874" cy="1323417"/>
          </a:xfrm>
        </p:spPr>
        <p:txBody>
          <a:bodyPr/>
          <a:lstStyle/>
          <a:p>
            <a:r>
              <a:rPr lang="en-IE" sz="2800" b="1" dirty="0">
                <a:latin typeface="+mj-lt"/>
              </a:rPr>
              <a:t>Hyperparameter Tuning — </a:t>
            </a:r>
            <a:r>
              <a:rPr lang="en-IE" sz="2800" b="1" dirty="0" err="1">
                <a:latin typeface="+mj-lt"/>
              </a:rPr>
              <a:t>GridSearchCV</a:t>
            </a:r>
            <a:r>
              <a:rPr lang="en-IE" sz="2800" b="1" dirty="0">
                <a:latin typeface="+mj-lt"/>
              </a:rPr>
              <a:t> (36 combinations, 3-fold CV) </a:t>
            </a:r>
            <a:endParaRPr lang="en-US" sz="2800" b="1" u="sng" dirty="0">
              <a:solidFill>
                <a:schemeClr val="tx2"/>
              </a:solidFill>
              <a:latin typeface="+mj-lt"/>
              <a:cs typeface="Arial" panose="020B0604020202020204" pitchFamily="34" charset="0"/>
            </a:endParaRPr>
          </a:p>
        </p:txBody>
      </p:sp>
      <p:sp>
        <p:nvSpPr>
          <p:cNvPr id="25" name="Rectangle 24"/>
          <p:cNvSpPr/>
          <p:nvPr/>
        </p:nvSpPr>
        <p:spPr>
          <a:xfrm>
            <a:off x="1543050" y="32318325"/>
            <a:ext cx="2828925" cy="438150"/>
          </a:xfrm>
          <a:prstGeom prst="rect">
            <a:avLst/>
          </a:prstGeom>
          <a:solidFill>
            <a:schemeClr val="accent5">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IE"/>
          </a:p>
        </p:txBody>
      </p:sp>
      <p:sp>
        <p:nvSpPr>
          <p:cNvPr id="36" name="Content Placeholder 2"/>
          <p:cNvSpPr txBox="1">
            <a:spLocks/>
          </p:cNvSpPr>
          <p:nvPr/>
        </p:nvSpPr>
        <p:spPr>
          <a:xfrm>
            <a:off x="22629083" y="6539314"/>
            <a:ext cx="9561422" cy="1645246"/>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buNone/>
            </a:pPr>
            <a:r>
              <a:rPr lang="en-GB" sz="2600" dirty="0">
                <a:cs typeface="Arial" panose="020B0604020202020204" pitchFamily="34" charset="0"/>
              </a:rPr>
              <a:t>5-fold stratified cross-validation (ROC-AUC) across 6 candidate algorithms. Logistic Regression selected as interpretable baseline;</a:t>
            </a:r>
          </a:p>
          <a:p>
            <a:pPr marL="0" indent="0">
              <a:buNone/>
            </a:pPr>
            <a:r>
              <a:rPr lang="en-GB" sz="2600" dirty="0">
                <a:cs typeface="Arial" panose="020B0604020202020204" pitchFamily="34" charset="0"/>
              </a:rPr>
              <a:t>Random Forest as primary model.</a:t>
            </a:r>
          </a:p>
        </p:txBody>
      </p:sp>
      <p:sp>
        <p:nvSpPr>
          <p:cNvPr id="40" name="Text Placeholder 3"/>
          <p:cNvSpPr>
            <a:spLocks noGrp="1"/>
          </p:cNvSpPr>
          <p:nvPr>
            <p:ph type="body" sz="quarter" idx="20"/>
          </p:nvPr>
        </p:nvSpPr>
        <p:spPr>
          <a:xfrm>
            <a:off x="520682" y="12579007"/>
            <a:ext cx="10026754" cy="754045"/>
          </a:xfrm>
        </p:spPr>
        <p:txBody>
          <a:bodyPr/>
          <a:lstStyle/>
          <a:p>
            <a:r>
              <a:rPr lang="en-IE" dirty="0"/>
              <a:t>PHASE 1: BUSINESS UNDERSTANDING </a:t>
            </a:r>
            <a:endParaRPr lang="en-US" dirty="0">
              <a:solidFill>
                <a:schemeClr val="tx2"/>
              </a:solidFill>
              <a:latin typeface="Arial" panose="020B0604020202020204" pitchFamily="34" charset="0"/>
              <a:cs typeface="Arial" panose="020B0604020202020204" pitchFamily="34" charset="0"/>
            </a:endParaRPr>
          </a:p>
        </p:txBody>
      </p:sp>
      <p:sp>
        <p:nvSpPr>
          <p:cNvPr id="41" name="Content Placeholder 2"/>
          <p:cNvSpPr txBox="1">
            <a:spLocks/>
          </p:cNvSpPr>
          <p:nvPr/>
        </p:nvSpPr>
        <p:spPr>
          <a:xfrm>
            <a:off x="659551" y="13703754"/>
            <a:ext cx="9839759" cy="3737099"/>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defTabSz="895350">
              <a:buFont typeface="Arial" pitchFamily="34" charset="0"/>
              <a:buNone/>
            </a:pPr>
            <a:r>
              <a:rPr lang="en-IE" sz="2800" b="1" dirty="0">
                <a:cs typeface="Arial" panose="020B0604020202020204" pitchFamily="34" charset="0"/>
              </a:rPr>
              <a:t>Problem: </a:t>
            </a:r>
            <a:r>
              <a:rPr lang="en-IE" sz="2800" dirty="0">
                <a:cs typeface="Arial" panose="020B0604020202020204" pitchFamily="34" charset="0"/>
              </a:rPr>
              <a:t>Organisations deploying AI in recruitment lack structured mechanisms to audit algorithmic outcomes across demographic</a:t>
            </a:r>
          </a:p>
          <a:p>
            <a:pPr marL="0" indent="0" algn="just" defTabSz="895350">
              <a:buFont typeface="Arial" pitchFamily="34" charset="0"/>
              <a:buNone/>
            </a:pPr>
            <a:r>
              <a:rPr lang="en-IE" sz="2800" dirty="0">
                <a:cs typeface="Arial" panose="020B0604020202020204" pitchFamily="34" charset="0"/>
              </a:rPr>
              <a:t>groups.</a:t>
            </a:r>
          </a:p>
          <a:p>
            <a:pPr marL="0" indent="0" algn="just" defTabSz="895350">
              <a:buFont typeface="Arial" pitchFamily="34" charset="0"/>
              <a:buNone/>
            </a:pPr>
            <a:r>
              <a:rPr lang="en-IE" sz="2800" b="1" dirty="0">
                <a:cs typeface="Arial" panose="020B0604020202020204" pitchFamily="34" charset="0"/>
              </a:rPr>
              <a:t>Aim: </a:t>
            </a:r>
            <a:r>
              <a:rPr lang="en-IE" sz="2800" dirty="0">
                <a:cs typeface="Arial" panose="020B0604020202020204" pitchFamily="34" charset="0"/>
              </a:rPr>
              <a:t>Develop a prototype framework to detect, measure, and log employment outcome disparities in an auditable manner.</a:t>
            </a:r>
          </a:p>
          <a:p>
            <a:pPr marL="0" indent="0" algn="just" defTabSz="895350">
              <a:buFont typeface="Arial" pitchFamily="34" charset="0"/>
              <a:buNone/>
            </a:pPr>
            <a:r>
              <a:rPr lang="en-IE" sz="2800" b="1" dirty="0">
                <a:cs typeface="Arial" panose="020B0604020202020204" pitchFamily="34" charset="0"/>
              </a:rPr>
              <a:t>Tools: </a:t>
            </a:r>
            <a:r>
              <a:rPr lang="en-IE" sz="2800" dirty="0">
                <a:cs typeface="Arial" panose="020B0604020202020204" pitchFamily="34" charset="0"/>
              </a:rPr>
              <a:t>Python 3 · scikit-learn · pandas · matplotlib · seaborn · MySQL (all open-source)</a:t>
            </a:r>
          </a:p>
        </p:txBody>
      </p:sp>
      <p:sp>
        <p:nvSpPr>
          <p:cNvPr id="39" name="Content Placeholder 2">
            <a:extLst>
              <a:ext uri="{FF2B5EF4-FFF2-40B4-BE49-F238E27FC236}">
                <a16:creationId xmlns:a16="http://schemas.microsoft.com/office/drawing/2014/main" id="{2EFFBC5F-0C09-40DB-9DFE-B704854ECCA6}"/>
              </a:ext>
            </a:extLst>
          </p:cNvPr>
          <p:cNvSpPr txBox="1">
            <a:spLocks/>
          </p:cNvSpPr>
          <p:nvPr/>
        </p:nvSpPr>
        <p:spPr>
          <a:xfrm>
            <a:off x="11693941" y="8028377"/>
            <a:ext cx="9662432" cy="979718"/>
          </a:xfrm>
          <a:prstGeom prst="rect">
            <a:avLst/>
          </a:prstGeom>
        </p:spPr>
        <p:txBody>
          <a:bodyPr>
            <a:normAutofit fontScale="70000" lnSpcReduction="20000"/>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algn="just">
              <a:buNone/>
            </a:pPr>
            <a:endParaRPr lang="en-IE" sz="9600" dirty="0">
              <a:latin typeface="Arial" panose="020B0604020202020204" pitchFamily="34" charset="0"/>
              <a:cs typeface="Arial" panose="020B0604020202020204" pitchFamily="34" charset="0"/>
            </a:endParaRPr>
          </a:p>
        </p:txBody>
      </p:sp>
      <p:sp>
        <p:nvSpPr>
          <p:cNvPr id="43" name="Text Placeholder 4">
            <a:extLst>
              <a:ext uri="{FF2B5EF4-FFF2-40B4-BE49-F238E27FC236}">
                <a16:creationId xmlns:a16="http://schemas.microsoft.com/office/drawing/2014/main" id="{D01E89C6-0794-4157-9DEF-383030D60FAB}"/>
              </a:ext>
            </a:extLst>
          </p:cNvPr>
          <p:cNvSpPr txBox="1">
            <a:spLocks/>
          </p:cNvSpPr>
          <p:nvPr/>
        </p:nvSpPr>
        <p:spPr>
          <a:xfrm>
            <a:off x="11589822" y="27524655"/>
            <a:ext cx="10048874" cy="2634545"/>
          </a:xfrm>
          <a:prstGeom prst="rect">
            <a:avLst/>
          </a:prstGeom>
        </p:spPr>
        <p:txBody>
          <a:bodyPr wrap="square" lIns="228589" tIns="228589" rIns="228589" bIns="228589">
            <a:spAutoFit/>
          </a:bodyPr>
          <a:lstStyle>
            <a:lvl1pPr marL="0" indent="0" algn="l" defTabSz="4388900" rtl="0" eaLnBrk="1" latinLnBrk="0" hangingPunct="1">
              <a:spcBef>
                <a:spcPct val="20000"/>
              </a:spcBef>
              <a:buFont typeface="Arial" pitchFamily="34" charset="0"/>
              <a:buNone/>
              <a:defRPr sz="2500" kern="1200">
                <a:solidFill>
                  <a:schemeClr val="accent5">
                    <a:lumMod val="50000"/>
                  </a:schemeClr>
                </a:solidFill>
                <a:latin typeface="Times New Roman" pitchFamily="18" charset="0"/>
                <a:ea typeface="+mn-ea"/>
                <a:cs typeface="Times New Roman" pitchFamily="18" charset="0"/>
              </a:defRPr>
            </a:lvl1pPr>
            <a:lvl2pPr marL="1485825"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2pPr>
            <a:lvl3pPr marL="2057297" indent="-571471"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3pPr>
            <a:lvl4pPr marL="2685916" indent="-628619"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4pPr>
            <a:lvl5pPr marL="3143093" indent="-457177" algn="l" defTabSz="4388900" rtl="0" eaLnBrk="1" latinLnBrk="0" hangingPunct="1">
              <a:spcBef>
                <a:spcPct val="20000"/>
              </a:spcBef>
              <a:buFont typeface="Arial" pitchFamily="34" charset="0"/>
              <a:buChar char="»"/>
              <a:defRPr sz="2500" kern="1200">
                <a:solidFill>
                  <a:schemeClr val="tx1"/>
                </a:solidFill>
                <a:latin typeface="Trebuchet MS" pitchFamily="34" charset="0"/>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r>
              <a:rPr lang="en-GB" sz="3200" b="1" dirty="0">
                <a:solidFill>
                  <a:schemeClr val="bg2">
                    <a:lumMod val="10000"/>
                  </a:schemeClr>
                </a:solidFill>
                <a:latin typeface="+mn-lt"/>
              </a:rPr>
              <a:t>Target: EMPLOYED (derived from ESR) </a:t>
            </a:r>
          </a:p>
          <a:p>
            <a:pPr>
              <a:lnSpc>
                <a:spcPct val="150000"/>
              </a:lnSpc>
            </a:pPr>
            <a:r>
              <a:rPr lang="en-GB" sz="2800" dirty="0">
                <a:solidFill>
                  <a:schemeClr val="bg2">
                    <a:lumMod val="10000"/>
                  </a:schemeClr>
                </a:solidFill>
                <a:latin typeface="+mn-lt"/>
              </a:rPr>
              <a:t>88,393 Employed (69.9%)   ·   38,037 Not Employed (30.1%)</a:t>
            </a:r>
          </a:p>
          <a:p>
            <a:r>
              <a:rPr lang="en-GB" sz="2600" dirty="0">
                <a:solidFill>
                  <a:schemeClr val="tx1">
                    <a:lumMod val="75000"/>
                    <a:lumOff val="25000"/>
                  </a:schemeClr>
                </a:solidFill>
                <a:latin typeface="+mn-lt"/>
              </a:rPr>
              <a:t>80/20 stratified split → 101,144 train | 25,286 test | 35 features after One-Hot Encoding</a:t>
            </a:r>
            <a:endParaRPr lang="en-US" sz="2600" dirty="0">
              <a:solidFill>
                <a:schemeClr val="tx1">
                  <a:lumMod val="75000"/>
                  <a:lumOff val="25000"/>
                </a:schemeClr>
              </a:solidFill>
              <a:latin typeface="+mn-lt"/>
              <a:cs typeface="Arial" panose="020B0604020202020204" pitchFamily="34" charset="0"/>
            </a:endParaRPr>
          </a:p>
        </p:txBody>
      </p:sp>
      <p:sp>
        <p:nvSpPr>
          <p:cNvPr id="47" name="Content Placeholder 2">
            <a:extLst>
              <a:ext uri="{FF2B5EF4-FFF2-40B4-BE49-F238E27FC236}">
                <a16:creationId xmlns:a16="http://schemas.microsoft.com/office/drawing/2014/main" id="{C12A8FE5-E10F-498E-9E7D-EC629905A877}"/>
              </a:ext>
            </a:extLst>
          </p:cNvPr>
          <p:cNvSpPr txBox="1">
            <a:spLocks/>
          </p:cNvSpPr>
          <p:nvPr/>
        </p:nvSpPr>
        <p:spPr>
          <a:xfrm>
            <a:off x="33534257" y="29848554"/>
            <a:ext cx="9568642" cy="2140299"/>
          </a:xfrm>
          <a:prstGeom prst="rect">
            <a:avLst/>
          </a:prstGeom>
        </p:spPr>
        <p:txBody>
          <a:bodyPr>
            <a:noAutofit/>
          </a:bodyPr>
          <a:lstStyle>
            <a:lvl1pPr marL="1645838" indent="-1645838" algn="l" defTabSz="4388900" rtl="0" eaLnBrk="1" latinLnBrk="0" hangingPunct="1">
              <a:spcBef>
                <a:spcPct val="20000"/>
              </a:spcBef>
              <a:buFont typeface="Arial" pitchFamily="34" charset="0"/>
              <a:buChar char="•"/>
              <a:defRPr sz="15400" kern="1200">
                <a:solidFill>
                  <a:schemeClr val="tx1"/>
                </a:solidFill>
                <a:latin typeface="+mn-lt"/>
                <a:ea typeface="+mn-ea"/>
                <a:cs typeface="+mn-cs"/>
              </a:defRPr>
            </a:lvl1pPr>
            <a:lvl2pPr marL="3565982" indent="-1371531" algn="l" defTabSz="4388900" rtl="0" eaLnBrk="1" latinLnBrk="0" hangingPunct="1">
              <a:spcBef>
                <a:spcPct val="20000"/>
              </a:spcBef>
              <a:buFont typeface="Arial" pitchFamily="34" charset="0"/>
              <a:buChar char="–"/>
              <a:defRPr sz="13500" kern="1200">
                <a:solidFill>
                  <a:schemeClr val="tx1"/>
                </a:solidFill>
                <a:latin typeface="+mn-lt"/>
                <a:ea typeface="+mn-ea"/>
                <a:cs typeface="+mn-cs"/>
              </a:defRPr>
            </a:lvl2pPr>
            <a:lvl3pPr marL="5486126" indent="-1097226" algn="l" defTabSz="4388900" rtl="0" eaLnBrk="1" latinLnBrk="0" hangingPunct="1">
              <a:spcBef>
                <a:spcPct val="20000"/>
              </a:spcBef>
              <a:buFont typeface="Arial" pitchFamily="34" charset="0"/>
              <a:buChar char="•"/>
              <a:defRPr sz="11600" kern="1200">
                <a:solidFill>
                  <a:schemeClr val="tx1"/>
                </a:solidFill>
                <a:latin typeface="+mn-lt"/>
                <a:ea typeface="+mn-ea"/>
                <a:cs typeface="+mn-cs"/>
              </a:defRPr>
            </a:lvl3pPr>
            <a:lvl4pPr marL="76805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4pPr>
            <a:lvl5pPr marL="98750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5pPr>
            <a:lvl6pPr marL="120694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6pPr>
            <a:lvl7pPr marL="14263926"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7pPr>
            <a:lvl8pPr marL="1645837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8pPr>
            <a:lvl9pPr marL="18652827" indent="-1097226" algn="l" defTabSz="4388900" rtl="0" eaLnBrk="1" latinLnBrk="0" hangingPunct="1">
              <a:spcBef>
                <a:spcPct val="20000"/>
              </a:spcBef>
              <a:buFont typeface="Arial" pitchFamily="34" charset="0"/>
              <a:buChar char="•"/>
              <a:defRPr sz="9600" kern="1200">
                <a:solidFill>
                  <a:schemeClr val="tx1"/>
                </a:solidFill>
                <a:latin typeface="+mn-lt"/>
                <a:ea typeface="+mn-ea"/>
                <a:cs typeface="+mn-cs"/>
              </a:defRPr>
            </a:lvl9pPr>
          </a:lstStyle>
          <a:p>
            <a:pPr marL="0" indent="0" defTabSz="895350">
              <a:buNone/>
            </a:pPr>
            <a:r>
              <a:rPr lang="en-GB" sz="1200" dirty="0"/>
              <a:t>References:</a:t>
            </a:r>
          </a:p>
          <a:p>
            <a:pPr marL="0" indent="0" defTabSz="895350">
              <a:buNone/>
            </a:pPr>
            <a:r>
              <a:rPr lang="en-GB" sz="1200" dirty="0"/>
              <a:t>Ahmad et al. (2025) Frontiers in Data Science. doi:10.3389/fdata.2025.1487713</a:t>
            </a:r>
          </a:p>
          <a:p>
            <a:pPr marL="0" indent="0" defTabSz="895350">
              <a:buNone/>
            </a:pPr>
            <a:r>
              <a:rPr lang="en-GB" sz="1200" dirty="0"/>
              <a:t>Bellamy et al. (2019) AI Fairness 360. IBM J. R&amp;D 63(4/5).</a:t>
            </a:r>
          </a:p>
          <a:p>
            <a:pPr marL="0" indent="0" defTabSz="895350">
              <a:buNone/>
            </a:pPr>
            <a:r>
              <a:rPr lang="en-GB" sz="1200" dirty="0"/>
              <a:t>Dwork et al. (2012) Fairness through awareness. ITCS.</a:t>
            </a:r>
          </a:p>
          <a:p>
            <a:pPr marL="0" indent="0" defTabSz="895350">
              <a:buNone/>
            </a:pPr>
            <a:r>
              <a:rPr lang="en-GB" sz="1200" dirty="0"/>
              <a:t>European Parliament (2024) EU AI Act — Regulation 2024/1689.</a:t>
            </a:r>
          </a:p>
          <a:p>
            <a:pPr marL="0" indent="0" defTabSz="895350">
              <a:buNone/>
            </a:pPr>
            <a:r>
              <a:rPr lang="en-GB" sz="1200" dirty="0"/>
              <a:t>Mehrabi et al. (2021) Survey on bias in ML. ACM Computing Surveys 54(6).</a:t>
            </a:r>
          </a:p>
          <a:p>
            <a:pPr marL="0" indent="0" defTabSz="895350">
              <a:buNone/>
            </a:pPr>
            <a:r>
              <a:rPr lang="en-GB" sz="1200" dirty="0"/>
              <a:t>NYC Council (2021) Local Law 144 — Automated Employment Decision Tools.</a:t>
            </a:r>
          </a:p>
          <a:p>
            <a:pPr marL="0" indent="0" defTabSz="895350">
              <a:buNone/>
            </a:pPr>
            <a:r>
              <a:rPr lang="en-GB" sz="1200" dirty="0"/>
              <a:t>Pedregosa et al. (2011) Scikit-learn. JMLR 12.</a:t>
            </a:r>
          </a:p>
          <a:p>
            <a:pPr marL="0" indent="0" defTabSz="895350">
              <a:buNone/>
            </a:pPr>
            <a:r>
              <a:rPr lang="en-GB" sz="1200" dirty="0"/>
              <a:t>U.S. Census Bureau (2022) ACS 1-Year PUMS Florid</a:t>
            </a:r>
          </a:p>
        </p:txBody>
      </p:sp>
      <p:sp>
        <p:nvSpPr>
          <p:cNvPr id="51" name="CuadroTexto 50">
            <a:extLst>
              <a:ext uri="{FF2B5EF4-FFF2-40B4-BE49-F238E27FC236}">
                <a16:creationId xmlns:a16="http://schemas.microsoft.com/office/drawing/2014/main" id="{E362C951-24F1-F6A5-4D1F-FD7111CBC9EC}"/>
              </a:ext>
            </a:extLst>
          </p:cNvPr>
          <p:cNvSpPr txBox="1"/>
          <p:nvPr/>
        </p:nvSpPr>
        <p:spPr>
          <a:xfrm>
            <a:off x="22800624" y="13859007"/>
            <a:ext cx="9466977" cy="523220"/>
          </a:xfrm>
          <a:prstGeom prst="rect">
            <a:avLst/>
          </a:prstGeom>
          <a:noFill/>
        </p:spPr>
        <p:txBody>
          <a:bodyPr wrap="square" rtlCol="0">
            <a:spAutoFit/>
          </a:bodyPr>
          <a:lstStyle/>
          <a:p>
            <a:r>
              <a:rPr lang="en-IE" sz="2800" dirty="0">
                <a:latin typeface="Calibri (Títulos)"/>
                <a:cs typeface="Arial" panose="020B0604020202020204" pitchFamily="34" charset="0"/>
              </a:rPr>
              <a:t> </a:t>
            </a:r>
            <a:r>
              <a:rPr lang="en-GB" sz="2800" dirty="0">
                <a:latin typeface="Calibri (Títulos)"/>
              </a:rPr>
              <a:t>Feature Importance — Tuned Random Forest (Gini)</a:t>
            </a:r>
            <a:endParaRPr lang="en-IE" sz="2800" dirty="0">
              <a:latin typeface="Calibri (Títulos)"/>
              <a:cs typeface="Arial" panose="020B0604020202020204" pitchFamily="34" charset="0"/>
            </a:endParaRPr>
          </a:p>
        </p:txBody>
      </p:sp>
      <p:pic>
        <p:nvPicPr>
          <p:cNvPr id="54" name="Imagen 53">
            <a:extLst>
              <a:ext uri="{FF2B5EF4-FFF2-40B4-BE49-F238E27FC236}">
                <a16:creationId xmlns:a16="http://schemas.microsoft.com/office/drawing/2014/main" id="{61566060-31EC-E1CC-E332-BD42F90F1FB9}"/>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22930752" y="14407624"/>
            <a:ext cx="8409979" cy="6264866"/>
          </a:xfrm>
          <a:prstGeom prst="rect">
            <a:avLst/>
          </a:prstGeom>
        </p:spPr>
      </p:pic>
      <p:sp>
        <p:nvSpPr>
          <p:cNvPr id="59" name="CuadroTexto 58">
            <a:extLst>
              <a:ext uri="{FF2B5EF4-FFF2-40B4-BE49-F238E27FC236}">
                <a16:creationId xmlns:a16="http://schemas.microsoft.com/office/drawing/2014/main" id="{C1DC9EF3-CC85-E4F1-6330-6878A755F7A7}"/>
              </a:ext>
            </a:extLst>
          </p:cNvPr>
          <p:cNvSpPr txBox="1"/>
          <p:nvPr/>
        </p:nvSpPr>
        <p:spPr>
          <a:xfrm>
            <a:off x="33543983" y="5765947"/>
            <a:ext cx="9397300" cy="661720"/>
          </a:xfrm>
          <a:prstGeom prst="rect">
            <a:avLst/>
          </a:prstGeom>
          <a:noFill/>
        </p:spPr>
        <p:txBody>
          <a:bodyPr wrap="square" rtlCol="0">
            <a:spAutoFit/>
          </a:bodyPr>
          <a:lstStyle/>
          <a:p>
            <a:pPr algn="ctr"/>
            <a:r>
              <a:rPr lang="en-IE" sz="3700" b="1" u="sng" dirty="0">
                <a:solidFill>
                  <a:schemeClr val="accent5">
                    <a:lumMod val="50000"/>
                  </a:schemeClr>
                </a:solidFill>
              </a:rPr>
              <a:t>PHASE 5: FAIRNESS ANALYSIS </a:t>
            </a:r>
            <a:endParaRPr lang="en-IE" sz="3700" b="1" u="sng" dirty="0">
              <a:solidFill>
                <a:schemeClr val="accent5">
                  <a:lumMod val="50000"/>
                </a:schemeClr>
              </a:solidFill>
              <a:latin typeface="Arial" panose="020B0604020202020204" pitchFamily="34" charset="0"/>
              <a:cs typeface="Arial" panose="020B0604020202020204" pitchFamily="34" charset="0"/>
            </a:endParaRPr>
          </a:p>
        </p:txBody>
      </p:sp>
      <p:sp>
        <p:nvSpPr>
          <p:cNvPr id="60" name="CuadroTexto 59">
            <a:extLst>
              <a:ext uri="{FF2B5EF4-FFF2-40B4-BE49-F238E27FC236}">
                <a16:creationId xmlns:a16="http://schemas.microsoft.com/office/drawing/2014/main" id="{6B69EAE3-BF6F-E01D-7C59-05C45BC18B57}"/>
              </a:ext>
            </a:extLst>
          </p:cNvPr>
          <p:cNvSpPr txBox="1"/>
          <p:nvPr/>
        </p:nvSpPr>
        <p:spPr>
          <a:xfrm>
            <a:off x="33543983" y="6559457"/>
            <a:ext cx="9466976" cy="954107"/>
          </a:xfrm>
          <a:prstGeom prst="rect">
            <a:avLst/>
          </a:prstGeom>
          <a:noFill/>
        </p:spPr>
        <p:txBody>
          <a:bodyPr wrap="square" rtlCol="0">
            <a:spAutoFit/>
          </a:bodyPr>
          <a:lstStyle/>
          <a:p>
            <a:r>
              <a:rPr lang="en-GB" sz="2800" i="1" dirty="0"/>
              <a:t>AUC gap &gt; 0.05 or Recall gap &gt; 0.05 = significant (Bellamy et al., 2019)</a:t>
            </a:r>
            <a:endParaRPr lang="en-IE" sz="2600" i="1" dirty="0">
              <a:latin typeface="Arial" panose="020B0604020202020204" pitchFamily="34" charset="0"/>
              <a:cs typeface="Arial" panose="020B0604020202020204" pitchFamily="34" charset="0"/>
            </a:endParaRPr>
          </a:p>
        </p:txBody>
      </p:sp>
      <p:pic>
        <p:nvPicPr>
          <p:cNvPr id="63" name="Imagen 62">
            <a:extLst>
              <a:ext uri="{FF2B5EF4-FFF2-40B4-BE49-F238E27FC236}">
                <a16:creationId xmlns:a16="http://schemas.microsoft.com/office/drawing/2014/main" id="{61348DF9-0B94-BFAD-8962-E0D971B2A2D2}"/>
              </a:ext>
            </a:extLst>
          </p:cNvPr>
          <p:cNvPicPr>
            <a:picLocks noChangeAspect="1"/>
          </p:cNvPicPr>
          <p:nvPr/>
        </p:nvPicPr>
        <p:blipFill>
          <a:blip r:embed="rId4" cstate="print">
            <a:extLst>
              <a:ext uri="{28A0092B-C50C-407E-A947-70E740481C1C}">
                <a14:useLocalDpi xmlns:a14="http://schemas.microsoft.com/office/drawing/2010/main" val="0"/>
              </a:ext>
            </a:extLst>
          </a:blip>
          <a:srcRect/>
          <a:stretch/>
        </p:blipFill>
        <p:spPr>
          <a:xfrm>
            <a:off x="33569175" y="7571396"/>
            <a:ext cx="9681247" cy="3267375"/>
          </a:xfrm>
          <a:prstGeom prst="rect">
            <a:avLst/>
          </a:prstGeom>
        </p:spPr>
      </p:pic>
      <p:pic>
        <p:nvPicPr>
          <p:cNvPr id="4104" name="Imagen 4103">
            <a:extLst>
              <a:ext uri="{FF2B5EF4-FFF2-40B4-BE49-F238E27FC236}">
                <a16:creationId xmlns:a16="http://schemas.microsoft.com/office/drawing/2014/main" id="{7CED93B5-D3E5-4D84-2C88-BE1A6B1D5E96}"/>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11656170" y="7183496"/>
            <a:ext cx="9650771" cy="2563551"/>
          </a:xfrm>
          <a:prstGeom prst="rect">
            <a:avLst/>
          </a:prstGeom>
        </p:spPr>
      </p:pic>
      <p:sp>
        <p:nvSpPr>
          <p:cNvPr id="4111" name="CuadroTexto 4110">
            <a:extLst>
              <a:ext uri="{FF2B5EF4-FFF2-40B4-BE49-F238E27FC236}">
                <a16:creationId xmlns:a16="http://schemas.microsoft.com/office/drawing/2014/main" id="{7742A90C-CC31-4D1F-2A21-5C6DD9DE1193}"/>
              </a:ext>
            </a:extLst>
          </p:cNvPr>
          <p:cNvSpPr txBox="1"/>
          <p:nvPr/>
        </p:nvSpPr>
        <p:spPr>
          <a:xfrm>
            <a:off x="33635923" y="19557020"/>
            <a:ext cx="9466976" cy="661720"/>
          </a:xfrm>
          <a:prstGeom prst="rect">
            <a:avLst/>
          </a:prstGeom>
          <a:noFill/>
        </p:spPr>
        <p:txBody>
          <a:bodyPr wrap="square" rtlCol="0">
            <a:spAutoFit/>
          </a:bodyPr>
          <a:lstStyle/>
          <a:p>
            <a:pPr algn="ctr"/>
            <a:r>
              <a:rPr lang="en-GB" sz="3700" b="1" u="sng" dirty="0">
                <a:solidFill>
                  <a:schemeClr val="accent5">
                    <a:lumMod val="50000"/>
                  </a:schemeClr>
                </a:solidFill>
              </a:rPr>
              <a:t>PHASE 6: DEPLOYMENT — MySQL AUDIT LAYER</a:t>
            </a:r>
            <a:endParaRPr lang="en-IE" sz="3700" b="1" u="sng" dirty="0">
              <a:solidFill>
                <a:schemeClr val="accent5">
                  <a:lumMod val="50000"/>
                </a:schemeClr>
              </a:solidFill>
              <a:latin typeface="Arial" panose="020B0604020202020204" pitchFamily="34" charset="0"/>
              <a:cs typeface="Arial" panose="020B0604020202020204" pitchFamily="34" charset="0"/>
            </a:endParaRPr>
          </a:p>
        </p:txBody>
      </p:sp>
      <p:sp>
        <p:nvSpPr>
          <p:cNvPr id="4112" name="CuadroTexto 4111">
            <a:extLst>
              <a:ext uri="{FF2B5EF4-FFF2-40B4-BE49-F238E27FC236}">
                <a16:creationId xmlns:a16="http://schemas.microsoft.com/office/drawing/2014/main" id="{D44BDA21-2B55-2259-66C2-0230B1294460}"/>
              </a:ext>
            </a:extLst>
          </p:cNvPr>
          <p:cNvSpPr txBox="1"/>
          <p:nvPr/>
        </p:nvSpPr>
        <p:spPr>
          <a:xfrm>
            <a:off x="33588817" y="20218740"/>
            <a:ext cx="9701115" cy="4093428"/>
          </a:xfrm>
          <a:prstGeom prst="rect">
            <a:avLst/>
          </a:prstGeom>
          <a:noFill/>
        </p:spPr>
        <p:txBody>
          <a:bodyPr wrap="square" rtlCol="0">
            <a:spAutoFit/>
          </a:bodyPr>
          <a:lstStyle/>
          <a:p>
            <a:r>
              <a:rPr lang="en-GB" sz="2600" dirty="0" err="1"/>
              <a:t>audit_predictions</a:t>
            </a:r>
            <a:r>
              <a:rPr lang="en-GB" sz="2600" dirty="0"/>
              <a:t> </a:t>
            </a:r>
          </a:p>
          <a:p>
            <a:r>
              <a:rPr lang="en-GB" sz="2600" dirty="0"/>
              <a:t>25,286 rows — individual predictions, demographic features, probability scores, timestamps. Supports EU AI Act Art.10(5). </a:t>
            </a:r>
            <a:r>
              <a:rPr lang="en-GB" sz="2600" dirty="0" err="1"/>
              <a:t>audit_fairness_log</a:t>
            </a:r>
            <a:endParaRPr lang="en-GB" sz="2600" dirty="0"/>
          </a:p>
          <a:p>
            <a:r>
              <a:rPr lang="en-GB" sz="2600" dirty="0"/>
              <a:t>7 subgroup metric records per run — enables longitudinal tracking of fairness gaps over time.</a:t>
            </a:r>
          </a:p>
          <a:p>
            <a:r>
              <a:rPr lang="en-GB" sz="2600" dirty="0" err="1"/>
              <a:t>audit_report_summary</a:t>
            </a:r>
            <a:endParaRPr lang="en-GB" sz="2600" dirty="0"/>
          </a:p>
          <a:p>
            <a:r>
              <a:rPr lang="en-GB" sz="2600" dirty="0"/>
              <a:t>Executive summary per run — supports governance board reporting and regulatory submissions. Run ID: RUN_20260530_234959 · EU AI Act Annex III · NYC Local Law 144</a:t>
            </a:r>
            <a:endParaRPr lang="en-IE" sz="2600" dirty="0">
              <a:latin typeface="Arial" panose="020B0604020202020204" pitchFamily="34" charset="0"/>
              <a:cs typeface="Arial" panose="020B0604020202020204" pitchFamily="34" charset="0"/>
            </a:endParaRPr>
          </a:p>
        </p:txBody>
      </p:sp>
      <p:sp>
        <p:nvSpPr>
          <p:cNvPr id="7" name="CuadroTexto 6">
            <a:extLst>
              <a:ext uri="{FF2B5EF4-FFF2-40B4-BE49-F238E27FC236}">
                <a16:creationId xmlns:a16="http://schemas.microsoft.com/office/drawing/2014/main" id="{FFBDDFF5-F67B-1FBF-36DE-2ED489209AE0}"/>
              </a:ext>
            </a:extLst>
          </p:cNvPr>
          <p:cNvSpPr txBox="1"/>
          <p:nvPr/>
        </p:nvSpPr>
        <p:spPr>
          <a:xfrm>
            <a:off x="817717" y="22023982"/>
            <a:ext cx="9179445" cy="2308324"/>
          </a:xfrm>
          <a:prstGeom prst="rect">
            <a:avLst/>
          </a:prstGeom>
          <a:noFill/>
        </p:spPr>
        <p:txBody>
          <a:bodyPr wrap="square" rtlCol="0">
            <a:spAutoFit/>
          </a:bodyPr>
          <a:lstStyle/>
          <a:p>
            <a:r>
              <a:rPr lang="en-IE" sz="3200" b="1" dirty="0">
                <a:solidFill>
                  <a:schemeClr val="accent5">
                    <a:lumMod val="50000"/>
                  </a:schemeClr>
                </a:solidFill>
              </a:rPr>
              <a:t>All 4 Success Criteria Met: </a:t>
            </a:r>
          </a:p>
          <a:p>
            <a:r>
              <a:rPr lang="en-IE" sz="2800" dirty="0"/>
              <a:t>✔ Two ML models developed and compared </a:t>
            </a:r>
          </a:p>
          <a:p>
            <a:r>
              <a:rPr lang="en-IE" sz="2800" dirty="0"/>
              <a:t>✔ Fairness analysis across 3 demographic dimensions</a:t>
            </a:r>
          </a:p>
          <a:p>
            <a:r>
              <a:rPr lang="en-IE" sz="2800" dirty="0"/>
              <a:t> ✔ Functional MySQL auditability layer </a:t>
            </a:r>
          </a:p>
          <a:p>
            <a:r>
              <a:rPr lang="en-IE" sz="2800" dirty="0"/>
              <a:t>✔ Comprehensive CRISP-DM report</a:t>
            </a:r>
          </a:p>
        </p:txBody>
      </p:sp>
      <p:sp>
        <p:nvSpPr>
          <p:cNvPr id="8" name="CuadroTexto 7">
            <a:extLst>
              <a:ext uri="{FF2B5EF4-FFF2-40B4-BE49-F238E27FC236}">
                <a16:creationId xmlns:a16="http://schemas.microsoft.com/office/drawing/2014/main" id="{8088ED0C-BA35-6C22-9BE4-355E605768B1}"/>
              </a:ext>
            </a:extLst>
          </p:cNvPr>
          <p:cNvSpPr txBox="1"/>
          <p:nvPr/>
        </p:nvSpPr>
        <p:spPr>
          <a:xfrm>
            <a:off x="1262698" y="24879989"/>
            <a:ext cx="8592161" cy="661720"/>
          </a:xfrm>
          <a:prstGeom prst="rect">
            <a:avLst/>
          </a:prstGeom>
          <a:noFill/>
        </p:spPr>
        <p:txBody>
          <a:bodyPr wrap="square" rtlCol="0">
            <a:spAutoFit/>
          </a:bodyPr>
          <a:lstStyle/>
          <a:p>
            <a:pPr algn="ctr"/>
            <a:r>
              <a:rPr lang="en-IE" sz="3700" b="1" u="sng" dirty="0">
                <a:solidFill>
                  <a:schemeClr val="accent5">
                    <a:lumMod val="50000"/>
                  </a:schemeClr>
                </a:solidFill>
                <a:latin typeface="+mj-lt"/>
                <a:cs typeface="Arial" panose="020B0604020202020204" pitchFamily="34" charset="0"/>
              </a:rPr>
              <a:t>PHASE 2: DATA UNDERSTANDING</a:t>
            </a:r>
          </a:p>
        </p:txBody>
      </p:sp>
      <p:sp>
        <p:nvSpPr>
          <p:cNvPr id="10" name="CuadroTexto 9">
            <a:extLst>
              <a:ext uri="{FF2B5EF4-FFF2-40B4-BE49-F238E27FC236}">
                <a16:creationId xmlns:a16="http://schemas.microsoft.com/office/drawing/2014/main" id="{28243B32-0C41-D410-6826-8E2D51E0EBBE}"/>
              </a:ext>
            </a:extLst>
          </p:cNvPr>
          <p:cNvSpPr txBox="1"/>
          <p:nvPr/>
        </p:nvSpPr>
        <p:spPr>
          <a:xfrm>
            <a:off x="882094" y="25859829"/>
            <a:ext cx="9450599" cy="1384995"/>
          </a:xfrm>
          <a:prstGeom prst="rect">
            <a:avLst/>
          </a:prstGeom>
          <a:noFill/>
        </p:spPr>
        <p:txBody>
          <a:bodyPr wrap="square" rtlCol="0">
            <a:spAutoFit/>
          </a:bodyPr>
          <a:lstStyle/>
          <a:p>
            <a:pPr algn="ctr"/>
            <a:r>
              <a:rPr lang="en-GB" sz="2800" dirty="0"/>
              <a:t>ACS PUMS — Florida (State Code 12), U.S. Census Bureau (2022) 126,430 working-age individuals (18–66) · 16 variables · Demographics, socioeconomics &amp; employment status </a:t>
            </a:r>
            <a:endParaRPr lang="en-IE" sz="2800" dirty="0"/>
          </a:p>
        </p:txBody>
      </p:sp>
      <p:sp>
        <p:nvSpPr>
          <p:cNvPr id="12" name="CuadroTexto 11">
            <a:extLst>
              <a:ext uri="{FF2B5EF4-FFF2-40B4-BE49-F238E27FC236}">
                <a16:creationId xmlns:a16="http://schemas.microsoft.com/office/drawing/2014/main" id="{C8FBB3BC-EEC3-B0EF-D9C6-3EEF18FB2286}"/>
              </a:ext>
            </a:extLst>
          </p:cNvPr>
          <p:cNvSpPr txBox="1"/>
          <p:nvPr/>
        </p:nvSpPr>
        <p:spPr>
          <a:xfrm>
            <a:off x="922825" y="28044373"/>
            <a:ext cx="2271114" cy="1384995"/>
          </a:xfrm>
          <a:prstGeom prst="rect">
            <a:avLst/>
          </a:prstGeom>
          <a:noFill/>
        </p:spPr>
        <p:txBody>
          <a:bodyPr wrap="square" rtlCol="0">
            <a:spAutoFit/>
          </a:bodyPr>
          <a:lstStyle/>
          <a:p>
            <a:r>
              <a:rPr lang="en-IE" sz="2800" b="1" dirty="0">
                <a:latin typeface="Abadi" panose="020B0604020104020204" pitchFamily="34" charset="0"/>
              </a:rPr>
              <a:t>126,430 </a:t>
            </a:r>
          </a:p>
          <a:p>
            <a:r>
              <a:rPr lang="en-IE" sz="2800" b="1" dirty="0">
                <a:latin typeface="Abadi" panose="020B0604020104020204" pitchFamily="34" charset="0"/>
              </a:rPr>
              <a:t>Total Records </a:t>
            </a:r>
          </a:p>
        </p:txBody>
      </p:sp>
      <p:sp>
        <p:nvSpPr>
          <p:cNvPr id="13" name="CuadroTexto 12">
            <a:extLst>
              <a:ext uri="{FF2B5EF4-FFF2-40B4-BE49-F238E27FC236}">
                <a16:creationId xmlns:a16="http://schemas.microsoft.com/office/drawing/2014/main" id="{3BDB55DE-78A1-13A4-1D45-B32E76BBE04D}"/>
              </a:ext>
            </a:extLst>
          </p:cNvPr>
          <p:cNvSpPr txBox="1"/>
          <p:nvPr/>
        </p:nvSpPr>
        <p:spPr>
          <a:xfrm>
            <a:off x="3538479" y="28218283"/>
            <a:ext cx="1763243" cy="954107"/>
          </a:xfrm>
          <a:prstGeom prst="rect">
            <a:avLst/>
          </a:prstGeom>
          <a:noFill/>
        </p:spPr>
        <p:txBody>
          <a:bodyPr wrap="square" rtlCol="0">
            <a:spAutoFit/>
          </a:bodyPr>
          <a:lstStyle/>
          <a:p>
            <a:r>
              <a:rPr lang="en-IE" sz="2800" b="1" dirty="0">
                <a:latin typeface="Abadi" panose="020B0604020104020204" pitchFamily="34" charset="0"/>
              </a:rPr>
              <a:t>69.9% Employed</a:t>
            </a:r>
          </a:p>
        </p:txBody>
      </p:sp>
      <p:sp>
        <p:nvSpPr>
          <p:cNvPr id="14" name="CuadroTexto 13">
            <a:extLst>
              <a:ext uri="{FF2B5EF4-FFF2-40B4-BE49-F238E27FC236}">
                <a16:creationId xmlns:a16="http://schemas.microsoft.com/office/drawing/2014/main" id="{7D33298E-9C68-4087-3824-E99DF075CCE0}"/>
              </a:ext>
            </a:extLst>
          </p:cNvPr>
          <p:cNvSpPr txBox="1"/>
          <p:nvPr/>
        </p:nvSpPr>
        <p:spPr>
          <a:xfrm>
            <a:off x="5768661" y="28180617"/>
            <a:ext cx="1885417" cy="954107"/>
          </a:xfrm>
          <a:prstGeom prst="rect">
            <a:avLst/>
          </a:prstGeom>
          <a:noFill/>
        </p:spPr>
        <p:txBody>
          <a:bodyPr wrap="square" rtlCol="0">
            <a:spAutoFit/>
          </a:bodyPr>
          <a:lstStyle/>
          <a:p>
            <a:r>
              <a:rPr lang="en-IE" sz="2800" b="1" dirty="0">
                <a:latin typeface="Abadi" panose="020B0604020104020204" pitchFamily="34" charset="0"/>
              </a:rPr>
              <a:t>30.1% Not Employed </a:t>
            </a:r>
          </a:p>
        </p:txBody>
      </p:sp>
      <p:sp>
        <p:nvSpPr>
          <p:cNvPr id="17" name="CuadroTexto 16">
            <a:extLst>
              <a:ext uri="{FF2B5EF4-FFF2-40B4-BE49-F238E27FC236}">
                <a16:creationId xmlns:a16="http://schemas.microsoft.com/office/drawing/2014/main" id="{584AEBDE-FC69-CAD3-7CA1-37F287C1F0FF}"/>
              </a:ext>
            </a:extLst>
          </p:cNvPr>
          <p:cNvSpPr txBox="1"/>
          <p:nvPr/>
        </p:nvSpPr>
        <p:spPr>
          <a:xfrm>
            <a:off x="7851089" y="27995203"/>
            <a:ext cx="2631034" cy="1384995"/>
          </a:xfrm>
          <a:prstGeom prst="rect">
            <a:avLst/>
          </a:prstGeom>
          <a:solidFill>
            <a:schemeClr val="accent6">
              <a:lumMod val="75000"/>
            </a:schemeClr>
          </a:solidFill>
          <a:ln>
            <a:solidFill>
              <a:schemeClr val="accent6">
                <a:lumMod val="60000"/>
                <a:lumOff val="40000"/>
              </a:schemeClr>
            </a:solidFill>
          </a:ln>
        </p:spPr>
        <p:txBody>
          <a:bodyPr wrap="square" rtlCol="0">
            <a:spAutoFit/>
          </a:bodyPr>
          <a:lstStyle/>
          <a:p>
            <a:pPr algn="ctr"/>
            <a:r>
              <a:rPr lang="en-IE" sz="2800" b="1" dirty="0">
                <a:latin typeface="Abadi" panose="020B0604020104020204" pitchFamily="34" charset="0"/>
              </a:rPr>
              <a:t>36.4%</a:t>
            </a:r>
            <a:br>
              <a:rPr lang="en-IE" sz="2800" b="1" dirty="0">
                <a:latin typeface="Abadi" panose="020B0604020104020204" pitchFamily="34" charset="0"/>
              </a:rPr>
            </a:br>
            <a:r>
              <a:rPr lang="en-IE" sz="2800" b="1" dirty="0">
                <a:latin typeface="Abadi" panose="020B0604020104020204" pitchFamily="34" charset="0"/>
              </a:rPr>
              <a:t>With Disability Employed</a:t>
            </a:r>
          </a:p>
        </p:txBody>
      </p:sp>
      <p:sp>
        <p:nvSpPr>
          <p:cNvPr id="19" name="CuadroTexto 18">
            <a:extLst>
              <a:ext uri="{FF2B5EF4-FFF2-40B4-BE49-F238E27FC236}">
                <a16:creationId xmlns:a16="http://schemas.microsoft.com/office/drawing/2014/main" id="{E95ED643-738B-ADD9-5A13-E8DFD4391224}"/>
              </a:ext>
            </a:extLst>
          </p:cNvPr>
          <p:cNvSpPr txBox="1"/>
          <p:nvPr/>
        </p:nvSpPr>
        <p:spPr>
          <a:xfrm>
            <a:off x="11712975" y="10087031"/>
            <a:ext cx="8255544" cy="523220"/>
          </a:xfrm>
          <a:prstGeom prst="rect">
            <a:avLst/>
          </a:prstGeom>
          <a:noFill/>
        </p:spPr>
        <p:txBody>
          <a:bodyPr wrap="square" rtlCol="0">
            <a:spAutoFit/>
          </a:bodyPr>
          <a:lstStyle/>
          <a:p>
            <a:r>
              <a:rPr lang="en-IE" sz="2800" b="1" dirty="0">
                <a:solidFill>
                  <a:schemeClr val="accent5">
                    <a:lumMod val="50000"/>
                  </a:schemeClr>
                </a:solidFill>
              </a:rPr>
              <a:t>Key EDA Findings</a:t>
            </a:r>
          </a:p>
        </p:txBody>
      </p:sp>
      <p:sp>
        <p:nvSpPr>
          <p:cNvPr id="20" name="CuadroTexto 19">
            <a:extLst>
              <a:ext uri="{FF2B5EF4-FFF2-40B4-BE49-F238E27FC236}">
                <a16:creationId xmlns:a16="http://schemas.microsoft.com/office/drawing/2014/main" id="{0FB93623-020D-C349-5E9C-57E721E31CD7}"/>
              </a:ext>
            </a:extLst>
          </p:cNvPr>
          <p:cNvSpPr txBox="1"/>
          <p:nvPr/>
        </p:nvSpPr>
        <p:spPr>
          <a:xfrm>
            <a:off x="11693941" y="10760935"/>
            <a:ext cx="9111508" cy="5262979"/>
          </a:xfrm>
          <a:prstGeom prst="rect">
            <a:avLst/>
          </a:prstGeom>
          <a:noFill/>
        </p:spPr>
        <p:txBody>
          <a:bodyPr wrap="square" rtlCol="0">
            <a:spAutoFit/>
          </a:bodyPr>
          <a:lstStyle/>
          <a:p>
            <a:r>
              <a:rPr lang="en-GB" sz="2800" b="1" dirty="0"/>
              <a:t>Disability gap: </a:t>
            </a:r>
            <a:r>
              <a:rPr lang="en-GB" sz="2800" dirty="0"/>
              <a:t>Employment rate 36.4% vs 74.6%. Gap persists at every education level — disability operates as an independent employment barrier regardless of educational attainment. </a:t>
            </a:r>
            <a:br>
              <a:rPr lang="en-GB" sz="2800" dirty="0"/>
            </a:br>
            <a:r>
              <a:rPr lang="en-GB" sz="2800" b="1" dirty="0"/>
              <a:t>Sex gap: </a:t>
            </a:r>
            <a:r>
              <a:rPr lang="en-GB" sz="2800" dirty="0"/>
              <a:t>Male employment 72.2% vs Female 67.7%. Gap largest at high-school education level; persists even at graduate degree level. </a:t>
            </a:r>
            <a:br>
              <a:rPr lang="en-GB" sz="2800" dirty="0"/>
            </a:br>
            <a:r>
              <a:rPr lang="en-GB" sz="2800" b="1" dirty="0"/>
              <a:t>Race:</a:t>
            </a:r>
            <a:r>
              <a:rPr lang="en-GB" sz="2800" dirty="0"/>
              <a:t> White alone dominates the sample. Significant imbalance across groups; Other races most underserved in unemployment detection. </a:t>
            </a:r>
            <a:br>
              <a:rPr lang="en-GB" sz="2800" dirty="0"/>
            </a:br>
            <a:r>
              <a:rPr lang="en-GB" sz="2800" b="1" dirty="0"/>
              <a:t>Age:</a:t>
            </a:r>
            <a:r>
              <a:rPr lang="en-GB" sz="2800" dirty="0"/>
              <a:t> Broadly spread across working-age range with stronger representation in older age bands (35–55). </a:t>
            </a:r>
            <a:endParaRPr lang="en-IE" sz="2800" dirty="0"/>
          </a:p>
        </p:txBody>
      </p:sp>
      <p:sp>
        <p:nvSpPr>
          <p:cNvPr id="21" name="CuadroTexto 20">
            <a:extLst>
              <a:ext uri="{FF2B5EF4-FFF2-40B4-BE49-F238E27FC236}">
                <a16:creationId xmlns:a16="http://schemas.microsoft.com/office/drawing/2014/main" id="{247A47C3-C6AC-E3B6-7F5C-21C7D53ED066}"/>
              </a:ext>
            </a:extLst>
          </p:cNvPr>
          <p:cNvSpPr txBox="1"/>
          <p:nvPr/>
        </p:nvSpPr>
        <p:spPr>
          <a:xfrm>
            <a:off x="11722867" y="16171843"/>
            <a:ext cx="9388477" cy="2677656"/>
          </a:xfrm>
          <a:prstGeom prst="rect">
            <a:avLst/>
          </a:prstGeom>
          <a:noFill/>
        </p:spPr>
        <p:txBody>
          <a:bodyPr wrap="square" rtlCol="0">
            <a:spAutoFit/>
          </a:bodyPr>
          <a:lstStyle/>
          <a:p>
            <a:r>
              <a:rPr lang="en-IE" sz="2800" b="1" dirty="0"/>
              <a:t>Correlation Matrix Signal</a:t>
            </a:r>
            <a:r>
              <a:rPr lang="en-IE" sz="2800" dirty="0"/>
              <a:t>: Strong WAGP–PINCP correlation; WKHP correlated with income variables. These early patterns triggered the leakage investigation in Phase 3. An initial model with all variables produced AUC=0.9528 — a red flag that confirmed data leakage. Removing 5 variables corrected this to AUC=0.6929.</a:t>
            </a:r>
          </a:p>
        </p:txBody>
      </p:sp>
      <p:sp>
        <p:nvSpPr>
          <p:cNvPr id="22" name="CuadroTexto 21">
            <a:extLst>
              <a:ext uri="{FF2B5EF4-FFF2-40B4-BE49-F238E27FC236}">
                <a16:creationId xmlns:a16="http://schemas.microsoft.com/office/drawing/2014/main" id="{771664E9-7207-5541-186E-2151627B07A0}"/>
              </a:ext>
            </a:extLst>
          </p:cNvPr>
          <p:cNvSpPr txBox="1"/>
          <p:nvPr/>
        </p:nvSpPr>
        <p:spPr>
          <a:xfrm>
            <a:off x="12177201" y="19475217"/>
            <a:ext cx="8626247" cy="661720"/>
          </a:xfrm>
          <a:prstGeom prst="rect">
            <a:avLst/>
          </a:prstGeom>
          <a:noFill/>
        </p:spPr>
        <p:txBody>
          <a:bodyPr wrap="square" rtlCol="0">
            <a:spAutoFit/>
          </a:bodyPr>
          <a:lstStyle/>
          <a:p>
            <a:pPr algn="ctr"/>
            <a:r>
              <a:rPr lang="en-IE" sz="3700" b="1" u="sng" dirty="0">
                <a:solidFill>
                  <a:schemeClr val="accent5">
                    <a:lumMod val="50000"/>
                  </a:schemeClr>
                </a:solidFill>
              </a:rPr>
              <a:t>PHASE 3: DATA PREPARATION</a:t>
            </a:r>
          </a:p>
        </p:txBody>
      </p:sp>
      <p:sp>
        <p:nvSpPr>
          <p:cNvPr id="23" name="CuadroTexto 22">
            <a:extLst>
              <a:ext uri="{FF2B5EF4-FFF2-40B4-BE49-F238E27FC236}">
                <a16:creationId xmlns:a16="http://schemas.microsoft.com/office/drawing/2014/main" id="{C2872766-9082-E4A7-FE59-60E49FE9966E}"/>
              </a:ext>
            </a:extLst>
          </p:cNvPr>
          <p:cNvSpPr txBox="1"/>
          <p:nvPr/>
        </p:nvSpPr>
        <p:spPr>
          <a:xfrm>
            <a:off x="12158717" y="20643342"/>
            <a:ext cx="8626247" cy="3539430"/>
          </a:xfrm>
          <a:prstGeom prst="rect">
            <a:avLst/>
          </a:prstGeom>
          <a:noFill/>
        </p:spPr>
        <p:txBody>
          <a:bodyPr wrap="square" rtlCol="0">
            <a:spAutoFit/>
          </a:bodyPr>
          <a:lstStyle/>
          <a:p>
            <a:r>
              <a:rPr lang="en-IE" sz="2800" dirty="0"/>
              <a:t>Leakage Prevention — 6 Variables Removed:</a:t>
            </a:r>
            <a:br>
              <a:rPr lang="en-IE" sz="2800" dirty="0"/>
            </a:br>
            <a:r>
              <a:rPr lang="en-IE" sz="2800" dirty="0">
                <a:solidFill>
                  <a:srgbClr val="C00000"/>
                </a:solidFill>
              </a:rPr>
              <a:t>✗</a:t>
            </a:r>
            <a:r>
              <a:rPr lang="en-IE" sz="2800" dirty="0"/>
              <a:t> ESR — direct source of target variable </a:t>
            </a:r>
            <a:br>
              <a:rPr lang="en-IE" sz="2800" dirty="0"/>
            </a:br>
            <a:r>
              <a:rPr lang="en-IE" sz="2800" dirty="0">
                <a:solidFill>
                  <a:srgbClr val="C00000"/>
                </a:solidFill>
              </a:rPr>
              <a:t>✗</a:t>
            </a:r>
            <a:r>
              <a:rPr lang="en-IE" sz="2800" dirty="0"/>
              <a:t> WAGP — wages = 0 for unemployed </a:t>
            </a:r>
            <a:br>
              <a:rPr lang="en-IE" sz="2800" dirty="0"/>
            </a:br>
            <a:r>
              <a:rPr lang="en-IE" sz="2800" dirty="0">
                <a:solidFill>
                  <a:srgbClr val="C00000"/>
                </a:solidFill>
              </a:rPr>
              <a:t>✗</a:t>
            </a:r>
            <a:r>
              <a:rPr lang="en-IE" sz="2800" dirty="0"/>
              <a:t> WKHP — hours worked = 0 if unemployed </a:t>
            </a:r>
            <a:br>
              <a:rPr lang="en-IE" sz="2800" dirty="0"/>
            </a:br>
            <a:r>
              <a:rPr lang="en-IE" sz="2800" dirty="0">
                <a:solidFill>
                  <a:srgbClr val="C00000"/>
                </a:solidFill>
              </a:rPr>
              <a:t>✗</a:t>
            </a:r>
            <a:r>
              <a:rPr lang="en-IE" sz="2800" dirty="0"/>
              <a:t> PINCP — income reflects employment status </a:t>
            </a:r>
            <a:br>
              <a:rPr lang="en-IE" sz="2800" dirty="0"/>
            </a:br>
            <a:r>
              <a:rPr lang="en-IE" sz="2800" dirty="0">
                <a:solidFill>
                  <a:srgbClr val="C00000"/>
                </a:solidFill>
              </a:rPr>
              <a:t>✗</a:t>
            </a:r>
            <a:r>
              <a:rPr lang="en-IE" sz="2800" dirty="0"/>
              <a:t> COW — class of worker = N/A if unemployed </a:t>
            </a:r>
            <a:br>
              <a:rPr lang="en-IE" sz="2800" dirty="0"/>
            </a:br>
            <a:r>
              <a:rPr lang="en-IE" sz="2800" dirty="0">
                <a:solidFill>
                  <a:srgbClr val="C00000"/>
                </a:solidFill>
              </a:rPr>
              <a:t>✗</a:t>
            </a:r>
            <a:r>
              <a:rPr lang="en-IE" sz="2800" dirty="0"/>
              <a:t> PWGTP — survey weight — not a predictor</a:t>
            </a:r>
          </a:p>
          <a:p>
            <a:endParaRPr lang="en-IE" sz="2800" dirty="0"/>
          </a:p>
        </p:txBody>
      </p:sp>
      <p:sp>
        <p:nvSpPr>
          <p:cNvPr id="24" name="CuadroTexto 23">
            <a:extLst>
              <a:ext uri="{FF2B5EF4-FFF2-40B4-BE49-F238E27FC236}">
                <a16:creationId xmlns:a16="http://schemas.microsoft.com/office/drawing/2014/main" id="{600B32C0-DCF0-AAD4-BAA6-4D4421CB8416}"/>
              </a:ext>
            </a:extLst>
          </p:cNvPr>
          <p:cNvSpPr txBox="1"/>
          <p:nvPr/>
        </p:nvSpPr>
        <p:spPr>
          <a:xfrm>
            <a:off x="11770457" y="24025032"/>
            <a:ext cx="9388478" cy="2556982"/>
          </a:xfrm>
          <a:prstGeom prst="rect">
            <a:avLst/>
          </a:prstGeom>
          <a:noFill/>
        </p:spPr>
        <p:txBody>
          <a:bodyPr wrap="square" rtlCol="0">
            <a:spAutoFit/>
          </a:bodyPr>
          <a:lstStyle/>
          <a:p>
            <a:pPr algn="ctr">
              <a:lnSpc>
                <a:spcPct val="200000"/>
              </a:lnSpc>
            </a:pPr>
            <a:r>
              <a:rPr lang="en-GB" sz="2800" b="1" dirty="0"/>
              <a:t>Final 6 Features (demographic only, no leakage):</a:t>
            </a:r>
            <a:br>
              <a:rPr lang="en-GB" sz="2800" dirty="0"/>
            </a:br>
            <a:r>
              <a:rPr lang="en-GB" sz="2800" dirty="0"/>
              <a:t> AGEP (age)  ·  SEX  ·  SCHL (education)  ·  RAC1P (race)  ·  HISP (Hispanic origin)  ·  DIS (disability status) </a:t>
            </a:r>
            <a:endParaRPr lang="en-IE" sz="2800" dirty="0"/>
          </a:p>
        </p:txBody>
      </p:sp>
      <p:pic>
        <p:nvPicPr>
          <p:cNvPr id="27" name="Imagen 26">
            <a:extLst>
              <a:ext uri="{FF2B5EF4-FFF2-40B4-BE49-F238E27FC236}">
                <a16:creationId xmlns:a16="http://schemas.microsoft.com/office/drawing/2014/main" id="{B4C25180-B877-CE8E-D9C4-01A68F13DAC7}"/>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22769626" y="8083547"/>
            <a:ext cx="9420879" cy="5176190"/>
          </a:xfrm>
          <a:prstGeom prst="rect">
            <a:avLst/>
          </a:prstGeom>
        </p:spPr>
      </p:pic>
      <p:graphicFrame>
        <p:nvGraphicFramePr>
          <p:cNvPr id="33" name="Tabla 32">
            <a:extLst>
              <a:ext uri="{FF2B5EF4-FFF2-40B4-BE49-F238E27FC236}">
                <a16:creationId xmlns:a16="http://schemas.microsoft.com/office/drawing/2014/main" id="{BA5526D7-0E84-ED5E-7DEF-7D3FB7FFC1DB}"/>
              </a:ext>
            </a:extLst>
          </p:cNvPr>
          <p:cNvGraphicFramePr>
            <a:graphicFrameLocks noGrp="1"/>
          </p:cNvGraphicFramePr>
          <p:nvPr>
            <p:extLst>
              <p:ext uri="{D42A27DB-BD31-4B8C-83A1-F6EECF244321}">
                <p14:modId xmlns:p14="http://schemas.microsoft.com/office/powerpoint/2010/main" val="1824956104"/>
              </p:ext>
            </p:extLst>
          </p:nvPr>
        </p:nvGraphicFramePr>
        <p:xfrm>
          <a:off x="22665676" y="22535868"/>
          <a:ext cx="9524829" cy="3839088"/>
        </p:xfrm>
        <a:graphic>
          <a:graphicData uri="http://schemas.openxmlformats.org/drawingml/2006/table">
            <a:tbl>
              <a:tblPr firstRow="1" bandRow="1">
                <a:tableStyleId>{7DF18680-E054-41AD-8BC1-D1AEF772440D}</a:tableStyleId>
              </a:tblPr>
              <a:tblGrid>
                <a:gridCol w="3174943">
                  <a:extLst>
                    <a:ext uri="{9D8B030D-6E8A-4147-A177-3AD203B41FA5}">
                      <a16:colId xmlns:a16="http://schemas.microsoft.com/office/drawing/2014/main" val="1566707662"/>
                    </a:ext>
                  </a:extLst>
                </a:gridCol>
                <a:gridCol w="3174943">
                  <a:extLst>
                    <a:ext uri="{9D8B030D-6E8A-4147-A177-3AD203B41FA5}">
                      <a16:colId xmlns:a16="http://schemas.microsoft.com/office/drawing/2014/main" val="2501261096"/>
                    </a:ext>
                  </a:extLst>
                </a:gridCol>
                <a:gridCol w="3174943">
                  <a:extLst>
                    <a:ext uri="{9D8B030D-6E8A-4147-A177-3AD203B41FA5}">
                      <a16:colId xmlns:a16="http://schemas.microsoft.com/office/drawing/2014/main" val="3768175413"/>
                    </a:ext>
                  </a:extLst>
                </a:gridCol>
              </a:tblGrid>
              <a:tr h="584010">
                <a:tc>
                  <a:txBody>
                    <a:bodyPr/>
                    <a:lstStyle/>
                    <a:p>
                      <a:r>
                        <a:rPr lang="en-IE" sz="2000" dirty="0"/>
                        <a:t>Parameter</a:t>
                      </a:r>
                    </a:p>
                  </a:txBody>
                  <a:tcPr/>
                </a:tc>
                <a:tc>
                  <a:txBody>
                    <a:bodyPr/>
                    <a:lstStyle/>
                    <a:p>
                      <a:r>
                        <a:rPr lang="en-IE" sz="2000" dirty="0"/>
                        <a:t>Value</a:t>
                      </a:r>
                    </a:p>
                  </a:txBody>
                  <a:tcPr/>
                </a:tc>
                <a:tc>
                  <a:txBody>
                    <a:bodyPr/>
                    <a:lstStyle/>
                    <a:p>
                      <a:r>
                        <a:rPr lang="en-IE" sz="2000" dirty="0"/>
                        <a:t>Justification</a:t>
                      </a:r>
                    </a:p>
                  </a:txBody>
                  <a:tcPr/>
                </a:tc>
                <a:extLst>
                  <a:ext uri="{0D108BD9-81ED-4DB2-BD59-A6C34878D82A}">
                    <a16:rowId xmlns:a16="http://schemas.microsoft.com/office/drawing/2014/main" val="1402785550"/>
                  </a:ext>
                </a:extLst>
              </a:tr>
              <a:tr h="926499">
                <a:tc>
                  <a:txBody>
                    <a:bodyPr/>
                    <a:lstStyle/>
                    <a:p>
                      <a:r>
                        <a:rPr lang="en-IE" sz="2000" dirty="0" err="1"/>
                        <a:t>n_estimators</a:t>
                      </a:r>
                      <a:endParaRPr lang="en-IE" sz="2000" dirty="0"/>
                    </a:p>
                  </a:txBody>
                  <a:tcPr/>
                </a:tc>
                <a:tc>
                  <a:txBody>
                    <a:bodyPr/>
                    <a:lstStyle/>
                    <a:p>
                      <a:r>
                        <a:rPr lang="en-GB" sz="2000" dirty="0"/>
                        <a:t>200</a:t>
                      </a:r>
                      <a:endParaRPr lang="en-IE" sz="2000" dirty="0"/>
                    </a:p>
                  </a:txBody>
                  <a:tcPr/>
                </a:tc>
                <a:tc>
                  <a:txBody>
                    <a:bodyPr/>
                    <a:lstStyle/>
                    <a:p>
                      <a:r>
                        <a:rPr lang="en-GB" sz="2000" dirty="0"/>
                        <a:t>More trees → greater stability without overfitting</a:t>
                      </a:r>
                      <a:endParaRPr lang="en-IE" sz="2000" dirty="0"/>
                    </a:p>
                  </a:txBody>
                  <a:tcPr/>
                </a:tc>
                <a:extLst>
                  <a:ext uri="{0D108BD9-81ED-4DB2-BD59-A6C34878D82A}">
                    <a16:rowId xmlns:a16="http://schemas.microsoft.com/office/drawing/2014/main" val="2149731646"/>
                  </a:ext>
                </a:extLst>
              </a:tr>
              <a:tr h="926499">
                <a:tc>
                  <a:txBody>
                    <a:bodyPr/>
                    <a:lstStyle/>
                    <a:p>
                      <a:r>
                        <a:rPr lang="en-IE" sz="2000" dirty="0" err="1"/>
                        <a:t>max_depth</a:t>
                      </a:r>
                      <a:r>
                        <a:rPr lang="en-IE" sz="2000" dirty="0"/>
                        <a:t> </a:t>
                      </a:r>
                    </a:p>
                  </a:txBody>
                  <a:tcPr/>
                </a:tc>
                <a:tc>
                  <a:txBody>
                    <a:bodyPr/>
                    <a:lstStyle/>
                    <a:p>
                      <a:r>
                        <a:rPr lang="en-GB" sz="2000" dirty="0"/>
                        <a:t>20</a:t>
                      </a:r>
                      <a:endParaRPr lang="en-IE" sz="2000" dirty="0"/>
                    </a:p>
                  </a:txBody>
                  <a:tcPr/>
                </a:tc>
                <a:tc>
                  <a:txBody>
                    <a:bodyPr/>
                    <a:lstStyle/>
                    <a:p>
                      <a:r>
                        <a:rPr lang="en-IE" sz="2000" dirty="0"/>
                        <a:t>Captures complex demographic interactions</a:t>
                      </a:r>
                    </a:p>
                  </a:txBody>
                  <a:tcPr/>
                </a:tc>
                <a:extLst>
                  <a:ext uri="{0D108BD9-81ED-4DB2-BD59-A6C34878D82A}">
                    <a16:rowId xmlns:a16="http://schemas.microsoft.com/office/drawing/2014/main" val="862644900"/>
                  </a:ext>
                </a:extLst>
              </a:tr>
              <a:tr h="638255">
                <a:tc>
                  <a:txBody>
                    <a:bodyPr/>
                    <a:lstStyle/>
                    <a:p>
                      <a:r>
                        <a:rPr lang="en-IE" sz="2000" dirty="0" err="1"/>
                        <a:t>min_samples_split</a:t>
                      </a:r>
                      <a:endParaRPr lang="en-IE" sz="2000" dirty="0"/>
                    </a:p>
                  </a:txBody>
                  <a:tcPr/>
                </a:tc>
                <a:tc>
                  <a:txBody>
                    <a:bodyPr/>
                    <a:lstStyle/>
                    <a:p>
                      <a:r>
                        <a:rPr lang="en-GB" sz="2000" dirty="0"/>
                        <a:t>5</a:t>
                      </a:r>
                      <a:endParaRPr lang="en-IE" sz="2000" dirty="0"/>
                    </a:p>
                  </a:txBody>
                  <a:tcPr/>
                </a:tc>
                <a:tc>
                  <a:txBody>
                    <a:bodyPr/>
                    <a:lstStyle/>
                    <a:p>
                      <a:r>
                        <a:rPr lang="en-GB" sz="2000" dirty="0"/>
                        <a:t>Reduces overfitting on minority class</a:t>
                      </a:r>
                      <a:endParaRPr lang="en-IE" sz="2000" dirty="0"/>
                    </a:p>
                  </a:txBody>
                  <a:tcPr/>
                </a:tc>
                <a:extLst>
                  <a:ext uri="{0D108BD9-81ED-4DB2-BD59-A6C34878D82A}">
                    <a16:rowId xmlns:a16="http://schemas.microsoft.com/office/drawing/2014/main" val="2242230187"/>
                  </a:ext>
                </a:extLst>
              </a:tr>
              <a:tr h="638255">
                <a:tc>
                  <a:txBody>
                    <a:bodyPr/>
                    <a:lstStyle/>
                    <a:p>
                      <a:r>
                        <a:rPr lang="en-IE" sz="2000" dirty="0" err="1"/>
                        <a:t>class_weight</a:t>
                      </a:r>
                      <a:r>
                        <a:rPr lang="en-IE" sz="2000" dirty="0"/>
                        <a:t> </a:t>
                      </a:r>
                    </a:p>
                  </a:txBody>
                  <a:tcPr/>
                </a:tc>
                <a:tc>
                  <a:txBody>
                    <a:bodyPr/>
                    <a:lstStyle/>
                    <a:p>
                      <a:r>
                        <a:rPr lang="en-GB" sz="2000" dirty="0"/>
                        <a:t>balanced</a:t>
                      </a:r>
                      <a:endParaRPr lang="en-IE" sz="2000" dirty="0"/>
                    </a:p>
                  </a:txBody>
                  <a:tcPr/>
                </a:tc>
                <a:tc>
                  <a:txBody>
                    <a:bodyPr/>
                    <a:lstStyle/>
                    <a:p>
                      <a:r>
                        <a:rPr lang="en-GB" sz="2000" dirty="0"/>
                        <a:t>Compensates for 70/30 class imbalance</a:t>
                      </a:r>
                      <a:endParaRPr lang="en-IE" sz="2000" dirty="0"/>
                    </a:p>
                  </a:txBody>
                  <a:tcPr/>
                </a:tc>
                <a:extLst>
                  <a:ext uri="{0D108BD9-81ED-4DB2-BD59-A6C34878D82A}">
                    <a16:rowId xmlns:a16="http://schemas.microsoft.com/office/drawing/2014/main" val="2273218425"/>
                  </a:ext>
                </a:extLst>
              </a:tr>
            </a:tbl>
          </a:graphicData>
        </a:graphic>
      </p:graphicFrame>
      <p:graphicFrame>
        <p:nvGraphicFramePr>
          <p:cNvPr id="37" name="Tabla 36">
            <a:extLst>
              <a:ext uri="{FF2B5EF4-FFF2-40B4-BE49-F238E27FC236}">
                <a16:creationId xmlns:a16="http://schemas.microsoft.com/office/drawing/2014/main" id="{71C8695A-A8C0-8D90-64EC-70ACECEC6A95}"/>
              </a:ext>
            </a:extLst>
          </p:cNvPr>
          <p:cNvGraphicFramePr>
            <a:graphicFrameLocks noGrp="1"/>
          </p:cNvGraphicFramePr>
          <p:nvPr>
            <p:extLst>
              <p:ext uri="{D42A27DB-BD31-4B8C-83A1-F6EECF244321}">
                <p14:modId xmlns:p14="http://schemas.microsoft.com/office/powerpoint/2010/main" val="3927246919"/>
              </p:ext>
            </p:extLst>
          </p:nvPr>
        </p:nvGraphicFramePr>
        <p:xfrm>
          <a:off x="788276" y="18799556"/>
          <a:ext cx="9450599" cy="2749345"/>
        </p:xfrm>
        <a:graphic>
          <a:graphicData uri="http://schemas.openxmlformats.org/drawingml/2006/table">
            <a:tbl>
              <a:tblPr firstRow="1" bandRow="1">
                <a:tableStyleId>{7DF18680-E054-41AD-8BC1-D1AEF772440D}</a:tableStyleId>
              </a:tblPr>
              <a:tblGrid>
                <a:gridCol w="4351061">
                  <a:extLst>
                    <a:ext uri="{9D8B030D-6E8A-4147-A177-3AD203B41FA5}">
                      <a16:colId xmlns:a16="http://schemas.microsoft.com/office/drawing/2014/main" val="3757264028"/>
                    </a:ext>
                  </a:extLst>
                </a:gridCol>
                <a:gridCol w="5099538">
                  <a:extLst>
                    <a:ext uri="{9D8B030D-6E8A-4147-A177-3AD203B41FA5}">
                      <a16:colId xmlns:a16="http://schemas.microsoft.com/office/drawing/2014/main" val="485678243"/>
                    </a:ext>
                  </a:extLst>
                </a:gridCol>
              </a:tblGrid>
              <a:tr h="478355">
                <a:tc>
                  <a:txBody>
                    <a:bodyPr/>
                    <a:lstStyle/>
                    <a:p>
                      <a:r>
                        <a:rPr lang="en-GB" sz="2000" dirty="0"/>
                        <a:t>Risk</a:t>
                      </a:r>
                    </a:p>
                  </a:txBody>
                  <a:tcPr/>
                </a:tc>
                <a:tc>
                  <a:txBody>
                    <a:bodyPr/>
                    <a:lstStyle/>
                    <a:p>
                      <a:r>
                        <a:rPr lang="en-IE" sz="2000" dirty="0"/>
                        <a:t>Mitigation</a:t>
                      </a:r>
                    </a:p>
                  </a:txBody>
                  <a:tcPr/>
                </a:tc>
                <a:extLst>
                  <a:ext uri="{0D108BD9-81ED-4DB2-BD59-A6C34878D82A}">
                    <a16:rowId xmlns:a16="http://schemas.microsoft.com/office/drawing/2014/main" val="698782789"/>
                  </a:ext>
                </a:extLst>
              </a:tr>
              <a:tr h="571323">
                <a:tc>
                  <a:txBody>
                    <a:bodyPr/>
                    <a:lstStyle/>
                    <a:p>
                      <a:r>
                        <a:rPr lang="en-GB" sz="2000" dirty="0"/>
                        <a:t>Data Leakage</a:t>
                      </a:r>
                      <a:endParaRPr lang="en-IE" sz="2000" dirty="0"/>
                    </a:p>
                  </a:txBody>
                  <a:tcPr/>
                </a:tc>
                <a:tc>
                  <a:txBody>
                    <a:bodyPr/>
                    <a:lstStyle/>
                    <a:p>
                      <a:r>
                        <a:rPr lang="en-IE" sz="2000" dirty="0"/>
                        <a:t>Sequential feature removal</a:t>
                      </a:r>
                    </a:p>
                  </a:txBody>
                  <a:tcPr/>
                </a:tc>
                <a:extLst>
                  <a:ext uri="{0D108BD9-81ED-4DB2-BD59-A6C34878D82A}">
                    <a16:rowId xmlns:a16="http://schemas.microsoft.com/office/drawing/2014/main" val="3263237218"/>
                  </a:ext>
                </a:extLst>
              </a:tr>
              <a:tr h="607080">
                <a:tc>
                  <a:txBody>
                    <a:bodyPr/>
                    <a:lstStyle/>
                    <a:p>
                      <a:r>
                        <a:rPr lang="en-GB" sz="2000" dirty="0"/>
                        <a:t>Class Imbalance</a:t>
                      </a:r>
                      <a:endParaRPr lang="en-IE" sz="2000" dirty="0"/>
                    </a:p>
                  </a:txBody>
                  <a:tcPr/>
                </a:tc>
                <a:tc>
                  <a:txBody>
                    <a:bodyPr/>
                    <a:lstStyle/>
                    <a:p>
                      <a:r>
                        <a:rPr lang="en-IE" sz="2000" dirty="0" err="1"/>
                        <a:t>class_weight</a:t>
                      </a:r>
                      <a:r>
                        <a:rPr lang="en-IE" sz="2000" dirty="0"/>
                        <a:t>='balanced'</a:t>
                      </a:r>
                    </a:p>
                  </a:txBody>
                  <a:tcPr/>
                </a:tc>
                <a:extLst>
                  <a:ext uri="{0D108BD9-81ED-4DB2-BD59-A6C34878D82A}">
                    <a16:rowId xmlns:a16="http://schemas.microsoft.com/office/drawing/2014/main" val="3640865976"/>
                  </a:ext>
                </a:extLst>
              </a:tr>
              <a:tr h="528415">
                <a:tc>
                  <a:txBody>
                    <a:bodyPr/>
                    <a:lstStyle/>
                    <a:p>
                      <a:r>
                        <a:rPr lang="en-IE" sz="2000" dirty="0"/>
                        <a:t>Fairness misuse </a:t>
                      </a:r>
                    </a:p>
                  </a:txBody>
                  <a:tcPr/>
                </a:tc>
                <a:tc>
                  <a:txBody>
                    <a:bodyPr/>
                    <a:lstStyle/>
                    <a:p>
                      <a:r>
                        <a:rPr lang="en-IE" sz="2000" dirty="0"/>
                        <a:t>Disparity ≠ Bias discussion</a:t>
                      </a:r>
                    </a:p>
                  </a:txBody>
                  <a:tcPr/>
                </a:tc>
                <a:extLst>
                  <a:ext uri="{0D108BD9-81ED-4DB2-BD59-A6C34878D82A}">
                    <a16:rowId xmlns:a16="http://schemas.microsoft.com/office/drawing/2014/main" val="2067124847"/>
                  </a:ext>
                </a:extLst>
              </a:tr>
              <a:tr h="564172">
                <a:tc>
                  <a:txBody>
                    <a:bodyPr/>
                    <a:lstStyle/>
                    <a:p>
                      <a:r>
                        <a:rPr lang="en-IE" sz="2000" dirty="0"/>
                        <a:t>Deployment failure</a:t>
                      </a:r>
                    </a:p>
                  </a:txBody>
                  <a:tcPr/>
                </a:tc>
                <a:tc>
                  <a:txBody>
                    <a:bodyPr/>
                    <a:lstStyle/>
                    <a:p>
                      <a:r>
                        <a:rPr lang="en-IE" sz="2000" dirty="0"/>
                        <a:t>MySQL testing before integration</a:t>
                      </a:r>
                    </a:p>
                  </a:txBody>
                  <a:tcPr/>
                </a:tc>
                <a:extLst>
                  <a:ext uri="{0D108BD9-81ED-4DB2-BD59-A6C34878D82A}">
                    <a16:rowId xmlns:a16="http://schemas.microsoft.com/office/drawing/2014/main" val="3281357791"/>
                  </a:ext>
                </a:extLst>
              </a:tr>
            </a:tbl>
          </a:graphicData>
        </a:graphic>
      </p:graphicFrame>
      <p:sp>
        <p:nvSpPr>
          <p:cNvPr id="44" name="CuadroTexto 43">
            <a:extLst>
              <a:ext uri="{FF2B5EF4-FFF2-40B4-BE49-F238E27FC236}">
                <a16:creationId xmlns:a16="http://schemas.microsoft.com/office/drawing/2014/main" id="{355A0F10-439E-438A-E2CF-101BEDE9B1AA}"/>
              </a:ext>
            </a:extLst>
          </p:cNvPr>
          <p:cNvSpPr txBox="1"/>
          <p:nvPr/>
        </p:nvSpPr>
        <p:spPr>
          <a:xfrm>
            <a:off x="22711652" y="26972728"/>
            <a:ext cx="9017126" cy="523220"/>
          </a:xfrm>
          <a:prstGeom prst="rect">
            <a:avLst/>
          </a:prstGeom>
          <a:noFill/>
        </p:spPr>
        <p:txBody>
          <a:bodyPr wrap="square" rtlCol="0">
            <a:spAutoFit/>
          </a:bodyPr>
          <a:lstStyle/>
          <a:p>
            <a:r>
              <a:rPr lang="en-GB" sz="2800" b="1" dirty="0">
                <a:solidFill>
                  <a:schemeClr val="accent5">
                    <a:lumMod val="50000"/>
                  </a:schemeClr>
                </a:solidFill>
                <a:latin typeface="+mj-lt"/>
              </a:rPr>
              <a:t>Final Model Performance — Held-Out Test Set (n = 25,286</a:t>
            </a:r>
            <a:r>
              <a:rPr lang="en-GB" sz="2800" dirty="0">
                <a:solidFill>
                  <a:schemeClr val="accent5">
                    <a:lumMod val="50000"/>
                  </a:schemeClr>
                </a:solidFill>
                <a:latin typeface="+mj-lt"/>
              </a:rPr>
              <a:t>)</a:t>
            </a:r>
            <a:endParaRPr lang="en-IE" sz="2800" dirty="0">
              <a:solidFill>
                <a:schemeClr val="accent5">
                  <a:lumMod val="50000"/>
                </a:schemeClr>
              </a:solidFill>
              <a:latin typeface="+mj-lt"/>
            </a:endParaRPr>
          </a:p>
        </p:txBody>
      </p:sp>
      <p:graphicFrame>
        <p:nvGraphicFramePr>
          <p:cNvPr id="46" name="Tabla 45">
            <a:extLst>
              <a:ext uri="{FF2B5EF4-FFF2-40B4-BE49-F238E27FC236}">
                <a16:creationId xmlns:a16="http://schemas.microsoft.com/office/drawing/2014/main" id="{B873B400-DD6E-7AD1-FA9D-78CFEF44A7C6}"/>
              </a:ext>
            </a:extLst>
          </p:cNvPr>
          <p:cNvGraphicFramePr>
            <a:graphicFrameLocks noGrp="1"/>
          </p:cNvGraphicFramePr>
          <p:nvPr>
            <p:extLst>
              <p:ext uri="{D42A27DB-BD31-4B8C-83A1-F6EECF244321}">
                <p14:modId xmlns:p14="http://schemas.microsoft.com/office/powerpoint/2010/main" val="800302799"/>
              </p:ext>
            </p:extLst>
          </p:nvPr>
        </p:nvGraphicFramePr>
        <p:xfrm>
          <a:off x="22654027" y="27705942"/>
          <a:ext cx="9432875" cy="2359857"/>
        </p:xfrm>
        <a:graphic>
          <a:graphicData uri="http://schemas.openxmlformats.org/drawingml/2006/table">
            <a:tbl>
              <a:tblPr firstRow="1" bandRow="1">
                <a:tableStyleId>{7DF18680-E054-41AD-8BC1-D1AEF772440D}</a:tableStyleId>
              </a:tblPr>
              <a:tblGrid>
                <a:gridCol w="1886575">
                  <a:extLst>
                    <a:ext uri="{9D8B030D-6E8A-4147-A177-3AD203B41FA5}">
                      <a16:colId xmlns:a16="http://schemas.microsoft.com/office/drawing/2014/main" val="2941256114"/>
                    </a:ext>
                  </a:extLst>
                </a:gridCol>
                <a:gridCol w="1886575">
                  <a:extLst>
                    <a:ext uri="{9D8B030D-6E8A-4147-A177-3AD203B41FA5}">
                      <a16:colId xmlns:a16="http://schemas.microsoft.com/office/drawing/2014/main" val="521207559"/>
                    </a:ext>
                  </a:extLst>
                </a:gridCol>
                <a:gridCol w="1886575">
                  <a:extLst>
                    <a:ext uri="{9D8B030D-6E8A-4147-A177-3AD203B41FA5}">
                      <a16:colId xmlns:a16="http://schemas.microsoft.com/office/drawing/2014/main" val="2949987096"/>
                    </a:ext>
                  </a:extLst>
                </a:gridCol>
                <a:gridCol w="1886575">
                  <a:extLst>
                    <a:ext uri="{9D8B030D-6E8A-4147-A177-3AD203B41FA5}">
                      <a16:colId xmlns:a16="http://schemas.microsoft.com/office/drawing/2014/main" val="473858566"/>
                    </a:ext>
                  </a:extLst>
                </a:gridCol>
                <a:gridCol w="1886575">
                  <a:extLst>
                    <a:ext uri="{9D8B030D-6E8A-4147-A177-3AD203B41FA5}">
                      <a16:colId xmlns:a16="http://schemas.microsoft.com/office/drawing/2014/main" val="1986727956"/>
                    </a:ext>
                  </a:extLst>
                </a:gridCol>
              </a:tblGrid>
              <a:tr h="495098">
                <a:tc>
                  <a:txBody>
                    <a:bodyPr/>
                    <a:lstStyle/>
                    <a:p>
                      <a:pPr algn="ctr"/>
                      <a:r>
                        <a:rPr lang="en-IE" sz="2000" dirty="0"/>
                        <a:t>Model</a:t>
                      </a:r>
                    </a:p>
                  </a:txBody>
                  <a:tcPr/>
                </a:tc>
                <a:tc>
                  <a:txBody>
                    <a:bodyPr/>
                    <a:lstStyle/>
                    <a:p>
                      <a:pPr algn="ctr"/>
                      <a:r>
                        <a:rPr lang="en-IE" sz="2000" dirty="0"/>
                        <a:t>Accuracy</a:t>
                      </a:r>
                    </a:p>
                  </a:txBody>
                  <a:tcPr/>
                </a:tc>
                <a:tc>
                  <a:txBody>
                    <a:bodyPr/>
                    <a:lstStyle/>
                    <a:p>
                      <a:pPr algn="ctr"/>
                      <a:r>
                        <a:rPr lang="en-IE" sz="2000" dirty="0"/>
                        <a:t>ROC-AUC</a:t>
                      </a:r>
                    </a:p>
                  </a:txBody>
                  <a:tcPr/>
                </a:tc>
                <a:tc>
                  <a:txBody>
                    <a:bodyPr/>
                    <a:lstStyle/>
                    <a:p>
                      <a:pPr algn="ctr"/>
                      <a:r>
                        <a:rPr lang="en-IE" sz="2000" dirty="0"/>
                        <a:t>F1-Emp.</a:t>
                      </a:r>
                    </a:p>
                  </a:txBody>
                  <a:tcPr/>
                </a:tc>
                <a:tc>
                  <a:txBody>
                    <a:bodyPr/>
                    <a:lstStyle/>
                    <a:p>
                      <a:pPr algn="ctr"/>
                      <a:r>
                        <a:rPr lang="en-IE" sz="2000" dirty="0"/>
                        <a:t>F1-Not Emp.</a:t>
                      </a:r>
                    </a:p>
                  </a:txBody>
                  <a:tcPr/>
                </a:tc>
                <a:extLst>
                  <a:ext uri="{0D108BD9-81ED-4DB2-BD59-A6C34878D82A}">
                    <a16:rowId xmlns:a16="http://schemas.microsoft.com/office/drawing/2014/main" val="3066731449"/>
                  </a:ext>
                </a:extLst>
              </a:tr>
              <a:tr h="874563">
                <a:tc>
                  <a:txBody>
                    <a:bodyPr/>
                    <a:lstStyle/>
                    <a:p>
                      <a:pPr algn="ctr"/>
                      <a:r>
                        <a:rPr lang="en-IE" sz="2000" dirty="0"/>
                        <a:t>Logistic Regression</a:t>
                      </a:r>
                    </a:p>
                  </a:txBody>
                  <a:tcPr/>
                </a:tc>
                <a:tc>
                  <a:txBody>
                    <a:bodyPr/>
                    <a:lstStyle/>
                    <a:p>
                      <a:pPr algn="ctr"/>
                      <a:r>
                        <a:rPr lang="en-IE" sz="2000" dirty="0"/>
                        <a:t>0.68</a:t>
                      </a:r>
                    </a:p>
                  </a:txBody>
                  <a:tcPr/>
                </a:tc>
                <a:tc>
                  <a:txBody>
                    <a:bodyPr/>
                    <a:lstStyle/>
                    <a:p>
                      <a:pPr algn="ctr"/>
                      <a:r>
                        <a:rPr lang="en-IE" sz="2000" dirty="0"/>
                        <a:t>0.6929 </a:t>
                      </a:r>
                    </a:p>
                  </a:txBody>
                  <a:tcPr/>
                </a:tc>
                <a:tc>
                  <a:txBody>
                    <a:bodyPr/>
                    <a:lstStyle/>
                    <a:p>
                      <a:pPr algn="ctr"/>
                      <a:r>
                        <a:rPr lang="en-IE" sz="2000" dirty="0"/>
                        <a:t>0.77</a:t>
                      </a:r>
                    </a:p>
                  </a:txBody>
                  <a:tcPr/>
                </a:tc>
                <a:tc>
                  <a:txBody>
                    <a:bodyPr/>
                    <a:lstStyle/>
                    <a:p>
                      <a:pPr algn="ctr"/>
                      <a:r>
                        <a:rPr lang="en-IE" sz="2000" dirty="0"/>
                        <a:t>0.49</a:t>
                      </a:r>
                    </a:p>
                  </a:txBody>
                  <a:tcPr/>
                </a:tc>
                <a:extLst>
                  <a:ext uri="{0D108BD9-81ED-4DB2-BD59-A6C34878D82A}">
                    <a16:rowId xmlns:a16="http://schemas.microsoft.com/office/drawing/2014/main" val="4220591593"/>
                  </a:ext>
                </a:extLst>
              </a:tr>
              <a:tr h="495098">
                <a:tc>
                  <a:txBody>
                    <a:bodyPr/>
                    <a:lstStyle/>
                    <a:p>
                      <a:pPr algn="ctr"/>
                      <a:r>
                        <a:rPr lang="en-IE" sz="2000" dirty="0"/>
                        <a:t>RF Baseline</a:t>
                      </a:r>
                    </a:p>
                  </a:txBody>
                  <a:tcPr/>
                </a:tc>
                <a:tc>
                  <a:txBody>
                    <a:bodyPr/>
                    <a:lstStyle/>
                    <a:p>
                      <a:pPr algn="ctr"/>
                      <a:r>
                        <a:rPr lang="en-IE" sz="2000" dirty="0"/>
                        <a:t>0.70</a:t>
                      </a:r>
                    </a:p>
                  </a:txBody>
                  <a:tcPr/>
                </a:tc>
                <a:tc>
                  <a:txBody>
                    <a:bodyPr/>
                    <a:lstStyle/>
                    <a:p>
                      <a:pPr algn="ctr"/>
                      <a:r>
                        <a:rPr lang="en-IE" sz="2000" dirty="0"/>
                        <a:t>0.7208</a:t>
                      </a:r>
                    </a:p>
                  </a:txBody>
                  <a:tcPr/>
                </a:tc>
                <a:tc>
                  <a:txBody>
                    <a:bodyPr/>
                    <a:lstStyle/>
                    <a:p>
                      <a:pPr algn="ctr"/>
                      <a:r>
                        <a:rPr lang="en-GB" sz="2000" dirty="0"/>
                        <a:t>0.77</a:t>
                      </a:r>
                      <a:endParaRPr lang="en-IE" sz="2000" dirty="0"/>
                    </a:p>
                  </a:txBody>
                  <a:tcPr/>
                </a:tc>
                <a:tc>
                  <a:txBody>
                    <a:bodyPr/>
                    <a:lstStyle/>
                    <a:p>
                      <a:pPr algn="ctr"/>
                      <a:r>
                        <a:rPr lang="en-IE" sz="2000" dirty="0"/>
                        <a:t>0.55</a:t>
                      </a:r>
                    </a:p>
                  </a:txBody>
                  <a:tcPr/>
                </a:tc>
                <a:extLst>
                  <a:ext uri="{0D108BD9-81ED-4DB2-BD59-A6C34878D82A}">
                    <a16:rowId xmlns:a16="http://schemas.microsoft.com/office/drawing/2014/main" val="2061702944"/>
                  </a:ext>
                </a:extLst>
              </a:tr>
              <a:tr h="495098">
                <a:tc>
                  <a:txBody>
                    <a:bodyPr/>
                    <a:lstStyle/>
                    <a:p>
                      <a:pPr algn="ctr"/>
                      <a:r>
                        <a:rPr lang="en-IE" sz="2400" b="1" dirty="0"/>
                        <a:t>RF Tuned ★</a:t>
                      </a:r>
                    </a:p>
                  </a:txBody>
                  <a:tcPr/>
                </a:tc>
                <a:tc>
                  <a:txBody>
                    <a:bodyPr/>
                    <a:lstStyle/>
                    <a:p>
                      <a:pPr algn="ctr"/>
                      <a:r>
                        <a:rPr lang="en-IE" sz="2400" b="1" dirty="0"/>
                        <a:t>0.72 </a:t>
                      </a:r>
                    </a:p>
                  </a:txBody>
                  <a:tcPr/>
                </a:tc>
                <a:tc>
                  <a:txBody>
                    <a:bodyPr/>
                    <a:lstStyle/>
                    <a:p>
                      <a:pPr algn="ctr"/>
                      <a:r>
                        <a:rPr lang="en-IE" sz="2400" b="1" dirty="0"/>
                        <a:t>0.7545</a:t>
                      </a:r>
                    </a:p>
                  </a:txBody>
                  <a:tcPr/>
                </a:tc>
                <a:tc>
                  <a:txBody>
                    <a:bodyPr/>
                    <a:lstStyle/>
                    <a:p>
                      <a:pPr algn="ctr"/>
                      <a:r>
                        <a:rPr lang="en-IE" sz="2400" b="1" dirty="0"/>
                        <a:t>0.79</a:t>
                      </a:r>
                    </a:p>
                  </a:txBody>
                  <a:tcPr/>
                </a:tc>
                <a:tc>
                  <a:txBody>
                    <a:bodyPr/>
                    <a:lstStyle/>
                    <a:p>
                      <a:pPr algn="ctr"/>
                      <a:r>
                        <a:rPr lang="en-IE" sz="2400" b="1" dirty="0"/>
                        <a:t>0.57 </a:t>
                      </a:r>
                    </a:p>
                  </a:txBody>
                  <a:tcPr/>
                </a:tc>
                <a:extLst>
                  <a:ext uri="{0D108BD9-81ED-4DB2-BD59-A6C34878D82A}">
                    <a16:rowId xmlns:a16="http://schemas.microsoft.com/office/drawing/2014/main" val="3226362928"/>
                  </a:ext>
                </a:extLst>
              </a:tr>
            </a:tbl>
          </a:graphicData>
        </a:graphic>
      </p:graphicFrame>
      <p:sp>
        <p:nvSpPr>
          <p:cNvPr id="48" name="CuadroTexto 47">
            <a:extLst>
              <a:ext uri="{FF2B5EF4-FFF2-40B4-BE49-F238E27FC236}">
                <a16:creationId xmlns:a16="http://schemas.microsoft.com/office/drawing/2014/main" id="{AD42A778-1965-16FC-432D-96887E1DEE47}"/>
              </a:ext>
            </a:extLst>
          </p:cNvPr>
          <p:cNvSpPr txBox="1"/>
          <p:nvPr/>
        </p:nvSpPr>
        <p:spPr>
          <a:xfrm>
            <a:off x="22757630" y="30425633"/>
            <a:ext cx="9432875" cy="1292662"/>
          </a:xfrm>
          <a:prstGeom prst="rect">
            <a:avLst/>
          </a:prstGeom>
          <a:noFill/>
        </p:spPr>
        <p:txBody>
          <a:bodyPr wrap="square" rtlCol="0">
            <a:spAutoFit/>
          </a:bodyPr>
          <a:lstStyle/>
          <a:p>
            <a:pPr algn="ctr"/>
            <a:r>
              <a:rPr lang="en-GB" sz="2600" dirty="0"/>
              <a:t>An AUC of 0.75 using ONLY 6 demographic variables confirms that demographic characteristics carry statistically meaningful predictive signal for labour market outcomes</a:t>
            </a:r>
            <a:endParaRPr lang="en-IE" sz="2600" dirty="0"/>
          </a:p>
        </p:txBody>
      </p:sp>
      <p:sp>
        <p:nvSpPr>
          <p:cNvPr id="50" name="CuadroTexto 49">
            <a:extLst>
              <a:ext uri="{FF2B5EF4-FFF2-40B4-BE49-F238E27FC236}">
                <a16:creationId xmlns:a16="http://schemas.microsoft.com/office/drawing/2014/main" id="{4E9F803B-1381-5FB6-7EA1-93549C999DD1}"/>
              </a:ext>
            </a:extLst>
          </p:cNvPr>
          <p:cNvSpPr txBox="1"/>
          <p:nvPr/>
        </p:nvSpPr>
        <p:spPr>
          <a:xfrm>
            <a:off x="33588817" y="11077826"/>
            <a:ext cx="9276363" cy="1569660"/>
          </a:xfrm>
          <a:prstGeom prst="rect">
            <a:avLst/>
          </a:prstGeom>
          <a:noFill/>
        </p:spPr>
        <p:txBody>
          <a:bodyPr wrap="square" rtlCol="0">
            <a:spAutoFit/>
          </a:bodyPr>
          <a:lstStyle/>
          <a:p>
            <a:r>
              <a:rPr lang="en-GB" sz="2400" b="1" dirty="0"/>
              <a:t>BY SEX AUC Gap</a:t>
            </a:r>
            <a:r>
              <a:rPr lang="en-GB" sz="2400" dirty="0"/>
              <a:t>: 0.063 SIGNIFICANT ⚠ Male AUC 0.7829 vs Female AUC 0.7204. Employment: Male 72.2% vs Female 67.7%. Reflects structural labour force participation differences including caregiving responsibilities and occupational segregation. </a:t>
            </a:r>
            <a:endParaRPr lang="en-IE" sz="2400" dirty="0"/>
          </a:p>
        </p:txBody>
      </p:sp>
      <p:sp>
        <p:nvSpPr>
          <p:cNvPr id="53" name="CuadroTexto 52">
            <a:extLst>
              <a:ext uri="{FF2B5EF4-FFF2-40B4-BE49-F238E27FC236}">
                <a16:creationId xmlns:a16="http://schemas.microsoft.com/office/drawing/2014/main" id="{B5F90BE7-2DEF-D690-A81E-8687C60EEDDB}"/>
              </a:ext>
            </a:extLst>
          </p:cNvPr>
          <p:cNvSpPr txBox="1"/>
          <p:nvPr/>
        </p:nvSpPr>
        <p:spPr>
          <a:xfrm>
            <a:off x="33534257" y="12737728"/>
            <a:ext cx="9385481" cy="1938992"/>
          </a:xfrm>
          <a:prstGeom prst="rect">
            <a:avLst/>
          </a:prstGeom>
          <a:noFill/>
        </p:spPr>
        <p:txBody>
          <a:bodyPr wrap="square" rtlCol="0">
            <a:spAutoFit/>
          </a:bodyPr>
          <a:lstStyle/>
          <a:p>
            <a:r>
              <a:rPr lang="en-GB" sz="2400" b="1" dirty="0">
                <a:solidFill>
                  <a:schemeClr val="tx1">
                    <a:lumMod val="85000"/>
                    <a:lumOff val="15000"/>
                  </a:schemeClr>
                </a:solidFill>
              </a:rPr>
              <a:t>BY DISABILITY Recall Gap</a:t>
            </a:r>
            <a:r>
              <a:rPr lang="en-GB" sz="2400" dirty="0"/>
              <a:t>: 0.4739 CRITICAL Employment rate 36.4% (disability) vs 74.6% (no disability). Model defaulted to 'structural pessimism' — predicting unemployment by default (Recall=0.9607). An HR system trained on this data would institutionalise existing labour market exclusion of disabled individuals</a:t>
            </a:r>
            <a:endParaRPr lang="en-IE" sz="2400" dirty="0"/>
          </a:p>
        </p:txBody>
      </p:sp>
      <p:sp>
        <p:nvSpPr>
          <p:cNvPr id="55" name="CuadroTexto 54">
            <a:extLst>
              <a:ext uri="{FF2B5EF4-FFF2-40B4-BE49-F238E27FC236}">
                <a16:creationId xmlns:a16="http://schemas.microsoft.com/office/drawing/2014/main" id="{E1818840-23C2-9B8E-2E47-DB6B23739BC8}"/>
              </a:ext>
            </a:extLst>
          </p:cNvPr>
          <p:cNvSpPr txBox="1"/>
          <p:nvPr/>
        </p:nvSpPr>
        <p:spPr>
          <a:xfrm>
            <a:off x="33635949" y="16498513"/>
            <a:ext cx="9466975" cy="2708434"/>
          </a:xfrm>
          <a:prstGeom prst="rect">
            <a:avLst/>
          </a:prstGeom>
          <a:noFill/>
        </p:spPr>
        <p:txBody>
          <a:bodyPr wrap="square" rtlCol="0">
            <a:spAutoFit/>
          </a:bodyPr>
          <a:lstStyle/>
          <a:p>
            <a:r>
              <a:rPr lang="en-GB" sz="2600" b="1" dirty="0"/>
              <a:t>CRITICAL: DISPARITY ≠ BIAS. </a:t>
            </a:r>
            <a:r>
              <a:rPr lang="en-GB" sz="2400" dirty="0"/>
              <a:t>The Qualified Pool Problem (Dwork et al., 2012) means outcome-based audits cannot distinguish a biased process from genuine applicant-pool differences. This framework detects and flags — fairness alerts trigger human investigation, not automatic discrimination findings. Example: if 90% of applicants in a sector are male, higher male employment reflects pool composition, not bias. Context and process-level data are required to determine causality.</a:t>
            </a:r>
            <a:endParaRPr lang="en-IE" sz="2400" dirty="0"/>
          </a:p>
        </p:txBody>
      </p:sp>
      <p:sp>
        <p:nvSpPr>
          <p:cNvPr id="57" name="CuadroTexto 56">
            <a:extLst>
              <a:ext uri="{FF2B5EF4-FFF2-40B4-BE49-F238E27FC236}">
                <a16:creationId xmlns:a16="http://schemas.microsoft.com/office/drawing/2014/main" id="{84A458CE-2B81-59C6-CC7E-CB6DF8F4E49A}"/>
              </a:ext>
            </a:extLst>
          </p:cNvPr>
          <p:cNvSpPr txBox="1"/>
          <p:nvPr/>
        </p:nvSpPr>
        <p:spPr>
          <a:xfrm>
            <a:off x="33651371" y="25312761"/>
            <a:ext cx="9766513" cy="4401205"/>
          </a:xfrm>
          <a:prstGeom prst="rect">
            <a:avLst/>
          </a:prstGeom>
          <a:noFill/>
        </p:spPr>
        <p:txBody>
          <a:bodyPr wrap="square" rtlCol="0">
            <a:spAutoFit/>
          </a:bodyPr>
          <a:lstStyle/>
          <a:p>
            <a:r>
              <a:rPr lang="en-IE" sz="2800" dirty="0">
                <a:solidFill>
                  <a:srgbClr val="00B050"/>
                </a:solidFill>
              </a:rPr>
              <a:t>✔</a:t>
            </a:r>
            <a:r>
              <a:rPr lang="en-IE" sz="2800" dirty="0"/>
              <a:t> Demographic data alone (6 features) achieves AUC 0.75 — confirming systematic signal in labour market outcomes. </a:t>
            </a:r>
          </a:p>
          <a:p>
            <a:r>
              <a:rPr lang="en-IE" sz="2800" dirty="0">
                <a:solidFill>
                  <a:srgbClr val="00B050"/>
                </a:solidFill>
              </a:rPr>
              <a:t>✔</a:t>
            </a:r>
            <a:r>
              <a:rPr lang="en-IE" sz="2800" dirty="0"/>
              <a:t> </a:t>
            </a:r>
            <a:r>
              <a:rPr lang="en-GB" sz="2800" dirty="0"/>
              <a:t>Three significant gaps detected: Sex AUC gap 0.063 · Disability Recall gap 0.474 · Race Recall gap 0.256</a:t>
            </a:r>
            <a:endParaRPr lang="en-IE" sz="2800" dirty="0"/>
          </a:p>
          <a:p>
            <a:r>
              <a:rPr lang="en-IE" sz="2800" dirty="0">
                <a:solidFill>
                  <a:srgbClr val="00B050"/>
                </a:solidFill>
              </a:rPr>
              <a:t>✔</a:t>
            </a:r>
            <a:r>
              <a:rPr lang="en-IE" sz="2800" dirty="0"/>
              <a:t> Disability finding most critical: structural pessimism institutionalises labour market exclusion. </a:t>
            </a:r>
          </a:p>
          <a:p>
            <a:r>
              <a:rPr lang="en-IE" sz="2800" dirty="0">
                <a:solidFill>
                  <a:srgbClr val="00B050"/>
                </a:solidFill>
              </a:rPr>
              <a:t>✔</a:t>
            </a:r>
            <a:r>
              <a:rPr lang="en-IE" sz="2800" dirty="0"/>
              <a:t> MySQL audit layer provides reproducible, compliance-ready governance infrastructure. </a:t>
            </a:r>
          </a:p>
          <a:p>
            <a:r>
              <a:rPr lang="en-IE" sz="2800" dirty="0">
                <a:solidFill>
                  <a:srgbClr val="00B050"/>
                </a:solidFill>
              </a:rPr>
              <a:t>✔</a:t>
            </a:r>
            <a:r>
              <a:rPr lang="en-IE" sz="2800" dirty="0"/>
              <a:t> End-to-end methodology applicable to any organisation deploying AI in employment decisions.</a:t>
            </a:r>
          </a:p>
        </p:txBody>
      </p:sp>
      <p:sp>
        <p:nvSpPr>
          <p:cNvPr id="4101" name="CuadroTexto 4100">
            <a:extLst>
              <a:ext uri="{FF2B5EF4-FFF2-40B4-BE49-F238E27FC236}">
                <a16:creationId xmlns:a16="http://schemas.microsoft.com/office/drawing/2014/main" id="{563406D1-E975-63A4-8CC9-DDA13EA87226}"/>
              </a:ext>
            </a:extLst>
          </p:cNvPr>
          <p:cNvSpPr txBox="1"/>
          <p:nvPr/>
        </p:nvSpPr>
        <p:spPr>
          <a:xfrm>
            <a:off x="22800624" y="13283757"/>
            <a:ext cx="8617988" cy="307777"/>
          </a:xfrm>
          <a:prstGeom prst="rect">
            <a:avLst/>
          </a:prstGeom>
          <a:noFill/>
        </p:spPr>
        <p:txBody>
          <a:bodyPr wrap="square" rtlCol="0">
            <a:spAutoFit/>
          </a:bodyPr>
          <a:lstStyle/>
          <a:p>
            <a:r>
              <a:rPr lang="en-GB" sz="1400" i="1" dirty="0">
                <a:solidFill>
                  <a:schemeClr val="tx1">
                    <a:lumMod val="75000"/>
                    <a:lumOff val="25000"/>
                  </a:schemeClr>
                </a:solidFill>
              </a:rPr>
              <a:t>Note: KNN returned </a:t>
            </a:r>
            <a:r>
              <a:rPr lang="en-GB" sz="1400" i="1" dirty="0" err="1">
                <a:solidFill>
                  <a:schemeClr val="tx1">
                    <a:lumMod val="75000"/>
                    <a:lumOff val="25000"/>
                  </a:schemeClr>
                </a:solidFill>
              </a:rPr>
              <a:t>NaN</a:t>
            </a:r>
            <a:r>
              <a:rPr lang="en-GB" sz="1400" i="1" dirty="0">
                <a:solidFill>
                  <a:schemeClr val="tx1">
                    <a:lumMod val="75000"/>
                    <a:lumOff val="25000"/>
                  </a:schemeClr>
                </a:solidFill>
              </a:rPr>
              <a:t> (O(n²) memory constraints at 100k+ samples) and was excluded from final comparison</a:t>
            </a:r>
            <a:r>
              <a:rPr lang="en-GB" sz="1400" i="1" dirty="0"/>
              <a:t>.</a:t>
            </a:r>
            <a:endParaRPr lang="en-IE" sz="1400" i="1" dirty="0"/>
          </a:p>
        </p:txBody>
      </p:sp>
      <p:sp>
        <p:nvSpPr>
          <p:cNvPr id="4115" name="CuadroTexto 4114">
            <a:extLst>
              <a:ext uri="{FF2B5EF4-FFF2-40B4-BE49-F238E27FC236}">
                <a16:creationId xmlns:a16="http://schemas.microsoft.com/office/drawing/2014/main" id="{45CCA7C5-8862-02CF-DA7E-1D155DE37B66}"/>
              </a:ext>
            </a:extLst>
          </p:cNvPr>
          <p:cNvSpPr txBox="1"/>
          <p:nvPr/>
        </p:nvSpPr>
        <p:spPr>
          <a:xfrm>
            <a:off x="23579741" y="20754905"/>
            <a:ext cx="6553200" cy="338554"/>
          </a:xfrm>
          <a:prstGeom prst="rect">
            <a:avLst/>
          </a:prstGeom>
          <a:noFill/>
        </p:spPr>
        <p:txBody>
          <a:bodyPr wrap="square" rtlCol="0">
            <a:spAutoFit/>
          </a:bodyPr>
          <a:lstStyle/>
          <a:p>
            <a:r>
              <a:rPr lang="en-GB" sz="1600" b="1" dirty="0"/>
              <a:t>Top features: AGEP 51.9% · SCHL 20.3% · DIS 13.2% · SEX 2.9% · RAC1P 1.5%</a:t>
            </a:r>
            <a:endParaRPr lang="en-IE" sz="1600" b="1" dirty="0"/>
          </a:p>
        </p:txBody>
      </p:sp>
    </p:spTree>
    <p:extLst>
      <p:ext uri="{BB962C8B-B14F-4D97-AF65-F5344CB8AC3E}">
        <p14:creationId xmlns:p14="http://schemas.microsoft.com/office/powerpoint/2010/main" val="3160527046"/>
      </p:ext>
    </p:extLst>
  </p:cSld>
  <p:clrMapOvr>
    <a:masterClrMapping/>
  </p:clrMapOvr>
  <mc:AlternateContent xmlns:mc="http://schemas.openxmlformats.org/markup-compatibility/2006" xmlns:p14="http://schemas.microsoft.com/office/powerpoint/2010/main">
    <mc:Choice Requires="p14">
      <p:transition spd="slow" p14:dur="2000" advTm="259559"/>
    </mc:Choice>
    <mc:Fallback xmlns="">
      <p:transition spd="slow" advTm="259559"/>
    </mc:Fallback>
  </mc:AlternateContent>
</p:sld>
</file>

<file path=ppt/theme/theme1.xml><?xml version="1.0" encoding="utf-8"?>
<a:theme xmlns:a="http://schemas.openxmlformats.org/drawingml/2006/main" name="36x48-Template-V2b">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1_Classic 3 Columns">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Classic - Wide Center">
  <a:themeElements>
    <a:clrScheme name="Metro">
      <a:dk1>
        <a:sysClr val="windowText" lastClr="000000"/>
      </a:dk1>
      <a:lt1>
        <a:sysClr val="window" lastClr="FFFFFF"/>
      </a:lt1>
      <a:dk2>
        <a:srgbClr val="4E5B6F"/>
      </a:dk2>
      <a:lt2>
        <a:srgbClr val="D6ECFF"/>
      </a:lt2>
      <a:accent1>
        <a:srgbClr val="7FD13B"/>
      </a:accent1>
      <a:accent2>
        <a:srgbClr val="EA157A"/>
      </a:accent2>
      <a:accent3>
        <a:srgbClr val="FEB80A"/>
      </a:accent3>
      <a:accent4>
        <a:srgbClr val="00ADDC"/>
      </a:accent4>
      <a:accent5>
        <a:srgbClr val="738AC8"/>
      </a:accent5>
      <a:accent6>
        <a:srgbClr val="1AB39F"/>
      </a:accent6>
      <a:hlink>
        <a:srgbClr val="EB8803"/>
      </a:hlink>
      <a:folHlink>
        <a:srgbClr val="5F7791"/>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36x48-Template-V2b</Template>
  <TotalTime>5759</TotalTime>
  <Words>1330</Words>
  <Application>Microsoft Office PowerPoint</Application>
  <PresentationFormat>Personalizado</PresentationFormat>
  <Paragraphs>114</Paragraphs>
  <Slides>1</Slides>
  <Notes>1</Notes>
  <HiddenSlides>0</HiddenSlides>
  <MMClips>0</MMClips>
  <ScaleCrop>false</ScaleCrop>
  <HeadingPairs>
    <vt:vector size="8" baseType="variant">
      <vt:variant>
        <vt:lpstr>Fuentes usadas</vt:lpstr>
      </vt:variant>
      <vt:variant>
        <vt:i4>6</vt:i4>
      </vt:variant>
      <vt:variant>
        <vt:lpstr>Tema</vt:lpstr>
      </vt:variant>
      <vt:variant>
        <vt:i4>3</vt:i4>
      </vt:variant>
      <vt:variant>
        <vt:lpstr>Servidores OLE incrustados</vt:lpstr>
      </vt:variant>
      <vt:variant>
        <vt:i4>1</vt:i4>
      </vt:variant>
      <vt:variant>
        <vt:lpstr>Títulos de diapositiva</vt:lpstr>
      </vt:variant>
      <vt:variant>
        <vt:i4>1</vt:i4>
      </vt:variant>
    </vt:vector>
  </HeadingPairs>
  <TitlesOfParts>
    <vt:vector size="11" baseType="lpstr">
      <vt:lpstr>Abadi</vt:lpstr>
      <vt:lpstr>Arial</vt:lpstr>
      <vt:lpstr>Calibri</vt:lpstr>
      <vt:lpstr>Calibri (Títulos)</vt:lpstr>
      <vt:lpstr>Times New Roman</vt:lpstr>
      <vt:lpstr>Trebuchet MS</vt:lpstr>
      <vt:lpstr>36x48-Template-V2b</vt:lpstr>
      <vt:lpstr>1_Classic 3 Columns</vt:lpstr>
      <vt:lpstr>Classic - Wide Center</vt:lpstr>
      <vt:lpstr>Image</vt:lpstr>
      <vt:lpstr>Presentación de PowerPoint</vt:lpstr>
    </vt:vector>
  </TitlesOfParts>
  <Company>Hewlett-Packard Company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CanterburyMedia</dc:creator>
  <dc:description>This template is the property of PosterPresentations.com. Call us if you need help with this poster template._x000d_
1-866-649-3004           _x000d_
 (c)PosterPresentations.com</dc:description>
  <cp:lastModifiedBy>Ana Rocio</cp:lastModifiedBy>
  <cp:revision>137</cp:revision>
  <dcterms:created xsi:type="dcterms:W3CDTF">2012-02-03T19:11:35Z</dcterms:created>
  <dcterms:modified xsi:type="dcterms:W3CDTF">2026-05-31T20:47:00Z</dcterms:modified>
</cp:coreProperties>
</file>